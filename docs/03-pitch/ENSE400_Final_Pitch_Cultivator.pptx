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74" r:id="rId25"/>
    <p:sldId id="275" r:id="rId26"/>
    <p:sldId id="276" r:id="rId27"/>
    <p:sldId id="277" r:id="rId28"/>
    <p:sldId id="278" r:id="rId29"/>
    <p:sldId id="279" r:id="rId30"/>
    <p:sldId id="280" r:id="rId31"/>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ibswSYcegftYYYLNWFXfeITMid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788B9B1-F278-4A7A-A6D5-9AABFE0BA978}">
  <a:tblStyle styleId="{7788B9B1-F278-4A7A-A6D5-9AABFE0BA97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24" Type="http://customschemas.google.com/relationships/presentationmetadata" Target="metadata"/><Relationship Id="rId25" Type="http://schemas.openxmlformats.org/officeDocument/2006/relationships/slide" Target="slides/slide1.xml"/><Relationship Id="rId26" Type="http://schemas.openxmlformats.org/officeDocument/2006/relationships/slide" Target="slides/slide2.xml"/><Relationship Id="rId27" Type="http://schemas.openxmlformats.org/officeDocument/2006/relationships/slide" Target="slides/slide3.xml"/><Relationship Id="rId28" Type="http://schemas.openxmlformats.org/officeDocument/2006/relationships/slide" Target="slides/slide4.xml"/><Relationship Id="rId29" Type="http://schemas.openxmlformats.org/officeDocument/2006/relationships/slide" Target="slides/slide5.xml"/><Relationship Id="rId30" Type="http://schemas.openxmlformats.org/officeDocument/2006/relationships/slide" Target="slides/slide6.xml"/><Relationship Id="rId31"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Aubin. Target 15 seconds.</a:t>
            </a:r>
          </a:p>
          <a:p/>
          <a:p>
            <a:r>
              <a:t>Hi, I’m Aubin and this is Chop. Our capstone is the AI Learning Environment: a desktop app that explains the course PDF you’re reading, shows you the page each answer came from, and makes flashcards and quizzes from it.</a:t>
            </a:r>
          </a:p>
          <a:p/>
          <a:p>
            <a:r>
              <a:t>Whole pitch: about 4 minutes, so we stay inside the 5-minute limit.</a:t>
            </a:r>
          </a:p>
          <a:p/>
          <a:p>
            <a:r>
              <a:t>Sources and photo credits:</a:t>
            </a:r>
          </a:p>
          <a:p>
            <a:r>
              <a:t>Student photo: Charlotte May / Pexels. https://www.pexels.com/photo/multiracial-students-with-tablet-and-laptop-5965678/</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Aubin. Target 50 seconds.</a:t>
            </a:r>
          </a:p>
          <a:p/>
          <a:p>
            <a:r>
              <a:t>This started with an interview with Linda, a U of R student. She already studies with ChatGPT, but before she gets any help she has to upload her files and explain what she’s looking at. Chop and I study the same way, so we know this problem well.</a:t>
            </a:r>
          </a:p>
          <a:p/>
          <a:p>
            <a:r>
              <a:t>Three things get in the way. Setup: the same files get uploaded and the course explained again every session. Trust: the answer doesn’t point back to a page, so you can’t check it. Practice: flashcards and quizzes are made by hand in another app, so most students skip them until exam time.</a:t>
            </a:r>
          </a:p>
          <a:p/>
          <a:p>
            <a:r>
              <a:t>We’re building this for university students who study from course PDFs, starting here at the U of R.</a:t>
            </a:r>
          </a:p>
          <a:p/>
          <a:p>
            <a:r>
              <a:t>Sources and photo credits:</a:t>
            </a:r>
          </a:p>
          <a:p>
            <a:r>
              <a:t>Linda interview summary from team notes. The quote is a paraphrase, not a verbatim transcript.</a:t>
            </a:r>
          </a:p>
          <a:p>
            <a:r>
              <a:t>Illustrative photo, not Linda: Charlotte May / Pexels. https://www.pexels.com/photo/faceless-woman-using-tablet-in-campus-5965545/</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Aubin. Target 45 seconds.</a:t>
            </a:r>
          </a:p>
          <a:p/>
          <a:p>
            <a:r>
              <a:t>Here’s a study session in our app. You add the course folders already on your laptop. You open a PDF and select a passage or a whole page. You ask a question, and the answer comes back with the file and page number. Click it and you’re on that page, so checking an answer takes one click.</a:t>
            </a:r>
          </a:p>
          <a:p/>
          <a:p>
            <a:r>
              <a:t>From the same passage, the app makes flashcards and a short quiz. In the winter release it also plans your review before each exam.</a:t>
            </a:r>
          </a:p>
          <a:p/>
          <a:p>
            <a:r>
              <a:t>Your files never leave your laptop. Only the passage you select is sent to the AI model. We start on Windows and macOS, and the iPad version comes in winter.</a:t>
            </a:r>
          </a:p>
          <a:p/>
          <a:p>
            <a:r>
              <a:t>Sources:</a:t>
            </a:r>
          </a:p>
          <a:p>
            <a:r>
              <a:t>Project Requirements and User Story Map (Workshop 3).</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Chop. Target 45 seconds.</a:t>
            </a:r>
          </a:p>
          <a:p/>
          <a:p>
            <a:r>
              <a:t>Students already have good tools, and each one does part of the job. NotebookLM gives cited answers and quizzes, but every file has to be uploaded first. Acrobat answers questions about one PDF at a time and has no practice. ChatGPT and Gemini explain well, but you set up the context again every session. Anki and Quizlet work for review, but you make every card by hand.</a:t>
            </a:r>
          </a:p>
          <a:p/>
          <a:p>
            <a:r>
              <a:t>Our unique value: it explains the page you’re reading, cites it and turns it into practice, straight from your own files. We’re not trying to beat these tools on answer quality. We win on setup time.</a:t>
            </a:r>
          </a:p>
          <a:p/>
          <a:p>
            <a:r>
              <a:t>Sources:</a:t>
            </a:r>
          </a:p>
          <a:p>
            <a:r>
              <a:t>Competitor Analysis (Workshop 1) and Business Case (Workshop 3).</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Chop. Target 45 seconds.</a:t>
            </a:r>
          </a:p>
          <a:p/>
          <a:p>
            <a:r>
              <a:t>It’s a freemium model. The free tier runs on free AI models, like the Gemini free tier, Groq and OpenRouter, so students start at no cost and each request costs us nothing.</a:t>
            </a:r>
          </a:p>
          <a:p/>
          <a:p>
            <a:r>
              <a:t>Pro is a monthly or per-term subscription. It unlocks paid models in the model picker, sorted from cheapest to most expensive, so students choose their own trade-off. One explanation costs us about half a cent on Haiku and about two and a half cents on Opus, and a monthly usage limit keeps every Pro plan covered by what the student pays.</a:t>
            </a:r>
          </a:p>
          <a:p/>
          <a:p>
            <a:r>
              <a:t>We’re self-funded, with a budget of up to 150 US dollars over the two terms.</a:t>
            </a:r>
          </a:p>
          <a:p/>
          <a:p>
            <a:r>
              <a:t>Sources:</a:t>
            </a:r>
          </a:p>
          <a:p>
            <a:r>
              <a:t>Business Model Analysis (Workshop 2), Business Case and Project Charter (Workshop 3). Costs at current Claude prices per million input / output tokens: Haiku 4.5 US$1 / US$5, Sonnet 5.5 US$2 / US$10, Opus 5.5 US$4 / US$20.</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Chop. Target 40 seconds.</a:t>
            </a:r>
          </a:p>
          <a:p/>
          <a:p>
            <a:r>
              <a:t>Next week, on October 20, we test our low- and high-fidelity prototypes with at least five students. We show a work-in-progress demo at bazaar day on November 24, and Release 1 ships on December 1 with the reader, cited explanations, the model picker, flashcards and quizzes. In the winter we add accounts and Pro, review before exams, voice input and the iPad version, then run a pilot with 15 students.</a:t>
            </a:r>
          </a:p>
          <a:p/>
          <a:p>
            <a:r>
              <a:t>We hold ourselves to three numbers: at least 85% of answers accurate to the page, a first useful answer in at least half the time it takes with a chatbot, and at least 20% of pilot students saying they’d pay for Pro.</a:t>
            </a:r>
          </a:p>
          <a:p/>
          <a:p>
            <a:r>
              <a:t>Sources:</a:t>
            </a:r>
          </a:p>
          <a:p>
            <a:r>
              <a:t>Project Charter objectives and KPIs, Milestone-Based Schedule (Workshop 3). Winter dates are tentative.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Both. Thank you. Open the floor for questions.</a:t>
            </a:r>
          </a:p>
          <a:p/>
          <a:p>
            <a:r>
              <a:t>Likely questions:</a:t>
            </a:r>
          </a:p>
          <a:p>
            <a:r>
              <a:t>Isn’t this NotebookLM? NotebookLM needs every file uploaded into a notebook. We work from the folders already on your laptop, on the page you’re reading, and build practice from that passage.</a:t>
            </a:r>
          </a:p>
          <a:p>
            <a:r>
              <a:t>What gets sent to the AI? Only the selected text, its page number, the file name and the question. Files are never uploaded or stored on a server. Before first use, the app says which provider gets the text and whether that provider may use it to improve its models.</a:t>
            </a:r>
          </a:p>
          <a:p>
            <a:r>
              <a:t>What if the free AI tiers change? The AI layer works with any model, so we can switch providers. If one free provider fails, the app retries on another.</a:t>
            </a:r>
          </a:p>
          <a:p>
            <a:r>
              <a:t>How much will Pro cost? Not set yet. We test willingness to pay in the winter pilot. Monthly usage limits stop the most expensive models from costing more than a subscription brings in.</a:t>
            </a:r>
          </a:p>
          <a:p>
            <a:r>
              <a:t>What about copyright? Course files stay on the student’s device. We send only the selected passage and never store or share course files.</a:t>
            </a:r>
          </a:p>
          <a:p>
            <a:r>
              <a:t>Why desktop first? Students study on laptops, and two people can deliver one platform well this term. The iPad version follows in winter.</a:t>
            </a:r>
          </a:p>
          <a:p>
            <a:r>
              <a:t>Any other revenue? Campus or department licences are an option for later. We are not building that during the capstone.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hyperlink" Target="https://www.pexels.com/photo/faceless-woman-using-tablet-in-campus-5965545/" TargetMode="Externa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4734"/>
        </a:solidFill>
        <a:effectLst/>
      </p:bgPr>
    </p:bg>
    <p:spTree>
      <p:nvGrpSpPr>
        <p:cNvPr id="1" name=""/>
        <p:cNvGrpSpPr/>
        <p:nvPr/>
      </p:nvGrpSpPr>
      <p:grpSpPr/>
      <p:sp>
        <p:nvSpPr>
          <p:cNvPr id="16" name="Google Shape;16;p1"/>
          <p:cNvSpPr/>
          <p:nvPr/>
        </p:nvSpPr>
        <p:spPr>
          <a:xfrm>
            <a:off x="523875" y="361950"/>
            <a:ext cx="10477500" cy="295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25">
                <a:solidFill>
                  <a:srgbClr val="FFFFFF"/>
                </a:solidFill>
                <a:latin typeface="Calibri"/>
                <a:ea typeface="Calibri"/>
                <a:cs typeface="Calibri"/>
                <a:sym typeface="Calibri"/>
              </a:rPr>
              <a:t>ENSE 400  /  FINAL PITCH</a:t>
            </a:r>
          </a:p>
        </p:txBody>
      </p:sp>
      <p:sp>
        <p:nvSpPr>
          <p:cNvPr id="17" name="Google Shape;17;p1"/>
          <p:cNvSpPr/>
          <p:nvPr/>
        </p:nvSpPr>
        <p:spPr>
          <a:xfrm>
            <a:off x="523875" y="866775"/>
            <a:ext cx="11144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4650">
                <a:solidFill>
                  <a:srgbClr val="FFB81C"/>
                </a:solidFill>
                <a:latin typeface="Calibri"/>
                <a:ea typeface="Calibri"/>
                <a:cs typeface="Calibri"/>
                <a:sym typeface="Calibri"/>
              </a:rPr>
              <a:t>AI Learning Environment</a:t>
            </a:r>
          </a:p>
        </p:txBody>
      </p:sp>
      <p:pic>
        <p:nvPicPr>
          <p:cNvPr id="21" name="Google Shape;21;p1"/>
          <p:cNvPicPr preferRelativeResize="0"/>
          <p:nvPr/>
        </p:nvPicPr>
        <p:blipFill rotWithShape="1">
          <a:blip r:embed="rId3">
            <a:alphaModFix/>
          </a:blip>
          <a:srcRect b="24055" l="0" r="0" t="24055"/>
          <a:stretch/>
        </p:blipFill>
        <p:spPr>
          <a:xfrm>
            <a:off x="7438644" y="1952244"/>
            <a:ext cx="4229100" cy="3291840"/>
          </a:xfrm>
          <a:prstGeom prst="rect">
            <a:avLst/>
          </a:prstGeom>
          <a:noFill/>
          <a:ln>
            <a:noFill/>
          </a:ln>
        </p:spPr>
      </p:pic>
      <p:sp>
        <p:nvSpPr>
          <p:cNvPr id="22" name="Google Shape;22;p1"/>
          <p:cNvSpPr/>
          <p:nvPr/>
        </p:nvSpPr>
        <p:spPr>
          <a:xfrm>
            <a:off x="523951" y="1952244"/>
            <a:ext cx="64922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FFFFFF"/>
                </a:solidFill>
                <a:latin typeface="Calibri"/>
                <a:ea typeface="Calibri"/>
                <a:cs typeface="Calibri"/>
                <a:sym typeface="Calibri"/>
              </a:rPr>
              <a:t>Study help on the page you’re reading</a:t>
            </a:r>
          </a:p>
        </p:txBody>
      </p:sp>
      <p:sp>
        <p:nvSpPr>
          <p:cNvPr id="23" name="Google Shape;23;p1"/>
          <p:cNvSpPr/>
          <p:nvPr/>
        </p:nvSpPr>
        <p:spPr>
          <a:xfrm>
            <a:off x="523951" y="3063240"/>
            <a:ext cx="640080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00">
                <a:solidFill>
                  <a:srgbClr val="FFFFFF"/>
                </a:solidFill>
                <a:latin typeface="Calibri"/>
                <a:ea typeface="Calibri"/>
                <a:cs typeface="Calibri"/>
                <a:sym typeface="Calibri"/>
              </a:rPr>
              <a:t>A desktop app that explains the course PDF you’re reading, shows the page each answer came from and makes flashcards and quizzes from it.</a:t>
            </a:r>
          </a:p>
        </p:txBody>
      </p:sp>
      <p:cxnSp>
        <p:nvCxnSpPr>
          <p:cNvPr id="27" name="Google Shape;27;p1"/>
          <p:cNvCxnSpPr/>
          <p:nvPr/>
        </p:nvCxnSpPr>
        <p:spPr>
          <a:xfrm>
            <a:off x="523875" y="5638800"/>
            <a:ext cx="11125200" cy="0"/>
          </a:xfrm>
          <a:prstGeom prst="straightConnector1">
            <a:avLst/>
          </a:prstGeom>
          <a:noFill/>
          <a:ln cap="flat" cmpd="sng" w="19050">
            <a:solidFill>
              <a:srgbClr val="FFB81C"/>
            </a:solidFill>
            <a:prstDash val="solid"/>
            <a:round/>
            <a:headEnd len="sm" w="sm" type="none"/>
            <a:tailEnd len="sm" w="sm" type="none"/>
          </a:ln>
        </p:spPr>
      </p:cxnSp>
      <p:sp>
        <p:nvSpPr>
          <p:cNvPr id="28" name="Google Shape;28;p1"/>
          <p:cNvSpPr/>
          <p:nvPr/>
        </p:nvSpPr>
        <p:spPr>
          <a:xfrm>
            <a:off x="523875" y="5857875"/>
            <a:ext cx="695325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FFFFFF"/>
                </a:solidFill>
                <a:latin typeface="Calibri"/>
                <a:ea typeface="Calibri"/>
                <a:cs typeface="Calibri"/>
                <a:sym typeface="Calibri"/>
              </a:rPr>
              <a:t>Aubin Chriss Izere  /  200490675</a:t>
            </a:r>
            <a:endParaRPr/>
          </a:p>
          <a:p>
            <a:pPr indent="0" lvl="0" marL="0" marR="0" rtl="0" algn="l">
              <a:spcBef>
                <a:spcPts val="0"/>
              </a:spcBef>
              <a:spcAft>
                <a:spcPts val="0"/>
              </a:spcAft>
              <a:buNone/>
            </a:pPr>
            <a:r>
              <a:rPr b="0" lang="en-US" sz="1800">
                <a:solidFill>
                  <a:srgbClr val="FFFFFF"/>
                </a:solidFill>
                <a:latin typeface="Calibri"/>
                <a:ea typeface="Calibri"/>
                <a:cs typeface="Calibri"/>
                <a:sym typeface="Calibri"/>
              </a:rPr>
              <a:t>Chop Kur  /  200497265</a:t>
            </a:r>
            <a:endParaRPr/>
          </a:p>
        </p:txBody>
      </p:sp>
      <p:sp>
        <p:nvSpPr>
          <p:cNvPr id="29" name="Google Shape;29;p1"/>
          <p:cNvSpPr/>
          <p:nvPr/>
        </p:nvSpPr>
        <p:spPr>
          <a:xfrm>
            <a:off x="8439150" y="5915025"/>
            <a:ext cx="3228975" cy="52387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650">
                <a:solidFill>
                  <a:srgbClr val="FFFFFF"/>
                </a:solidFill>
                <a:latin typeface="Calibri"/>
                <a:ea typeface="Calibri"/>
                <a:cs typeface="Calibri"/>
                <a:sym typeface="Calibri"/>
              </a:rPr>
              <a:t>October 13, 2026</a:t>
            </a:r>
          </a:p>
          <a:p>
            <a:pPr indent="0" lvl="0" marL="0" marR="0" rtl="0" algn="r">
              <a:spcBef>
                <a:spcPts val="0"/>
              </a:spcBef>
              <a:spcAft>
                <a:spcPts val="0"/>
              </a:spcAft>
              <a:buNone/>
            </a:pPr>
            <a:r>
              <a:rPr b="0" lang="en-US" sz="1650">
                <a:solidFill>
                  <a:srgbClr val="FFFFFF"/>
                </a:solidFill>
                <a:latin typeface="Calibri"/>
                <a:ea typeface="Calibri"/>
                <a:cs typeface="Calibri"/>
                <a:sym typeface="Calibri"/>
              </a:rPr>
              <a:t>Cultivator HQ</a:t>
            </a:r>
          </a:p>
        </p:txBody>
      </p:sp>
      <p:sp>
        <p:nvSpPr>
          <p:cNvPr id="30" name="Text 30"/>
          <p:cNvSpPr txBox="1"/>
          <p:nvPr/>
        </p:nvSpPr>
        <p:spPr>
          <a:xfrm>
            <a:off x="523951" y="4910328"/>
            <a:ext cx="6400800" cy="333756"/>
          </a:xfrm>
          <a:prstGeom prst="rect">
            <a:avLst/>
          </a:prstGeom>
          <a:noFill/>
          <a:ln>
            <a:noFill/>
          </a:ln>
        </p:spPr>
        <p:txBody>
          <a:bodyPr anchorCtr="0" anchor="t" bIns="0" lIns="0" spcFirstLastPara="1" rIns="0" wrap="square" tIns="0">
            <a:noAutofit/>
          </a:bodyPr>
          <a:lstStyle/>
          <a:p>
            <a:pPr marL="0" indent="0" lvl="0" marR="0" rtl="0" algn="l">
              <a:spcBef>
                <a:spcPts val="0"/>
              </a:spcBef>
              <a:spcAft>
                <a:spcPts val="0"/>
              </a:spcAft>
              <a:buNone/>
            </a:pPr>
            <a:r>
              <a:rPr b="0" lang="en-US" sz="1650">
                <a:solidFill>
                  <a:srgbClr val="FFB81C"/>
                </a:solidFill>
                <a:latin typeface="Calibri"/>
                <a:ea typeface="Calibri"/>
                <a:cs typeface="Calibri"/>
                <a:sym typeface="Calibri"/>
              </a:rPr>
              <a:t>Software Systems Engineering capstone, University of Regina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170" name="Google Shape;170;p8"/>
          <p:cNvSpPr/>
          <p:nvPr/>
        </p:nvSpPr>
        <p:spPr>
          <a:xfrm>
            <a:off x="514350" y="428625"/>
            <a:ext cx="847725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54734"/>
                </a:solidFill>
                <a:latin typeface="Calibri"/>
                <a:ea typeface="Calibri"/>
                <a:cs typeface="Calibri"/>
                <a:sym typeface="Calibri"/>
              </a:rPr>
              <a:t>Studying with AI still starts with an upload</a:t>
            </a:r>
          </a:p>
        </p:txBody>
      </p:sp>
      <p:sp>
        <p:nvSpPr>
          <p:cNvPr id="171" name="Google Shape;171;p8"/>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WHY</a:t>
            </a:r>
          </a:p>
        </p:txBody>
      </p:sp>
      <p:cxnSp>
        <p:nvCxnSpPr>
          <p:cNvPr id="173" name="Google Shape;173;p8"/>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174" name="Google Shape;174;p8"/>
          <p:cNvSpPr/>
          <p:nvPr/>
        </p:nvSpPr>
        <p:spPr>
          <a:xfrm>
            <a:off x="11477625" y="6419850"/>
            <a:ext cx="285750" cy="2095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050">
                <a:solidFill>
                  <a:srgbClr val="65736B"/>
                </a:solidFill>
                <a:latin typeface="Calibri"/>
                <a:ea typeface="Calibri"/>
                <a:cs typeface="Calibri"/>
                <a:sym typeface="Calibri"/>
              </a:rPr>
              <a:t>2</a:t>
            </a:r>
          </a:p>
        </p:txBody>
      </p:sp>
      <p:pic>
        <p:nvPicPr>
          <p:cNvPr id="175" name="Google Shape;175;p8"/>
          <p:cNvPicPr preferRelativeResize="0"/>
          <p:nvPr/>
        </p:nvPicPr>
        <p:blipFill rotWithShape="1">
          <a:blip r:embed="rId2">
            <a:alphaModFix/>
          </a:blip>
          <a:srcRect b="19303" l="0" r="0" t="19303"/>
          <a:stretch/>
        </p:blipFill>
        <p:spPr>
          <a:xfrm>
            <a:off x="0" y="1285875"/>
            <a:ext cx="12191695" cy="4991100"/>
          </a:xfrm>
          <a:prstGeom prst="rect">
            <a:avLst/>
          </a:prstGeom>
          <a:noFill/>
          <a:ln>
            <a:noFill/>
          </a:ln>
        </p:spPr>
      </p:pic>
      <p:sp>
        <p:nvSpPr>
          <p:cNvPr id="176" name="Google Shape;176;p8"/>
          <p:cNvSpPr/>
          <p:nvPr/>
        </p:nvSpPr>
        <p:spPr>
          <a:xfrm>
            <a:off x="0" y="1285875"/>
            <a:ext cx="12191695" cy="4991100"/>
          </a:xfrm>
          <a:prstGeom prst="rect">
            <a:avLst/>
          </a:prstGeom>
          <a:solidFill>
            <a:srgbClr val="FFFFFF">
              <a:alpha val="8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
          <p:cNvSpPr/>
          <p:nvPr/>
        </p:nvSpPr>
        <p:spPr>
          <a:xfrm>
            <a:off x="523875" y="1457325"/>
            <a:ext cx="7132320" cy="4476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154734"/>
                </a:solidFill>
                <a:latin typeface="Calibri"/>
                <a:ea typeface="Calibri"/>
                <a:cs typeface="Calibri"/>
                <a:sym typeface="Calibri"/>
              </a:rPr>
              <a:t>Student interview: Linda</a:t>
            </a:r>
            <a:endParaRPr/>
          </a:p>
        </p:txBody>
      </p:sp>
      <p:sp>
        <p:nvSpPr>
          <p:cNvPr id="178" name="Google Shape;178;p8"/>
          <p:cNvSpPr/>
          <p:nvPr/>
        </p:nvSpPr>
        <p:spPr>
          <a:xfrm>
            <a:off x="523875" y="2103120"/>
            <a:ext cx="712470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75">
                <a:solidFill>
                  <a:srgbClr val="154734"/>
                </a:solidFill>
                <a:latin typeface="Calibri"/>
                <a:ea typeface="Calibri"/>
                <a:cs typeface="Calibri"/>
                <a:sym typeface="Calibri"/>
              </a:rPr>
              <a:t>“Asking ChatGPT questions can feel awkward when I have to upload files for context. It would be smoother if it could see the file I am studying and explain it.”</a:t>
            </a:r>
            <a:endParaRPr/>
          </a:p>
        </p:txBody>
      </p:sp>
      <p:sp>
        <p:nvSpPr>
          <p:cNvPr id="179" name="Google Shape;179;p8"/>
          <p:cNvSpPr/>
          <p:nvPr/>
        </p:nvSpPr>
        <p:spPr>
          <a:xfrm>
            <a:off x="523875" y="3886200"/>
            <a:ext cx="7067550" cy="295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A1A1A"/>
                </a:solidFill>
                <a:latin typeface="Calibri"/>
                <a:ea typeface="Calibri"/>
                <a:cs typeface="Calibri"/>
                <a:sym typeface="Calibri"/>
              </a:rPr>
              <a:t>Linda, U of R student</a:t>
            </a:r>
          </a:p>
        </p:txBody>
      </p:sp>
      <p:sp>
        <p:nvSpPr>
          <p:cNvPr id="180" name="Google Shape;180;p8"/>
          <p:cNvSpPr/>
          <p:nvPr/>
        </p:nvSpPr>
        <p:spPr>
          <a:xfrm>
            <a:off x="523875" y="4233672"/>
            <a:ext cx="70675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425">
                <a:solidFill>
                  <a:srgbClr val="65736B"/>
                </a:solidFill>
                <a:latin typeface="Calibri"/>
                <a:ea typeface="Calibri"/>
                <a:cs typeface="Calibri"/>
                <a:sym typeface="Calibri"/>
              </a:rPr>
              <a:t>Interview summary, paraphrased from team notes</a:t>
            </a:r>
            <a:endParaRPr/>
          </a:p>
        </p:txBody>
      </p:sp>
      <p:sp>
        <p:nvSpPr>
          <p:cNvPr id="181" name="Google Shape;181;p8"/>
          <p:cNvSpPr/>
          <p:nvPr/>
        </p:nvSpPr>
        <p:spPr>
          <a:xfrm>
            <a:off x="8138160" y="1508760"/>
            <a:ext cx="352958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75">
                <a:solidFill>
                  <a:srgbClr val="154734"/>
                </a:solidFill>
                <a:latin typeface="Calibri"/>
                <a:ea typeface="Calibri"/>
                <a:cs typeface="Calibri"/>
                <a:sym typeface="Calibri"/>
              </a:rPr>
              <a:t>SETUP, EVERY SESSION</a:t>
            </a:r>
          </a:p>
        </p:txBody>
      </p:sp>
      <p:sp>
        <p:nvSpPr>
          <p:cNvPr id="182" name="Google Shape;182;p8"/>
          <p:cNvSpPr/>
          <p:nvPr/>
        </p:nvSpPr>
        <p:spPr>
          <a:xfrm>
            <a:off x="8138160" y="1828800"/>
            <a:ext cx="3529584"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Files are uploaded and the course explained again.</a:t>
            </a:r>
          </a:p>
        </p:txBody>
      </p:sp>
      <p:sp>
        <p:nvSpPr>
          <p:cNvPr id="183" name="Google Shape;183;p8"/>
          <p:cNvSpPr/>
          <p:nvPr/>
        </p:nvSpPr>
        <p:spPr>
          <a:xfrm>
            <a:off x="8138160" y="2697480"/>
            <a:ext cx="352958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75">
                <a:solidFill>
                  <a:srgbClr val="154734"/>
                </a:solidFill>
                <a:latin typeface="Calibri"/>
                <a:ea typeface="Calibri"/>
                <a:cs typeface="Calibri"/>
                <a:sym typeface="Calibri"/>
              </a:rPr>
              <a:t>ANSWERS YOU CAN’T CHECK</a:t>
            </a:r>
          </a:p>
        </p:txBody>
      </p:sp>
      <p:sp>
        <p:nvSpPr>
          <p:cNvPr id="184" name="Google Shape;184;p8"/>
          <p:cNvSpPr/>
          <p:nvPr/>
        </p:nvSpPr>
        <p:spPr>
          <a:xfrm>
            <a:off x="8138160" y="3017520"/>
            <a:ext cx="3529584"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Answers don’t point back to the page they came from.</a:t>
            </a:r>
          </a:p>
        </p:txBody>
      </p:sp>
      <p:sp>
        <p:nvSpPr>
          <p:cNvPr id="186" name="Text 186"/>
          <p:cNvSpPr txBox="1"/>
          <p:nvPr/>
        </p:nvSpPr>
        <p:spPr>
          <a:xfrm>
            <a:off x="8138160" y="3886200"/>
            <a:ext cx="3529584" cy="274320"/>
          </a:xfrm>
          <a:prstGeom prst="rect">
            <a:avLst/>
          </a:prstGeom>
          <a:noFill/>
          <a:ln>
            <a:noFill/>
          </a:ln>
        </p:spPr>
        <p:txBody>
          <a:bodyPr anchorCtr="0" anchor="t" bIns="0" lIns="0" spcFirstLastPara="1" rIns="0" wrap="square" tIns="0">
            <a:noAutofit/>
          </a:bodyPr>
          <a:lstStyle/>
          <a:p>
            <a:pPr marL="0" indent="0" lvl="0" marR="0" rtl="0" algn="l">
              <a:spcBef>
                <a:spcPts val="0"/>
              </a:spcBef>
              <a:spcAft>
                <a:spcPts val="0"/>
              </a:spcAft>
              <a:buNone/>
            </a:pPr>
            <a:r>
              <a:rPr b="1" lang="en-US" sz="1575">
                <a:solidFill>
                  <a:srgbClr val="154734"/>
                </a:solidFill>
                <a:latin typeface="Calibri"/>
                <a:ea typeface="Calibri"/>
                <a:cs typeface="Calibri"/>
                <a:sym typeface="Calibri"/>
              </a:rPr>
              <a:t>PRACTICE BY HAND</a:t>
            </a:r>
          </a:p>
        </p:txBody>
      </p:sp>
      <p:sp>
        <p:nvSpPr>
          <p:cNvPr id="187" name="Text 187"/>
          <p:cNvSpPr txBox="1"/>
          <p:nvPr/>
        </p:nvSpPr>
        <p:spPr>
          <a:xfrm>
            <a:off x="8138160" y="4206240"/>
            <a:ext cx="3529584" cy="685800"/>
          </a:xfrm>
          <a:prstGeom prst="rect">
            <a:avLst/>
          </a:prstGeom>
          <a:noFill/>
          <a:ln>
            <a:noFill/>
          </a:ln>
        </p:spPr>
        <p:txBody>
          <a:bodyPr anchorCtr="0" anchor="t" bIns="0" lIns="0" spcFirstLastPara="1" rIns="0" wrap="square" tIns="0">
            <a:noAutofit/>
          </a:bodyPr>
          <a:lstStyle/>
          <a:p>
            <a:pPr marL="0" indent="0" lvl="0" marR="0" rtl="0" algn="l">
              <a:spcBef>
                <a:spcPts val="0"/>
              </a:spcBef>
              <a:spcAft>
                <a:spcPts val="0"/>
              </a:spcAft>
              <a:buNone/>
            </a:pPr>
            <a:r>
              <a:rPr b="0" lang="en-US" sz="1800">
                <a:solidFill>
                  <a:srgbClr val="1A1A1A"/>
                </a:solidFill>
                <a:latin typeface="Calibri"/>
                <a:ea typeface="Calibri"/>
                <a:cs typeface="Calibri"/>
                <a:sym typeface="Calibri"/>
              </a:rPr>
              <a:t>Flashcards and quizzes are made in another app.</a:t>
            </a:r>
          </a:p>
        </p:txBody>
      </p:sp>
      <p:sp>
        <p:nvSpPr>
          <p:cNvPr id="188" name="Google Shape;162;p7"/>
          <p:cNvSpPr/>
          <p:nvPr/>
        </p:nvSpPr>
        <p:spPr>
          <a:xfrm>
            <a:off x="523951" y="5166360"/>
            <a:ext cx="11144707" cy="548640"/>
          </a:xfrm>
          <a:prstGeom prst="roundRect">
            <a:avLst>
              <a:gd fmla="val 24000"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63;p7"/>
          <p:cNvSpPr/>
          <p:nvPr/>
        </p:nvSpPr>
        <p:spPr>
          <a:xfrm>
            <a:off x="752551" y="5303520"/>
            <a:ext cx="10687507"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25">
                <a:solidFill>
                  <a:srgbClr val="154734"/>
                </a:solidFill>
                <a:latin typeface="Calibri"/>
                <a:ea typeface="Calibri"/>
                <a:cs typeface="Calibri"/>
                <a:sym typeface="Calibri"/>
              </a:rPr>
              <a:t>Built for university students who study from course PDFs, starting at the U of R</a:t>
            </a:r>
          </a:p>
        </p:txBody>
      </p:sp>
      <p:sp xmlns:ahyp="http://schemas.microsoft.com/office/drawing/2018/hyperlinkcolor">
        <p:nvSpPr>
          <p:cNvPr id="185" name="Google Shape;185;p8"/>
          <p:cNvSpPr/>
          <p:nvPr/>
        </p:nvSpPr>
        <p:spPr>
          <a:xfrm>
            <a:off x="523875" y="6343650"/>
            <a:ext cx="10572750" cy="2190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125" u="sng">
                <a:solidFill>
                  <a:srgbClr val="65736B"/>
                </a:solidFill>
                <a:latin typeface="Calibri"/>
                <a:ea typeface="Calibri"/>
                <a:cs typeface="Calibri"/>
                <a:sym typeface="Calibri"/>
                <a:hlinkClick r:id="rId3">
                  <a:extLst>
                    <a:ext uri="{A12FA001-AC4F-418D-AE19-62706E023703}">
                      <ahyp:hlinkClr val="tx"/>
                    </a:ext>
                  </a:extLst>
                </a:hlinkClick>
              </a:rPr>
              <a:t>Illustrative photo, not Linda: Charlotte May / Pexels</a:t>
            </a:r>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191" name="Google Shape;191;p9"/>
          <p:cNvSpPr/>
          <p:nvPr/>
        </p:nvSpPr>
        <p:spPr>
          <a:xfrm>
            <a:off x="514350" y="428625"/>
            <a:ext cx="847725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54734"/>
                </a:solidFill>
                <a:latin typeface="Calibri"/>
                <a:ea typeface="Calibri"/>
                <a:cs typeface="Calibri"/>
                <a:sym typeface="Calibri"/>
              </a:rPr>
              <a:t>From the page to practice, in one app</a:t>
            </a:r>
          </a:p>
        </p:txBody>
      </p:sp>
      <p:sp>
        <p:nvSpPr>
          <p:cNvPr id="192" name="Google Shape;192;p9"/>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WHAT + HOW</a:t>
            </a:r>
          </a:p>
        </p:txBody>
      </p:sp>
      <p:cxnSp>
        <p:nvCxnSpPr>
          <p:cNvPr id="194" name="Google Shape;194;p9"/>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195" name="Google Shape;195;p9"/>
          <p:cNvSpPr/>
          <p:nvPr/>
        </p:nvSpPr>
        <p:spPr>
          <a:xfrm>
            <a:off x="11477625" y="6419850"/>
            <a:ext cx="285750" cy="2095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050">
                <a:solidFill>
                  <a:srgbClr val="65736B"/>
                </a:solidFill>
                <a:latin typeface="Calibri"/>
                <a:ea typeface="Calibri"/>
                <a:cs typeface="Calibri"/>
                <a:sym typeface="Calibri"/>
              </a:rPr>
              <a:t>3</a:t>
            </a:r>
          </a:p>
        </p:txBody>
      </p:sp>
      <p:sp>
        <p:nvSpPr>
          <p:cNvPr id="196" name="Google Shape;196;p9"/>
          <p:cNvSpPr/>
          <p:nvPr/>
        </p:nvSpPr>
        <p:spPr>
          <a:xfrm>
            <a:off x="523875" y="1323975"/>
            <a:ext cx="9525000" cy="295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How a study session works</a:t>
            </a:r>
          </a:p>
        </p:txBody>
      </p:sp>
      <p:sp>
        <p:nvSpPr>
          <p:cNvPr id="197" name="Google Shape;197;p9"/>
          <p:cNvSpPr/>
          <p:nvPr/>
        </p:nvSpPr>
        <p:spPr>
          <a:xfrm>
            <a:off x="523875" y="1866900"/>
            <a:ext cx="2838450" cy="1076325"/>
          </a:xfrm>
          <a:prstGeom prst="roundRect">
            <a:avLst>
              <a:gd fmla="val 8850" name="adj"/>
            </a:avLst>
          </a:prstGeom>
          <a:solidFill>
            <a:srgbClr val="EAF2EE"/>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Your course folders</a:t>
            </a: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PDFs on your laptop</a:t>
            </a:r>
          </a:p>
        </p:txBody>
      </p:sp>
      <p:sp>
        <p:nvSpPr>
          <p:cNvPr id="198" name="Google Shape;198;p9"/>
          <p:cNvSpPr/>
          <p:nvPr/>
        </p:nvSpPr>
        <p:spPr>
          <a:xfrm>
            <a:off x="4143375" y="1866900"/>
            <a:ext cx="3048000" cy="1076325"/>
          </a:xfrm>
          <a:prstGeom prst="roundRect">
            <a:avLst>
              <a:gd fmla="val 8850" name="adj"/>
            </a:avLst>
          </a:prstGeom>
          <a:solidFill>
            <a:srgbClr val="FFB81C"/>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Open a PDF</a:t>
            </a: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Select a page or passage</a:t>
            </a:r>
          </a:p>
        </p:txBody>
      </p:sp>
      <p:sp>
        <p:nvSpPr>
          <p:cNvPr id="199" name="Google Shape;199;p9"/>
          <p:cNvSpPr/>
          <p:nvPr/>
        </p:nvSpPr>
        <p:spPr>
          <a:xfrm>
            <a:off x="7972425" y="1866900"/>
            <a:ext cx="3695700" cy="1076325"/>
          </a:xfrm>
          <a:prstGeom prst="roundRect">
            <a:avLst>
              <a:gd fmla="val 8850" name="adj"/>
            </a:avLst>
          </a:prstGeom>
          <a:solidFill>
            <a:srgbClr val="EAF2EE"/>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Ask a question</a:t>
            </a: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Answer with its page number</a:t>
            </a:r>
          </a:p>
        </p:txBody>
      </p:sp>
      <p:cxnSp>
        <p:nvCxnSpPr>
          <p:cNvPr id="200" name="Google Shape;200;p9"/>
          <p:cNvCxnSpPr>
            <a:stCxn id="197" idx="3"/>
            <a:endCxn id="198" idx="1"/>
          </p:cNvCxnSpPr>
          <p:nvPr/>
        </p:nvCxnSpPr>
        <p:spPr>
          <a:xfrm>
            <a:off x="3362325" y="2405063"/>
            <a:ext cx="781200" cy="0"/>
          </a:xfrm>
          <a:prstGeom prst="straightConnector1">
            <a:avLst/>
          </a:prstGeom>
          <a:noFill/>
          <a:ln cap="flat" cmpd="sng" w="23800">
            <a:solidFill>
              <a:srgbClr val="154734"/>
            </a:solidFill>
            <a:prstDash val="solid"/>
            <a:round/>
            <a:headEnd len="sm" w="sm" type="none"/>
            <a:tailEnd len="med" w="med" type="stealth"/>
          </a:ln>
        </p:spPr>
      </p:cxnSp>
      <p:cxnSp>
        <p:nvCxnSpPr>
          <p:cNvPr id="201" name="Google Shape;201;p9"/>
          <p:cNvCxnSpPr>
            <a:stCxn id="198" idx="3"/>
            <a:endCxn id="199" idx="1"/>
          </p:cNvCxnSpPr>
          <p:nvPr/>
        </p:nvCxnSpPr>
        <p:spPr>
          <a:xfrm>
            <a:off x="7191375" y="2405063"/>
            <a:ext cx="781200" cy="0"/>
          </a:xfrm>
          <a:prstGeom prst="straightConnector1">
            <a:avLst/>
          </a:prstGeom>
          <a:noFill/>
          <a:ln cap="flat" cmpd="sng" w="23800">
            <a:solidFill>
              <a:srgbClr val="154734"/>
            </a:solidFill>
            <a:prstDash val="solid"/>
            <a:round/>
            <a:headEnd len="sm" w="sm" type="none"/>
            <a:tailEnd len="med" w="med" type="stealth"/>
          </a:ln>
        </p:spPr>
      </p:cxnSp>
      <p:sp>
        <p:nvSpPr>
          <p:cNvPr id="202" name="Google Shape;202;p9"/>
          <p:cNvSpPr/>
          <p:nvPr/>
        </p:nvSpPr>
        <p:spPr>
          <a:xfrm>
            <a:off x="7972425" y="3781425"/>
            <a:ext cx="3695700" cy="942975"/>
          </a:xfrm>
          <a:prstGeom prst="roundRect">
            <a:avLst>
              <a:gd fmla="val 10101" name="adj"/>
            </a:avLst>
          </a:prstGeom>
          <a:solidFill>
            <a:srgbClr val="EAF2EE"/>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Practise</a:t>
            </a: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Flashcards and a quiz</a:t>
            </a:r>
          </a:p>
        </p:txBody>
      </p:sp>
      <p:sp>
        <p:nvSpPr>
          <p:cNvPr id="203" name="Google Shape;203;p9"/>
          <p:cNvSpPr/>
          <p:nvPr/>
        </p:nvSpPr>
        <p:spPr>
          <a:xfrm>
            <a:off x="4143375" y="3781425"/>
            <a:ext cx="3048000" cy="942975"/>
          </a:xfrm>
          <a:prstGeom prst="roundRect">
            <a:avLst>
              <a:gd fmla="val 10101" name="adj"/>
            </a:avLst>
          </a:prstGeom>
          <a:solidFill>
            <a:srgbClr val="EAF2EE"/>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Plan review</a:t>
            </a: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Before each exam</a:t>
            </a:r>
          </a:p>
        </p:txBody>
      </p:sp>
      <p:cxnSp>
        <p:nvCxnSpPr>
          <p:cNvPr id="204" name="Google Shape;204;p9"/>
          <p:cNvCxnSpPr>
            <a:stCxn id="199" idx="2"/>
            <a:endCxn id="202" idx="0"/>
          </p:cNvCxnSpPr>
          <p:nvPr/>
        </p:nvCxnSpPr>
        <p:spPr>
          <a:xfrm>
            <a:off x="9820275" y="2943225"/>
            <a:ext cx="0" cy="838200"/>
          </a:xfrm>
          <a:prstGeom prst="straightConnector1">
            <a:avLst/>
          </a:prstGeom>
          <a:noFill/>
          <a:ln cap="flat" cmpd="sng" w="23800">
            <a:solidFill>
              <a:srgbClr val="154734"/>
            </a:solidFill>
            <a:prstDash val="solid"/>
            <a:round/>
            <a:headEnd len="sm" w="sm" type="none"/>
            <a:tailEnd len="med" w="med" type="stealth"/>
          </a:ln>
        </p:spPr>
      </p:cxnSp>
      <p:cxnSp>
        <p:nvCxnSpPr>
          <p:cNvPr id="205" name="Google Shape;205;p9"/>
          <p:cNvCxnSpPr>
            <a:stCxn id="202" idx="1"/>
            <a:endCxn id="203" idx="3"/>
          </p:cNvCxnSpPr>
          <p:nvPr/>
        </p:nvCxnSpPr>
        <p:spPr>
          <a:xfrm rot="10800000">
            <a:off x="7191225" y="4252913"/>
            <a:ext cx="781200" cy="0"/>
          </a:xfrm>
          <a:prstGeom prst="straightConnector1">
            <a:avLst/>
          </a:prstGeom>
          <a:noFill/>
          <a:ln cap="flat" cmpd="sng" w="23800">
            <a:solidFill>
              <a:srgbClr val="154734"/>
            </a:solidFill>
            <a:prstDash val="solid"/>
            <a:round/>
            <a:headEnd len="sm" w="sm" type="none"/>
            <a:tailEnd len="med" w="med" type="stealth"/>
          </a:ln>
        </p:spPr>
      </p:cxnSp>
      <p:sp>
        <p:nvSpPr>
          <p:cNvPr id="206" name="Google Shape;206;p9"/>
          <p:cNvSpPr/>
          <p:nvPr/>
        </p:nvSpPr>
        <p:spPr>
          <a:xfrm>
            <a:off x="523875" y="3609975"/>
            <a:ext cx="2809875" cy="8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You choose which</a:t>
            </a:r>
          </a:p>
          <a:p>
            <a:pPr indent="0" lvl="0" marL="0" marR="0" rtl="0" algn="l">
              <a:spcBef>
                <a:spcPts val="0"/>
              </a:spcBef>
              <a:spcAft>
                <a:spcPts val="0"/>
              </a:spcAft>
              <a:buNone/>
            </a:pPr>
            <a:r>
              <a:rPr b="1" lang="en-US" sz="2025">
                <a:solidFill>
                  <a:srgbClr val="154734"/>
                </a:solidFill>
                <a:latin typeface="Calibri"/>
                <a:ea typeface="Calibri"/>
                <a:cs typeface="Calibri"/>
                <a:sym typeface="Calibri"/>
              </a:rPr>
              <a:t>folders it can see</a:t>
            </a:r>
          </a:p>
        </p:txBody>
      </p:sp>
      <p:sp>
        <p:nvSpPr>
          <p:cNvPr id="207" name="Google Shape;207;p9"/>
          <p:cNvSpPr/>
          <p:nvPr/>
        </p:nvSpPr>
        <p:spPr>
          <a:xfrm>
            <a:off x="523875" y="5057775"/>
            <a:ext cx="11049000"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154734"/>
                </a:solidFill>
                <a:latin typeface="Calibri"/>
                <a:ea typeface="Calibri"/>
                <a:cs typeface="Calibri"/>
                <a:sym typeface="Calibri"/>
              </a:rPr>
              <a:t>Your files stay on your laptop. Only the passage you select goes to the AI.</a:t>
            </a:r>
          </a:p>
        </p:txBody>
      </p:sp>
      <p:sp>
        <p:nvSpPr>
          <p:cNvPr id="208" name="Google Shape;208;p9"/>
          <p:cNvSpPr/>
          <p:nvPr/>
        </p:nvSpPr>
        <p:spPr>
          <a:xfrm>
            <a:off x="523875" y="5572125"/>
            <a:ext cx="11096625"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Desktop app for Windows and macOS first. iPad version in winter 2027.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14" name="Google Shape;214;p10"/>
          <p:cNvSpPr/>
          <p:nvPr/>
        </p:nvSpPr>
        <p:spPr>
          <a:xfrm>
            <a:off x="514350" y="428625"/>
            <a:ext cx="847725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54734"/>
                </a:solidFill>
                <a:latin typeface="Calibri"/>
                <a:ea typeface="Calibri"/>
                <a:cs typeface="Calibri"/>
                <a:sym typeface="Calibri"/>
              </a:rPr>
              <a:t>What makes it different</a:t>
            </a:r>
          </a:p>
        </p:txBody>
      </p:sp>
      <p:sp>
        <p:nvSpPr>
          <p:cNvPr id="215" name="Google Shape;215;p10"/>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VALUE + STRATEGY</a:t>
            </a:r>
          </a:p>
        </p:txBody>
      </p:sp>
      <p:cxnSp>
        <p:nvCxnSpPr>
          <p:cNvPr id="217" name="Google Shape;217;p10"/>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218" name="Google Shape;218;p10"/>
          <p:cNvSpPr/>
          <p:nvPr/>
        </p:nvSpPr>
        <p:spPr>
          <a:xfrm>
            <a:off x="11477625" y="6419850"/>
            <a:ext cx="285750" cy="2095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050">
                <a:solidFill>
                  <a:srgbClr val="65736B"/>
                </a:solidFill>
                <a:latin typeface="Calibri"/>
                <a:ea typeface="Calibri"/>
                <a:cs typeface="Calibri"/>
                <a:sym typeface="Calibri"/>
              </a:rPr>
              <a:t>4</a:t>
            </a:r>
          </a:p>
        </p:txBody>
      </p:sp>
      <p:graphicFrame>
        <p:nvGraphicFramePr>
          <p:cNvPr id="219" name="Google Shape;219;p10"/>
          <p:cNvGraphicFramePr/>
          <p:nvPr/>
        </p:nvGraphicFramePr>
        <p:xfrm>
          <a:off x="523951" y="1417320"/>
          <a:ext cx="11144707" cy="2834640"/>
        </p:xfrm>
        <a:graphic>
          <a:graphicData uri="http://schemas.openxmlformats.org/drawingml/2006/table">
            <a:tbl>
              <a:tblPr>
                <a:noFill/>
                <a:tableStyleId>{7788B9B1-F278-4A7A-A6D5-9AABFE0BA978}</a:tableStyleId>
              </a:tblPr>
              <a:tblGrid>
                <a:gridCol w="2514600"/>
                <a:gridCol w="4434840"/>
                <a:gridCol w="4195267"/>
              </a:tblGrid>
              <a:tr h="566928">
                <a:tc>
                  <a:txBody>
                    <a:bodyPr/>
                    <a:lstStyle/>
                    <a:p>
                      <a:pPr indent="0" lvl="0" marL="0" marR="0" rtl="0" algn="l">
                        <a:spcBef>
                          <a:spcPts val="0"/>
                        </a:spcBef>
                        <a:spcAft>
                          <a:spcPts val="0"/>
                        </a:spcAft>
                        <a:buClr>
                          <a:srgbClr val="FFFFFF"/>
                        </a:buClr>
                        <a:buSzPts val="1650"/>
                        <a:buFont typeface="Calibri"/>
                        <a:buNone/>
                      </a:pPr>
                      <a:r>
                        <a:rPr b="1" lang="en-US" sz="1650">
                          <a:solidFill>
                            <a:srgbClr val="FFFFFF"/>
                          </a:solidFill>
                          <a:latin typeface="Calibri"/>
                          <a:ea typeface="Calibri"/>
                          <a:cs typeface="Calibri"/>
                          <a:sym typeface="Calibri"/>
                        </a:rPr>
                        <a:t>Existing tool</a:t>
                      </a:r>
                      <a:endParaRPr/>
                    </a:p>
                  </a:txBody>
                  <a:tcPr marT="45725" marB="45725" marR="91450" marL="91450" anchor="ctr">
                    <a:solidFill>
                      <a:srgbClr val="154734"/>
                    </a:solidFill>
                  </a:tcPr>
                </a:tc>
                <a:tc>
                  <a:txBody>
                    <a:bodyPr/>
                    <a:lstStyle/>
                    <a:p>
                      <a:pPr indent="0" lvl="0" marL="0" marR="0" rtl="0" algn="l">
                        <a:spcBef>
                          <a:spcPts val="0"/>
                        </a:spcBef>
                        <a:spcAft>
                          <a:spcPts val="0"/>
                        </a:spcAft>
                        <a:buClr>
                          <a:srgbClr val="FFFFFF"/>
                        </a:buClr>
                        <a:buSzPts val="1650"/>
                        <a:buFont typeface="Calibri"/>
                        <a:buNone/>
                      </a:pPr>
                      <a:r>
                        <a:rPr b="1" lang="en-US" sz="1650">
                          <a:solidFill>
                            <a:srgbClr val="FFFFFF"/>
                          </a:solidFill>
                          <a:latin typeface="Calibri"/>
                          <a:ea typeface="Calibri"/>
                          <a:cs typeface="Calibri"/>
                          <a:sym typeface="Calibri"/>
                        </a:rPr>
                        <a:t>What it does well</a:t>
                      </a:r>
                      <a:endParaRPr/>
                    </a:p>
                  </a:txBody>
                  <a:tcPr marT="45725" marB="45725" marR="91450" marL="91450" anchor="ctr">
                    <a:solidFill>
                      <a:srgbClr val="154734"/>
                    </a:solidFill>
                  </a:tcPr>
                </a:tc>
                <a:tc>
                  <a:txBody>
                    <a:bodyPr/>
                    <a:lstStyle/>
                    <a:p>
                      <a:pPr indent="0" lvl="0" marL="0" marR="0" rtl="0" algn="l">
                        <a:spcBef>
                          <a:spcPts val="0"/>
                        </a:spcBef>
                        <a:spcAft>
                          <a:spcPts val="0"/>
                        </a:spcAft>
                        <a:buClr>
                          <a:srgbClr val="FFFFFF"/>
                        </a:buClr>
                        <a:buSzPts val="1650"/>
                        <a:buFont typeface="Calibri"/>
                        <a:buNone/>
                      </a:pPr>
                      <a:r>
                        <a:rPr b="1" lang="en-US" sz="1650">
                          <a:solidFill>
                            <a:srgbClr val="FFFFFF"/>
                          </a:solidFill>
                          <a:latin typeface="Calibri"/>
                          <a:ea typeface="Calibri"/>
                          <a:cs typeface="Calibri"/>
                          <a:sym typeface="Calibri"/>
                        </a:rPr>
                        <a:t>What’s missing</a:t>
                      </a:r>
                      <a:endParaRPr/>
                    </a:p>
                  </a:txBody>
                  <a:tcPr marT="45725" marB="45725" marR="91450" marL="91450" anchor="ctr">
                    <a:solidFill>
                      <a:srgbClr val="154734"/>
                    </a:solidFill>
                  </a:tcPr>
                </a:tc>
              </a:tr>
              <a:tr h="566928">
                <a:tc>
                  <a:txBody>
                    <a:bodyPr/>
                    <a:lstStyle/>
                    <a:p>
                      <a:pPr indent="0" lvl="0" marL="0" marR="0" rtl="0" algn="l">
                        <a:spcBef>
                          <a:spcPts val="0"/>
                        </a:spcBef>
                        <a:spcAft>
                          <a:spcPts val="0"/>
                        </a:spcAft>
                        <a:buClr>
                          <a:srgbClr val="1A1A1A"/>
                        </a:buClr>
                        <a:buSzPts val="1725"/>
                        <a:buFont typeface="Calibri"/>
                        <a:buNone/>
                      </a:pPr>
                      <a:r>
                        <a:rPr b="1" lang="en-US" sz="1725">
                          <a:solidFill>
                            <a:srgbClr val="1A1A1A"/>
                          </a:solidFill>
                          <a:latin typeface="Calibri"/>
                          <a:ea typeface="Calibri"/>
                          <a:cs typeface="Calibri"/>
                          <a:sym typeface="Calibri"/>
                        </a:rPr>
                        <a:t>NotebookLM</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Cited answers, quizzes and flashcards</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Every file has to be uploaded first</a:t>
                      </a:r>
                      <a:endParaRPr/>
                    </a:p>
                  </a:txBody>
                  <a:tcPr marT="45725" marB="45725" marR="91450" marL="91450" anchor="ctr">
                    <a:solidFill>
                      <a:srgbClr val="FFFFFF"/>
                    </a:solidFill>
                  </a:tcPr>
                </a:tc>
              </a:tr>
              <a:tr h="566928">
                <a:tc>
                  <a:txBody>
                    <a:bodyPr/>
                    <a:lstStyle/>
                    <a:p>
                      <a:pPr indent="0" lvl="0" marL="0" marR="0" rtl="0" algn="l">
                        <a:spcBef>
                          <a:spcPts val="0"/>
                        </a:spcBef>
                        <a:spcAft>
                          <a:spcPts val="0"/>
                        </a:spcAft>
                        <a:buClr>
                          <a:srgbClr val="1A1A1A"/>
                        </a:buClr>
                        <a:buSzPts val="1725"/>
                        <a:buFont typeface="Calibri"/>
                        <a:buNone/>
                      </a:pPr>
                      <a:r>
                        <a:rPr b="1" lang="en-US" sz="1725">
                          <a:solidFill>
                            <a:srgbClr val="1A1A1A"/>
                          </a:solidFill>
                          <a:latin typeface="Calibri"/>
                          <a:ea typeface="Calibri"/>
                          <a:cs typeface="Calibri"/>
                          <a:sym typeface="Calibri"/>
                        </a:rPr>
                        <a:t>Adobe Acrobat AI</a:t>
                      </a:r>
                      <a:endParaRPr/>
                    </a:p>
                  </a:txBody>
                  <a:tcPr marT="45725" marB="45725" marR="91450" marL="91450" anchor="ctr">
                    <a:solidFill>
                      <a:srgbClr val="EAF2EE"/>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Questions about a PDF, with citations</a:t>
                      </a:r>
                      <a:endParaRPr/>
                    </a:p>
                  </a:txBody>
                  <a:tcPr marT="45725" marB="45725" marR="91450" marL="91450" anchor="ctr">
                    <a:solidFill>
                      <a:srgbClr val="EAF2EE"/>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One file at a time, no practice</a:t>
                      </a:r>
                      <a:endParaRPr/>
                    </a:p>
                  </a:txBody>
                  <a:tcPr marT="45725" marB="45725" marR="91450" marL="91450" anchor="ctr">
                    <a:solidFill>
                      <a:srgbClr val="EAF2EE"/>
                    </a:solidFill>
                  </a:tcPr>
                </a:tc>
              </a:tr>
              <a:tr h="566928">
                <a:tc>
                  <a:txBody>
                    <a:bodyPr/>
                    <a:lstStyle/>
                    <a:p>
                      <a:pPr indent="0" lvl="0" marL="0" marR="0" rtl="0" algn="l">
                        <a:spcBef>
                          <a:spcPts val="0"/>
                        </a:spcBef>
                        <a:spcAft>
                          <a:spcPts val="0"/>
                        </a:spcAft>
                        <a:buClr>
                          <a:srgbClr val="1A1A1A"/>
                        </a:buClr>
                        <a:buSzPts val="1725"/>
                        <a:buFont typeface="Calibri"/>
                        <a:buNone/>
                      </a:pPr>
                      <a:r>
                        <a:rPr b="1" lang="en-US" sz="1725">
                          <a:solidFill>
                            <a:srgbClr val="1A1A1A"/>
                          </a:solidFill>
                          <a:latin typeface="Calibri"/>
                          <a:ea typeface="Calibri"/>
                          <a:cs typeface="Calibri"/>
                          <a:sym typeface="Calibri"/>
                        </a:rPr>
                        <a:t>ChatGPT and Gemini</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Strong explanations, free to start</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Context set up again every session</a:t>
                      </a:r>
                      <a:endParaRPr/>
                    </a:p>
                  </a:txBody>
                  <a:tcPr marT="45725" marB="45725" marR="91450" marL="91450" anchor="ctr">
                    <a:solidFill>
                      <a:srgbClr val="FFFFFF"/>
                    </a:solidFill>
                  </a:tcPr>
                </a:tc>
              </a:tr>
              <a:tr h="566928">
                <a:tc>
                  <a:txBody>
                    <a:bodyPr/>
                    <a:lstStyle/>
                    <a:p>
                      <a:pPr indent="0" lvl="0" marL="0" marR="0" rtl="0" algn="l">
                        <a:spcBef>
                          <a:spcPts val="0"/>
                        </a:spcBef>
                        <a:spcAft>
                          <a:spcPts val="0"/>
                        </a:spcAft>
                        <a:buClr>
                          <a:srgbClr val="1A1A1A"/>
                        </a:buClr>
                        <a:buSzPts val="1725"/>
                        <a:buFont typeface="Calibri"/>
                        <a:buNone/>
                      </a:pPr>
                      <a:r>
                        <a:rPr b="1" lang="en-US" sz="1725">
                          <a:solidFill>
                            <a:srgbClr val="1A1A1A"/>
                          </a:solidFill>
                          <a:latin typeface="Calibri"/>
                          <a:ea typeface="Calibri"/>
                          <a:cs typeface="Calibri"/>
                          <a:sym typeface="Calibri"/>
                        </a:rPr>
                        <a:t>Anki and Quizlet</a:t>
                      </a:r>
                      <a:endParaRPr/>
                    </a:p>
                  </a:txBody>
                  <a:tcPr marT="45725" marB="45725" marR="91450" marL="91450" anchor="ctr">
                    <a:solidFill>
                      <a:srgbClr val="EAF2EE"/>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Proven spaced repetition</a:t>
                      </a:r>
                      <a:endParaRPr/>
                    </a:p>
                  </a:txBody>
                  <a:tcPr marT="45725" marB="45725" marR="91450" marL="91450" anchor="ctr">
                    <a:solidFill>
                      <a:srgbClr val="EAF2EE"/>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Cards made by hand, no explanations</a:t>
                      </a:r>
                      <a:endParaRPr/>
                    </a:p>
                  </a:txBody>
                  <a:tcPr marT="45725" marB="45725" marR="91450" marL="91450" anchor="ctr">
                    <a:solidFill>
                      <a:srgbClr val="EAF2EE"/>
                    </a:solidFill>
                  </a:tcPr>
                </a:tc>
              </a:tr>
            </a:tbl>
          </a:graphicData>
        </a:graphic>
      </p:graphicFrame>
      <p:sp>
        <p:nvSpPr>
          <p:cNvPr id="220" name="Google Shape;220;p10"/>
          <p:cNvSpPr/>
          <p:nvPr/>
        </p:nvSpPr>
        <p:spPr>
          <a:xfrm>
            <a:off x="523875" y="4526280"/>
            <a:ext cx="1095375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54734"/>
                </a:solidFill>
                <a:latin typeface="Calibri"/>
                <a:ea typeface="Calibri"/>
                <a:cs typeface="Calibri"/>
                <a:sym typeface="Calibri"/>
              </a:rPr>
              <a:t>OUR UNIQUE VALUE</a:t>
            </a:r>
          </a:p>
        </p:txBody>
      </p:sp>
      <p:sp>
        <p:nvSpPr>
          <p:cNvPr id="222" name="Google Shape;222;p10"/>
          <p:cNvSpPr/>
          <p:nvPr/>
        </p:nvSpPr>
        <p:spPr>
          <a:xfrm>
            <a:off x="523875" y="5760720"/>
            <a:ext cx="110490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1A1A1A"/>
                </a:solidFill>
                <a:latin typeface="Calibri"/>
                <a:ea typeface="Calibri"/>
                <a:cs typeface="Calibri"/>
                <a:sym typeface="Calibri"/>
              </a:rPr>
              <a:t>Strategy: win on setup time, not raw answer quality. No uploads and no re-explaining the course.</a:t>
            </a:r>
          </a:p>
        </p:txBody>
      </p:sp>
      <p:sp>
        <p:nvSpPr>
          <p:cNvPr id="223" name="Google Shape;162;p7"/>
          <p:cNvSpPr/>
          <p:nvPr/>
        </p:nvSpPr>
        <p:spPr>
          <a:xfrm>
            <a:off x="523951" y="4846320"/>
            <a:ext cx="11144707" cy="685800"/>
          </a:xfrm>
          <a:prstGeom prst="roundRect">
            <a:avLst>
              <a:gd fmla="val 24000"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163;p7"/>
          <p:cNvSpPr/>
          <p:nvPr/>
        </p:nvSpPr>
        <p:spPr>
          <a:xfrm>
            <a:off x="752551" y="5001768"/>
            <a:ext cx="10687507"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154734"/>
                </a:solidFill>
                <a:latin typeface="Calibri"/>
                <a:ea typeface="Calibri"/>
                <a:cs typeface="Calibri"/>
                <a:sym typeface="Calibri"/>
              </a:rPr>
              <a:t>Explains the page you’re reading, cites it and turns it into practice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68" name="Google Shape;368;p17"/>
          <p:cNvSpPr/>
          <p:nvPr/>
        </p:nvSpPr>
        <p:spPr>
          <a:xfrm>
            <a:off x="514350" y="428625"/>
            <a:ext cx="847725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54734"/>
                </a:solidFill>
                <a:latin typeface="Calibri"/>
                <a:ea typeface="Calibri"/>
                <a:cs typeface="Calibri"/>
                <a:sym typeface="Calibri"/>
              </a:rPr>
              <a:t>Free to start, Pro pays for itself</a:t>
            </a:r>
          </a:p>
        </p:txBody>
      </p:sp>
      <p:sp>
        <p:nvSpPr>
          <p:cNvPr id="369" name="Google Shape;369;p17"/>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7"/>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BUSINESS MODEL</a:t>
            </a:r>
          </a:p>
        </p:txBody>
      </p:sp>
      <p:cxnSp>
        <p:nvCxnSpPr>
          <p:cNvPr id="371" name="Google Shape;371;p17"/>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372" name="Google Shape;372;p17"/>
          <p:cNvSpPr/>
          <p:nvPr/>
        </p:nvSpPr>
        <p:spPr>
          <a:xfrm>
            <a:off x="11477625" y="6419850"/>
            <a:ext cx="285750" cy="2095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050">
                <a:solidFill>
                  <a:srgbClr val="65736B"/>
                </a:solidFill>
                <a:latin typeface="Calibri"/>
                <a:ea typeface="Calibri"/>
                <a:cs typeface="Calibri"/>
                <a:sym typeface="Calibri"/>
              </a:rPr>
              <a:t>5</a:t>
            </a:r>
          </a:p>
        </p:txBody>
      </p:sp>
      <p:graphicFrame>
        <p:nvGraphicFramePr>
          <p:cNvPr id="373" name="Google Shape;373;p17"/>
          <p:cNvGraphicFramePr/>
          <p:nvPr/>
        </p:nvGraphicFramePr>
        <p:xfrm>
          <a:off x="7438644" y="2148840"/>
          <a:ext cx="4229100" cy="2743200"/>
        </p:xfrm>
        <a:graphic>
          <a:graphicData uri="http://schemas.openxmlformats.org/drawingml/2006/table">
            <a:tbl>
              <a:tblPr>
                <a:noFill/>
                <a:tableStyleId>{7788B9B1-F278-4A7A-A6D5-9AABFE0BA978}</a:tableStyleId>
              </a:tblPr>
              <a:tblGrid>
                <a:gridCol w="2651760"/>
                <a:gridCol w="1577340"/>
              </a:tblGrid>
              <a:tr h="548640">
                <a:tc>
                  <a:txBody>
                    <a:bodyPr/>
                    <a:lstStyle/>
                    <a:p>
                      <a:pPr indent="0" lvl="0" marL="0" marR="0" rtl="0" algn="l">
                        <a:spcBef>
                          <a:spcPts val="0"/>
                        </a:spcBef>
                        <a:spcAft>
                          <a:spcPts val="0"/>
                        </a:spcAft>
                        <a:buClr>
                          <a:srgbClr val="FFFFFF"/>
                        </a:buClr>
                        <a:buSzPts val="1650"/>
                        <a:buFont typeface="Calibri"/>
                        <a:buNone/>
                      </a:pPr>
                      <a:r>
                        <a:rPr b="1" lang="en-US" sz="1650">
                          <a:solidFill>
                            <a:srgbClr val="FFFFFF"/>
                          </a:solidFill>
                          <a:latin typeface="Calibri"/>
                          <a:ea typeface="Calibri"/>
                          <a:cs typeface="Calibri"/>
                          <a:sym typeface="Calibri"/>
                        </a:rPr>
                        <a:t>Model</a:t>
                      </a:r>
                      <a:endParaRPr/>
                    </a:p>
                  </a:txBody>
                  <a:tcPr marT="45725" marB="45725" marR="91450" marL="91450" anchor="ctr">
                    <a:solidFill>
                      <a:srgbClr val="154734"/>
                    </a:solidFill>
                  </a:tcPr>
                </a:tc>
                <a:tc>
                  <a:txBody>
                    <a:bodyPr/>
                    <a:lstStyle/>
                    <a:p>
                      <a:pPr indent="0" lvl="0" marL="0" marR="0" rtl="0" algn="l">
                        <a:spcBef>
                          <a:spcPts val="0"/>
                        </a:spcBef>
                        <a:spcAft>
                          <a:spcPts val="0"/>
                        </a:spcAft>
                        <a:buClr>
                          <a:srgbClr val="FFFFFF"/>
                        </a:buClr>
                        <a:buSzPts val="1650"/>
                        <a:buFont typeface="Calibri"/>
                        <a:buNone/>
                      </a:pPr>
                      <a:r>
                        <a:rPr b="1" lang="en-US" sz="1650">
                          <a:solidFill>
                            <a:srgbClr val="FFFFFF"/>
                          </a:solidFill>
                          <a:latin typeface="Calibri"/>
                          <a:ea typeface="Calibri"/>
                          <a:cs typeface="Calibri"/>
                          <a:sym typeface="Calibri"/>
                        </a:rPr>
                        <a:t>Cost</a:t>
                      </a:r>
                      <a:endParaRPr/>
                    </a:p>
                  </a:txBody>
                  <a:tcPr marT="45725" marB="45725" marR="91450" marL="91450" anchor="ctr">
                    <a:solidFill>
                      <a:srgbClr val="154734"/>
                    </a:solidFill>
                  </a:tcPr>
                </a:tc>
              </a:tr>
              <a:tr h="548640">
                <a:tc>
                  <a:txBody>
                    <a:bodyPr/>
                    <a:lstStyle/>
                    <a:p>
                      <a:pPr indent="0" lvl="0" marL="0" marR="0" rtl="0" algn="l">
                        <a:spcBef>
                          <a:spcPts val="0"/>
                        </a:spcBef>
                        <a:spcAft>
                          <a:spcPts val="0"/>
                        </a:spcAft>
                        <a:buClr>
                          <a:srgbClr val="1A1A1A"/>
                        </a:buClr>
                        <a:buSzPts val="1725"/>
                        <a:buFont typeface="Calibri"/>
                        <a:buNone/>
                      </a:pPr>
                      <a:r>
                        <a:rPr b="1" lang="en-US" sz="1725">
                          <a:solidFill>
                            <a:srgbClr val="1A1A1A"/>
                          </a:solidFill>
                          <a:latin typeface="Calibri"/>
                          <a:ea typeface="Calibri"/>
                          <a:cs typeface="Calibri"/>
                          <a:sym typeface="Calibri"/>
                        </a:rPr>
                        <a:t>Free model (default)</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$0</a:t>
                      </a:r>
                      <a:endParaRPr/>
                    </a:p>
                  </a:txBody>
                  <a:tcPr marT="45725" marB="45725" marR="91450" marL="91450" anchor="ctr">
                    <a:solidFill>
                      <a:srgbClr val="FFFFFF"/>
                    </a:solidFill>
                  </a:tcPr>
                </a:tc>
              </a:tr>
              <a:tr h="548640">
                <a:tc>
                  <a:txBody>
                    <a:bodyPr/>
                    <a:lstStyle/>
                    <a:p>
                      <a:pPr indent="0" lvl="0" marL="0" marR="0" rtl="0" algn="l">
                        <a:spcBef>
                          <a:spcPts val="0"/>
                        </a:spcBef>
                        <a:spcAft>
                          <a:spcPts val="0"/>
                        </a:spcAft>
                        <a:buClr>
                          <a:srgbClr val="1A1A1A"/>
                        </a:buClr>
                        <a:buSzPts val="1725"/>
                        <a:buFont typeface="Calibri"/>
                        <a:buNone/>
                      </a:pPr>
                      <a:r>
                        <a:rPr b="1" lang="en-US" sz="1725">
                          <a:solidFill>
                            <a:srgbClr val="1A1A1A"/>
                          </a:solidFill>
                          <a:latin typeface="Calibri"/>
                          <a:ea typeface="Calibri"/>
                          <a:cs typeface="Calibri"/>
                          <a:sym typeface="Calibri"/>
                        </a:rPr>
                        <a:t>Claude Haiku 4.5</a:t>
                      </a:r>
                      <a:endParaRPr/>
                    </a:p>
                  </a:txBody>
                  <a:tcPr marT="45725" marB="45725" marR="91450" marL="91450" anchor="ctr">
                    <a:solidFill>
                      <a:srgbClr val="EAF2EE"/>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about 0.5¢</a:t>
                      </a:r>
                      <a:endParaRPr/>
                    </a:p>
                  </a:txBody>
                  <a:tcPr marT="45725" marB="45725" marR="91450" marL="91450" anchor="ctr">
                    <a:solidFill>
                      <a:srgbClr val="EAF2EE"/>
                    </a:solidFill>
                  </a:tcPr>
                </a:tc>
              </a:tr>
              <a:tr h="548640">
                <a:tc>
                  <a:txBody>
                    <a:bodyPr/>
                    <a:lstStyle/>
                    <a:p>
                      <a:pPr indent="0" lvl="0" marL="0" marR="0" rtl="0" algn="l">
                        <a:spcBef>
                          <a:spcPts val="0"/>
                        </a:spcBef>
                        <a:spcAft>
                          <a:spcPts val="0"/>
                        </a:spcAft>
                        <a:buClr>
                          <a:srgbClr val="1A1A1A"/>
                        </a:buClr>
                        <a:buSzPts val="1725"/>
                        <a:buFont typeface="Calibri"/>
                        <a:buNone/>
                      </a:pPr>
                      <a:r>
                        <a:rPr b="1" lang="en-US" sz="1725">
                          <a:solidFill>
                            <a:srgbClr val="1A1A1A"/>
                          </a:solidFill>
                          <a:latin typeface="Calibri"/>
                          <a:ea typeface="Calibri"/>
                          <a:cs typeface="Calibri"/>
                          <a:sym typeface="Calibri"/>
                        </a:rPr>
                        <a:t>Claude Sonnet 5.5</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about 1¢</a:t>
                      </a:r>
                      <a:endParaRPr/>
                    </a:p>
                  </a:txBody>
                  <a:tcPr marT="45725" marB="45725" marR="91450" marL="91450" anchor="ctr">
                    <a:solidFill>
                      <a:srgbClr val="FFFFFF"/>
                    </a:solidFill>
                  </a:tcPr>
                </a:tc>
              </a:tr>
              <a:tr h="548640">
                <a:tc>
                  <a:txBody>
                    <a:bodyPr/>
                    <a:lstStyle/>
                    <a:p>
                      <a:pPr indent="0" lvl="0" marL="0" marR="0" rtl="0" algn="l">
                        <a:spcBef>
                          <a:spcPts val="0"/>
                        </a:spcBef>
                        <a:spcAft>
                          <a:spcPts val="0"/>
                        </a:spcAft>
                        <a:buClr>
                          <a:srgbClr val="1A1A1A"/>
                        </a:buClr>
                        <a:buSzPts val="1725"/>
                        <a:buFont typeface="Calibri"/>
                        <a:buNone/>
                      </a:pPr>
                      <a:r>
                        <a:rPr b="1" lang="en-US" sz="1725">
                          <a:solidFill>
                            <a:srgbClr val="1A1A1A"/>
                          </a:solidFill>
                          <a:latin typeface="Calibri"/>
                          <a:ea typeface="Calibri"/>
                          <a:cs typeface="Calibri"/>
                          <a:sym typeface="Calibri"/>
                        </a:rPr>
                        <a:t>Claude Opus 5.5</a:t>
                      </a:r>
                      <a:endParaRPr/>
                    </a:p>
                  </a:txBody>
                  <a:tcPr marT="45725" marB="45725" marR="91450" marL="91450" anchor="ctr">
                    <a:solidFill>
                      <a:srgbClr val="EAF2EE"/>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about 2.5¢</a:t>
                      </a:r>
                      <a:endParaRPr/>
                    </a:p>
                  </a:txBody>
                  <a:tcPr marT="45725" marB="45725" marR="91450" marL="91450" anchor="ctr">
                    <a:solidFill>
                      <a:srgbClr val="EAF2EE"/>
                    </a:solidFill>
                  </a:tcPr>
                </a:tc>
              </a:tr>
            </a:tbl>
          </a:graphicData>
        </a:graphic>
      </p:graphicFrame>
      <p:sp>
        <p:nvSpPr>
          <p:cNvPr id="374" name="Google Shape;374;p17"/>
          <p:cNvSpPr/>
          <p:nvPr/>
        </p:nvSpPr>
        <p:spPr>
          <a:xfrm>
            <a:off x="523875" y="5572125"/>
            <a:ext cx="11144250" cy="638175"/>
          </a:xfrm>
          <a:prstGeom prst="roundRect">
            <a:avLst>
              <a:gd fmla="val 17910"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7"/>
          <p:cNvSpPr/>
          <p:nvPr/>
        </p:nvSpPr>
        <p:spPr>
          <a:xfrm>
            <a:off x="752475" y="5743575"/>
            <a:ext cx="10687050" cy="3714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54734"/>
                </a:solidFill>
                <a:latin typeface="Calibri"/>
                <a:ea typeface="Calibri"/>
                <a:cs typeface="Calibri"/>
                <a:sym typeface="Calibri"/>
              </a:rPr>
              <a:t>Self-funded: up to US$150 over two terms. Free-tier requests cost us nothing.</a:t>
            </a:r>
          </a:p>
        </p:txBody>
      </p:sp>
      <p:sp>
        <p:nvSpPr>
          <p:cNvPr id="376" name="Free card 376"/>
          <p:cNvSpPr/>
          <p:nvPr/>
        </p:nvSpPr>
        <p:spPr>
          <a:xfrm>
            <a:off x="523951" y="1417320"/>
            <a:ext cx="3154680" cy="3474720"/>
          </a:xfrm>
          <a:prstGeom prst="roundRect">
            <a:avLst>
              <a:gd fmla="val 6000" name="adj"/>
            </a:avLst>
          </a:prstGeom>
          <a:solidFill>
            <a:srgbClr val="EAF2EE"/>
          </a:solidFill>
          <a:ln cap="flat" cmpd="sng" w="13325">
            <a:solidFill>
              <a:srgbClr val="154734"/>
            </a:solidFill>
            <a:prstDash val="solid"/>
            <a:round/>
            <a:headEnd len="sm" w="sm" type="none"/>
            <a:tailEnd len="sm" w="sm" type="none"/>
          </a:ln>
        </p:spPr>
      </p:sp>
      <p:sp>
        <p:nvSpPr>
          <p:cNvPr id="377" name="Text 377"/>
          <p:cNvSpPr txBox="1"/>
          <p:nvPr/>
        </p:nvSpPr>
        <p:spPr>
          <a:xfrm>
            <a:off x="752551" y="1645920"/>
            <a:ext cx="2697480" cy="3017520"/>
          </a:xfrm>
          <a:prstGeom prst="rect">
            <a:avLst/>
          </a:prstGeom>
          <a:noFill/>
          <a:ln>
            <a:noFill/>
          </a:ln>
        </p:spPr>
        <p:txBody>
          <a:bodyPr anchorCtr="0" anchor="t" bIns="0" lIns="0" spcFirstLastPara="1" rIns="0" wrap="square" tIns="0">
            <a:noAutofit/>
          </a:bodyPr>
          <a:lstStyle/>
          <a:p>
            <a:pPr marL="0" indent="0" lvl="0" marR="0" rtl="0" algn="l">
              <a:spcBef>
                <a:spcPts val="0"/>
              </a:spcBef>
              <a:spcAft>
                <a:spcPts val="0"/>
              </a:spcAft>
              <a:buNone/>
            </a:pPr>
            <a:r>
              <a:rPr b="1" lang="en-US" sz="2600">
                <a:solidFill>
                  <a:srgbClr val="154734"/>
                </a:solidFill>
                <a:latin typeface="Calibri"/>
                <a:ea typeface="Calibri"/>
                <a:cs typeface="Calibri"/>
                <a:sym typeface="Calibri"/>
              </a:rPr>
              <a:t>Free</a:t>
            </a:r>
          </a:p>
          <a:p>
            <a:pPr marL="0" indent="0" lvl="0" marR="0" rtl="0" algn="l">
              <a:spcBef>
                <a:spcPts val="0"/>
              </a:spcBef>
              <a:spcAft>
                <a:spcPts val="1200"/>
              </a:spcAft>
              <a:buNone/>
            </a:pPr>
            <a:r>
              <a:rPr b="0" lang="en-US" sz="1650">
                <a:solidFill>
                  <a:srgbClr val="154734"/>
                </a:solidFill>
                <a:latin typeface="Calibri"/>
                <a:ea typeface="Calibri"/>
                <a:cs typeface="Calibri"/>
                <a:sym typeface="Calibri"/>
              </a:rPr>
              <a:t>$0 for every student</a:t>
            </a:r>
          </a:p>
          <a:p>
            <a:pPr marL="285750" indent="-285750" lvl="0" marR="0" rtl="0" algn="l">
              <a:spcBef>
                <a:spcPts val="0"/>
              </a:spcBef>
              <a:spcAft>
                <a:spcPts val="800"/>
              </a:spcAft>
              <a:buClr>
                <a:srgbClr val="154734"/>
              </a:buClr>
              <a:buSzPct val="100000"/>
              <a:buFont typeface="Arial"/>
              <a:buChar char="•"/>
            </a:pPr>
            <a:r>
              <a:rPr b="0" lang="en-US" sz="1800">
                <a:solidFill>
                  <a:srgbClr val="1A1A1A"/>
                </a:solidFill>
                <a:latin typeface="Calibri"/>
                <a:ea typeface="Calibri"/>
                <a:cs typeface="Calibri"/>
                <a:sym typeface="Calibri"/>
              </a:rPr>
              <a:t>One course</a:t>
            </a:r>
          </a:p>
          <a:p>
            <a:pPr marL="285750" indent="-285750" lvl="0" marR="0" rtl="0" algn="l">
              <a:spcBef>
                <a:spcPts val="0"/>
              </a:spcBef>
              <a:spcAft>
                <a:spcPts val="800"/>
              </a:spcAft>
              <a:buClr>
                <a:srgbClr val="154734"/>
              </a:buClr>
              <a:buSzPct val="100000"/>
              <a:buFont typeface="Arial"/>
              <a:buChar char="•"/>
            </a:pPr>
            <a:r>
              <a:rPr b="0" lang="en-US" sz="1800">
                <a:solidFill>
                  <a:srgbClr val="1A1A1A"/>
                </a:solidFill>
                <a:latin typeface="Calibri"/>
                <a:ea typeface="Calibri"/>
                <a:cs typeface="Calibri"/>
                <a:sym typeface="Calibri"/>
              </a:rPr>
              <a:t>Explanations, flashcards and quizzes</a:t>
            </a:r>
          </a:p>
          <a:p>
            <a:pPr marL="285750" indent="-285750" lvl="0" marR="0" rtl="0" algn="l">
              <a:spcBef>
                <a:spcPts val="0"/>
              </a:spcBef>
              <a:spcAft>
                <a:spcPts val="800"/>
              </a:spcAft>
              <a:buClr>
                <a:srgbClr val="154734"/>
              </a:buClr>
              <a:buSzPct val="100000"/>
              <a:buFont typeface="Arial"/>
              <a:buChar char="•"/>
            </a:pPr>
            <a:r>
              <a:rPr b="0" lang="en-US" sz="1800">
                <a:solidFill>
                  <a:srgbClr val="1A1A1A"/>
                </a:solidFill>
                <a:latin typeface="Calibri"/>
                <a:ea typeface="Calibri"/>
                <a:cs typeface="Calibri"/>
                <a:sym typeface="Calibri"/>
              </a:rPr>
              <a:t>Free AI models</a:t>
            </a:r>
          </a:p>
          <a:p>
            <a:pPr marL="285750" indent="-285750" lvl="0" marR="0" rtl="0" algn="l">
              <a:spcBef>
                <a:spcPts val="0"/>
              </a:spcBef>
              <a:spcAft>
                <a:spcPts val="800"/>
              </a:spcAft>
              <a:buClr>
                <a:srgbClr val="154734"/>
              </a:buClr>
              <a:buSzPct val="100000"/>
              <a:buFont typeface="Arial"/>
              <a:buChar char="•"/>
            </a:pPr>
            <a:r>
              <a:rPr b="0" lang="en-US" sz="1800">
                <a:solidFill>
                  <a:srgbClr val="1A1A1A"/>
                </a:solidFill>
                <a:latin typeface="Calibri"/>
                <a:ea typeface="Calibri"/>
                <a:cs typeface="Calibri"/>
                <a:sym typeface="Calibri"/>
              </a:rPr>
              <a:t>Weekly usage limit</a:t>
            </a:r>
          </a:p>
        </p:txBody>
      </p:sp>
      <p:sp>
        <p:nvSpPr>
          <p:cNvPr id="378" name="Pro card 378"/>
          <p:cNvSpPr/>
          <p:nvPr/>
        </p:nvSpPr>
        <p:spPr>
          <a:xfrm>
            <a:off x="3907231" y="1417320"/>
            <a:ext cx="3154680" cy="3474720"/>
          </a:xfrm>
          <a:prstGeom prst="roundRect">
            <a:avLst>
              <a:gd fmla="val 6000" name="adj"/>
            </a:avLst>
          </a:prstGeom>
          <a:solidFill>
            <a:srgbClr val="FFB81C"/>
          </a:solidFill>
          <a:ln cap="flat" cmpd="sng" w="13325">
            <a:solidFill>
              <a:srgbClr val="154734"/>
            </a:solidFill>
            <a:prstDash val="solid"/>
            <a:round/>
            <a:headEnd len="sm" w="sm" type="none"/>
            <a:tailEnd len="sm" w="sm" type="none"/>
          </a:ln>
        </p:spPr>
      </p:sp>
      <p:sp>
        <p:nvSpPr>
          <p:cNvPr id="379" name="Text 379"/>
          <p:cNvSpPr txBox="1"/>
          <p:nvPr/>
        </p:nvSpPr>
        <p:spPr>
          <a:xfrm>
            <a:off x="4135831" y="1645920"/>
            <a:ext cx="2697480" cy="3017520"/>
          </a:xfrm>
          <a:prstGeom prst="rect">
            <a:avLst/>
          </a:prstGeom>
          <a:noFill/>
          <a:ln>
            <a:noFill/>
          </a:ln>
        </p:spPr>
        <p:txBody>
          <a:bodyPr anchorCtr="0" anchor="t" bIns="0" lIns="0" spcFirstLastPara="1" rIns="0" wrap="square" tIns="0">
            <a:noAutofit/>
          </a:bodyPr>
          <a:lstStyle/>
          <a:p>
            <a:pPr marL="0" indent="0" lvl="0" marR="0" rtl="0" algn="l">
              <a:spcBef>
                <a:spcPts val="0"/>
              </a:spcBef>
              <a:spcAft>
                <a:spcPts val="0"/>
              </a:spcAft>
              <a:buNone/>
            </a:pPr>
            <a:r>
              <a:rPr b="1" lang="en-US" sz="2600">
                <a:solidFill>
                  <a:srgbClr val="154734"/>
                </a:solidFill>
                <a:latin typeface="Calibri"/>
                <a:ea typeface="Calibri"/>
                <a:cs typeface="Calibri"/>
                <a:sym typeface="Calibri"/>
              </a:rPr>
              <a:t>Pro</a:t>
            </a:r>
          </a:p>
          <a:p>
            <a:pPr marL="0" indent="0" lvl="0" marR="0" rtl="0" algn="l">
              <a:spcBef>
                <a:spcPts val="0"/>
              </a:spcBef>
              <a:spcAft>
                <a:spcPts val="1200"/>
              </a:spcAft>
              <a:buNone/>
            </a:pPr>
            <a:r>
              <a:rPr b="0" lang="en-US" sz="1650">
                <a:solidFill>
                  <a:srgbClr val="154734"/>
                </a:solidFill>
                <a:latin typeface="Calibri"/>
                <a:ea typeface="Calibri"/>
                <a:cs typeface="Calibri"/>
                <a:sym typeface="Calibri"/>
              </a:rPr>
              <a:t>Monthly or per term</a:t>
            </a:r>
          </a:p>
          <a:p>
            <a:pPr marL="285750" indent="-285750" lvl="0" marR="0" rtl="0" algn="l">
              <a:spcBef>
                <a:spcPts val="0"/>
              </a:spcBef>
              <a:spcAft>
                <a:spcPts val="800"/>
              </a:spcAft>
              <a:buClr>
                <a:srgbClr val="154734"/>
              </a:buClr>
              <a:buSzPct val="100000"/>
              <a:buFont typeface="Arial"/>
              <a:buChar char="•"/>
            </a:pPr>
            <a:r>
              <a:rPr b="0" lang="en-US" sz="1800">
                <a:solidFill>
                  <a:srgbClr val="1A1A1A"/>
                </a:solidFill>
                <a:latin typeface="Calibri"/>
                <a:ea typeface="Calibri"/>
                <a:cs typeface="Calibri"/>
                <a:sym typeface="Calibri"/>
              </a:rPr>
              <a:t>Paid AI models for explanations</a:t>
            </a:r>
          </a:p>
          <a:p>
            <a:pPr marL="285750" indent="-285750" lvl="0" marR="0" rtl="0" algn="l">
              <a:spcBef>
                <a:spcPts val="0"/>
              </a:spcBef>
              <a:spcAft>
                <a:spcPts val="800"/>
              </a:spcAft>
              <a:buClr>
                <a:srgbClr val="154734"/>
              </a:buClr>
              <a:buSzPct val="100000"/>
              <a:buFont typeface="Arial"/>
              <a:buChar char="•"/>
            </a:pPr>
            <a:r>
              <a:rPr b="0" lang="en-US" sz="1800">
                <a:solidFill>
                  <a:srgbClr val="1A1A1A"/>
                </a:solidFill>
                <a:latin typeface="Calibri"/>
                <a:ea typeface="Calibri"/>
                <a:cs typeface="Calibri"/>
                <a:sym typeface="Calibri"/>
              </a:rPr>
              <a:t>Unlimited courses</a:t>
            </a:r>
          </a:p>
          <a:p>
            <a:pPr marL="285750" indent="-285750" lvl="0" marR="0" rtl="0" algn="l">
              <a:spcBef>
                <a:spcPts val="0"/>
              </a:spcBef>
              <a:spcAft>
                <a:spcPts val="800"/>
              </a:spcAft>
              <a:buClr>
                <a:srgbClr val="154734"/>
              </a:buClr>
              <a:buSzPct val="100000"/>
              <a:buFont typeface="Arial"/>
              <a:buChar char="•"/>
            </a:pPr>
            <a:r>
              <a:rPr b="0" lang="en-US" sz="1800">
                <a:solidFill>
                  <a:srgbClr val="1A1A1A"/>
                </a:solidFill>
                <a:latin typeface="Calibri"/>
                <a:ea typeface="Calibri"/>
                <a:cs typeface="Calibri"/>
                <a:sym typeface="Calibri"/>
              </a:rPr>
              <a:t>Voice input, iPad and planned review</a:t>
            </a:r>
          </a:p>
          <a:p>
            <a:pPr marL="285750" indent="-285750" lvl="0" marR="0" rtl="0" algn="l">
              <a:spcBef>
                <a:spcPts val="0"/>
              </a:spcBef>
              <a:spcAft>
                <a:spcPts val="800"/>
              </a:spcAft>
              <a:buClr>
                <a:srgbClr val="154734"/>
              </a:buClr>
              <a:buSzPct val="100000"/>
              <a:buFont typeface="Arial"/>
              <a:buChar char="•"/>
            </a:pPr>
            <a:r>
              <a:rPr b="0" lang="en-US" sz="1800">
                <a:solidFill>
                  <a:srgbClr val="1A1A1A"/>
                </a:solidFill>
                <a:latin typeface="Calibri"/>
                <a:ea typeface="Calibri"/>
                <a:cs typeface="Calibri"/>
                <a:sym typeface="Calibri"/>
              </a:rPr>
              <a:t>Monthly usage limit</a:t>
            </a:r>
          </a:p>
        </p:txBody>
      </p:sp>
      <p:sp>
        <p:nvSpPr>
          <p:cNvPr id="380" name="Text 380"/>
          <p:cNvSpPr txBox="1"/>
          <p:nvPr/>
        </p:nvSpPr>
        <p:spPr>
          <a:xfrm>
            <a:off x="7438644" y="1417320"/>
            <a:ext cx="4229100" cy="274320"/>
          </a:xfrm>
          <a:prstGeom prst="rect">
            <a:avLst/>
          </a:prstGeom>
          <a:noFill/>
          <a:ln>
            <a:noFill/>
          </a:ln>
        </p:spPr>
        <p:txBody>
          <a:bodyPr anchorCtr="0" anchor="t" bIns="0" lIns="0" spcFirstLastPara="1" rIns="0" wrap="square" tIns="0">
            <a:noAutofit/>
          </a:bodyPr>
          <a:lstStyle/>
          <a:p>
            <a:pPr marL="0" indent="0" lvl="0" marR="0" rtl="0" algn="l">
              <a:spcBef>
                <a:spcPts val="0"/>
              </a:spcBef>
              <a:spcAft>
                <a:spcPts val="0"/>
              </a:spcAft>
              <a:buNone/>
            </a:pPr>
            <a:r>
              <a:rPr b="1" lang="en-US" sz="1575">
                <a:solidFill>
                  <a:srgbClr val="154734"/>
                </a:solidFill>
                <a:latin typeface="Calibri"/>
                <a:ea typeface="Calibri"/>
                <a:cs typeface="Calibri"/>
                <a:sym typeface="Calibri"/>
              </a:rPr>
              <a:t>MODEL PICKER</a:t>
            </a:r>
          </a:p>
        </p:txBody>
      </p:sp>
      <p:sp>
        <p:nvSpPr>
          <p:cNvPr id="381" name="Text 381"/>
          <p:cNvSpPr txBox="1"/>
          <p:nvPr/>
        </p:nvSpPr>
        <p:spPr>
          <a:xfrm>
            <a:off x="7438644" y="1737360"/>
            <a:ext cx="4229100" cy="274320"/>
          </a:xfrm>
          <a:prstGeom prst="rect">
            <a:avLst/>
          </a:prstGeom>
          <a:noFill/>
          <a:ln>
            <a:noFill/>
          </a:ln>
        </p:spPr>
        <p:txBody>
          <a:bodyPr anchorCtr="0" anchor="t" bIns="0" lIns="0" spcFirstLastPara="1" rIns="0" wrap="square" tIns="0">
            <a:noAutofit/>
          </a:bodyPr>
          <a:lstStyle/>
          <a:p>
            <a:pPr marL="0" indent="0" lvl="0" marR="0" rtl="0" algn="l">
              <a:spcBef>
                <a:spcPts val="0"/>
              </a:spcBef>
              <a:spcAft>
                <a:spcPts val="0"/>
              </a:spcAft>
              <a:buNone/>
            </a:pPr>
            <a:r>
              <a:rPr b="0" lang="en-US" sz="1425">
                <a:solidFill>
                  <a:srgbClr val="65736B"/>
                </a:solidFill>
                <a:latin typeface="Calibri"/>
                <a:ea typeface="Calibri"/>
                <a:cs typeface="Calibri"/>
                <a:sym typeface="Calibri"/>
              </a:rPr>
              <a:t>Cost of one explanation, cheapest first</a:t>
            </a:r>
          </a:p>
        </p:txBody>
      </p:sp>
      <p:sp>
        <p:nvSpPr>
          <p:cNvPr id="382" name="Text 382"/>
          <p:cNvSpPr txBox="1"/>
          <p:nvPr/>
        </p:nvSpPr>
        <p:spPr>
          <a:xfrm>
            <a:off x="7438644" y="4983480"/>
            <a:ext cx="4229100" cy="274320"/>
          </a:xfrm>
          <a:prstGeom prst="rect">
            <a:avLst/>
          </a:prstGeom>
          <a:noFill/>
          <a:ln>
            <a:noFill/>
          </a:ln>
        </p:spPr>
        <p:txBody>
          <a:bodyPr anchorCtr="0" anchor="t" bIns="0" lIns="0" spcFirstLastPara="1" rIns="0" wrap="square" tIns="0">
            <a:noAutofit/>
          </a:bodyPr>
          <a:lstStyle/>
          <a:p>
            <a:pPr marL="0" indent="0" lvl="0" marR="0" rtl="0" algn="l">
              <a:spcBef>
                <a:spcPts val="0"/>
              </a:spcBef>
              <a:spcAft>
                <a:spcPts val="0"/>
              </a:spcAft>
              <a:buNone/>
            </a:pPr>
            <a:r>
              <a:rPr b="0" lang="en-US" sz="1425">
                <a:solidFill>
                  <a:srgbClr val="65736B"/>
                </a:solidFill>
                <a:latin typeface="Calibri"/>
                <a:ea typeface="Calibri"/>
                <a:cs typeface="Calibri"/>
                <a:sym typeface="Calibri"/>
              </a:rPr>
              <a:t>Paid models unlock with Pro.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28" name="Google Shape;228;p11"/>
          <p:cNvSpPr/>
          <p:nvPr/>
        </p:nvSpPr>
        <p:spPr>
          <a:xfrm>
            <a:off x="514350" y="428625"/>
            <a:ext cx="847725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54734"/>
                </a:solidFill>
                <a:latin typeface="Calibri"/>
                <a:ea typeface="Calibri"/>
                <a:cs typeface="Calibri"/>
                <a:sym typeface="Calibri"/>
              </a:rPr>
              <a:t>What we will deliver, and when</a:t>
            </a:r>
          </a:p>
        </p:txBody>
      </p:sp>
      <p:sp>
        <p:nvSpPr>
          <p:cNvPr id="229" name="Google Shape;229;p11"/>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NEXT STEPS</a:t>
            </a:r>
          </a:p>
        </p:txBody>
      </p:sp>
      <p:cxnSp>
        <p:nvCxnSpPr>
          <p:cNvPr id="231" name="Google Shape;231;p11"/>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232" name="Google Shape;232;p11"/>
          <p:cNvSpPr/>
          <p:nvPr/>
        </p:nvSpPr>
        <p:spPr>
          <a:xfrm>
            <a:off x="11477625" y="6419850"/>
            <a:ext cx="285750" cy="2095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050">
                <a:solidFill>
                  <a:srgbClr val="65736B"/>
                </a:solidFill>
                <a:latin typeface="Calibri"/>
                <a:ea typeface="Calibri"/>
                <a:cs typeface="Calibri"/>
                <a:sym typeface="Calibri"/>
              </a:rPr>
              <a:t>6</a:t>
            </a:r>
          </a:p>
        </p:txBody>
      </p:sp>
      <p:sp>
        <p:nvSpPr>
          <p:cNvPr id="233" name="Google Shape;233;p11"/>
          <p:cNvSpPr/>
          <p:nvPr/>
        </p:nvSpPr>
        <p:spPr>
          <a:xfrm>
            <a:off x="523875" y="1438275"/>
            <a:ext cx="238125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FFB81C"/>
                </a:solidFill>
                <a:latin typeface="Calibri"/>
                <a:ea typeface="Calibri"/>
                <a:cs typeface="Calibri"/>
                <a:sym typeface="Calibri"/>
              </a:rPr>
              <a:t>Oct 20</a:t>
            </a:r>
          </a:p>
        </p:txBody>
      </p:sp>
      <p:sp>
        <p:nvSpPr>
          <p:cNvPr id="234" name="Google Shape;234;p11"/>
          <p:cNvSpPr/>
          <p:nvPr/>
        </p:nvSpPr>
        <p:spPr>
          <a:xfrm>
            <a:off x="523875" y="2066925"/>
            <a:ext cx="2333625"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PROTOTYPE</a:t>
            </a:r>
          </a:p>
        </p:txBody>
      </p:sp>
      <p:cxnSp>
        <p:nvCxnSpPr>
          <p:cNvPr id="235" name="Google Shape;235;p11"/>
          <p:cNvCxnSpPr/>
          <p:nvPr/>
        </p:nvCxnSpPr>
        <p:spPr>
          <a:xfrm>
            <a:off x="523875" y="2486025"/>
            <a:ext cx="2352675" cy="0"/>
          </a:xfrm>
          <a:prstGeom prst="straightConnector1">
            <a:avLst/>
          </a:prstGeom>
          <a:noFill/>
          <a:ln cap="flat" cmpd="sng" w="19050">
            <a:solidFill>
              <a:srgbClr val="CDDBD3"/>
            </a:solidFill>
            <a:prstDash val="solid"/>
            <a:round/>
            <a:headEnd len="sm" w="sm" type="none"/>
            <a:tailEnd len="sm" w="sm" type="none"/>
          </a:ln>
        </p:spPr>
      </p:cxnSp>
      <p:sp>
        <p:nvSpPr>
          <p:cNvPr id="236" name="Google Shape;236;p11"/>
          <p:cNvSpPr/>
          <p:nvPr/>
        </p:nvSpPr>
        <p:spPr>
          <a:xfrm>
            <a:off x="523875" y="2676525"/>
            <a:ext cx="2352675"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Prototypes tested with at least 5 students.</a:t>
            </a:r>
          </a:p>
        </p:txBody>
      </p:sp>
      <p:sp>
        <p:nvSpPr>
          <p:cNvPr id="237" name="Google Shape;237;p11"/>
          <p:cNvSpPr/>
          <p:nvPr/>
        </p:nvSpPr>
        <p:spPr>
          <a:xfrm>
            <a:off x="3362325" y="1438275"/>
            <a:ext cx="238125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FFB81C"/>
                </a:solidFill>
                <a:latin typeface="Calibri"/>
                <a:ea typeface="Calibri"/>
                <a:cs typeface="Calibri"/>
                <a:sym typeface="Calibri"/>
              </a:rPr>
              <a:t>Nov 24</a:t>
            </a:r>
          </a:p>
        </p:txBody>
      </p:sp>
      <p:sp>
        <p:nvSpPr>
          <p:cNvPr id="238" name="Google Shape;238;p11"/>
          <p:cNvSpPr/>
          <p:nvPr/>
        </p:nvSpPr>
        <p:spPr>
          <a:xfrm>
            <a:off x="3362325" y="2066925"/>
            <a:ext cx="2333625"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DEMO</a:t>
            </a:r>
          </a:p>
        </p:txBody>
      </p:sp>
      <p:cxnSp>
        <p:nvCxnSpPr>
          <p:cNvPr id="239" name="Google Shape;239;p11"/>
          <p:cNvCxnSpPr/>
          <p:nvPr/>
        </p:nvCxnSpPr>
        <p:spPr>
          <a:xfrm>
            <a:off x="3362325" y="2486025"/>
            <a:ext cx="2352675" cy="0"/>
          </a:xfrm>
          <a:prstGeom prst="straightConnector1">
            <a:avLst/>
          </a:prstGeom>
          <a:noFill/>
          <a:ln cap="flat" cmpd="sng" w="19050">
            <a:solidFill>
              <a:srgbClr val="CDDBD3"/>
            </a:solidFill>
            <a:prstDash val="solid"/>
            <a:round/>
            <a:headEnd len="sm" w="sm" type="none"/>
            <a:tailEnd len="sm" w="sm" type="none"/>
          </a:ln>
        </p:spPr>
      </p:cxnSp>
      <p:sp>
        <p:nvSpPr>
          <p:cNvPr id="240" name="Google Shape;240;p11"/>
          <p:cNvSpPr/>
          <p:nvPr/>
        </p:nvSpPr>
        <p:spPr>
          <a:xfrm>
            <a:off x="3362325" y="2676525"/>
            <a:ext cx="2352675"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Work-in-progress demo at bazaar day.</a:t>
            </a:r>
          </a:p>
        </p:txBody>
      </p:sp>
      <p:sp>
        <p:nvSpPr>
          <p:cNvPr id="241" name="Google Shape;241;p11"/>
          <p:cNvSpPr/>
          <p:nvPr/>
        </p:nvSpPr>
        <p:spPr>
          <a:xfrm>
            <a:off x="6200775" y="1438275"/>
            <a:ext cx="238125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FFB81C"/>
                </a:solidFill>
                <a:latin typeface="Calibri"/>
                <a:ea typeface="Calibri"/>
                <a:cs typeface="Calibri"/>
                <a:sym typeface="Calibri"/>
              </a:rPr>
              <a:t>Dec 1</a:t>
            </a:r>
          </a:p>
        </p:txBody>
      </p:sp>
      <p:sp>
        <p:nvSpPr>
          <p:cNvPr id="242" name="Google Shape;242;p11"/>
          <p:cNvSpPr/>
          <p:nvPr/>
        </p:nvSpPr>
        <p:spPr>
          <a:xfrm>
            <a:off x="6200775" y="2066925"/>
            <a:ext cx="2333625"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RELEASE 1</a:t>
            </a:r>
          </a:p>
        </p:txBody>
      </p:sp>
      <p:cxnSp>
        <p:nvCxnSpPr>
          <p:cNvPr id="243" name="Google Shape;243;p11"/>
          <p:cNvCxnSpPr/>
          <p:nvPr/>
        </p:nvCxnSpPr>
        <p:spPr>
          <a:xfrm>
            <a:off x="6200775" y="2486025"/>
            <a:ext cx="2352675" cy="0"/>
          </a:xfrm>
          <a:prstGeom prst="straightConnector1">
            <a:avLst/>
          </a:prstGeom>
          <a:noFill/>
          <a:ln cap="flat" cmpd="sng" w="19050">
            <a:solidFill>
              <a:srgbClr val="CDDBD3"/>
            </a:solidFill>
            <a:prstDash val="solid"/>
            <a:round/>
            <a:headEnd len="sm" w="sm" type="none"/>
            <a:tailEnd len="sm" w="sm" type="none"/>
          </a:ln>
        </p:spPr>
      </p:cxnSp>
      <p:sp>
        <p:nvSpPr>
          <p:cNvPr id="244" name="Google Shape;244;p11"/>
          <p:cNvSpPr/>
          <p:nvPr/>
        </p:nvSpPr>
        <p:spPr>
          <a:xfrm>
            <a:off x="6200775" y="2676525"/>
            <a:ext cx="2352675"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Reader, cited explanations, model picker, flashcards and quizzes.</a:t>
            </a:r>
          </a:p>
        </p:txBody>
      </p:sp>
      <p:sp>
        <p:nvSpPr>
          <p:cNvPr id="245" name="Google Shape;245;p11"/>
          <p:cNvSpPr/>
          <p:nvPr/>
        </p:nvSpPr>
        <p:spPr>
          <a:xfrm>
            <a:off x="9039225" y="1438275"/>
            <a:ext cx="238125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FFB81C"/>
                </a:solidFill>
                <a:latin typeface="Calibri"/>
                <a:ea typeface="Calibri"/>
                <a:cs typeface="Calibri"/>
                <a:sym typeface="Calibri"/>
              </a:rPr>
              <a:t>Apr 2027</a:t>
            </a:r>
          </a:p>
        </p:txBody>
      </p:sp>
      <p:sp>
        <p:nvSpPr>
          <p:cNvPr id="246" name="Google Shape;246;p11"/>
          <p:cNvSpPr/>
          <p:nvPr/>
        </p:nvSpPr>
        <p:spPr>
          <a:xfrm>
            <a:off x="9039225" y="2066925"/>
            <a:ext cx="2333625"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RELEASE 2</a:t>
            </a:r>
          </a:p>
        </p:txBody>
      </p:sp>
      <p:cxnSp>
        <p:nvCxnSpPr>
          <p:cNvPr id="247" name="Google Shape;247;p11"/>
          <p:cNvCxnSpPr/>
          <p:nvPr/>
        </p:nvCxnSpPr>
        <p:spPr>
          <a:xfrm>
            <a:off x="9039225" y="2486025"/>
            <a:ext cx="2352675" cy="0"/>
          </a:xfrm>
          <a:prstGeom prst="straightConnector1">
            <a:avLst/>
          </a:prstGeom>
          <a:noFill/>
          <a:ln cap="flat" cmpd="sng" w="19050">
            <a:solidFill>
              <a:srgbClr val="CDDBD3"/>
            </a:solidFill>
            <a:prstDash val="solid"/>
            <a:round/>
            <a:headEnd len="sm" w="sm" type="none"/>
            <a:tailEnd len="sm" w="sm" type="none"/>
          </a:ln>
        </p:spPr>
      </p:cxnSp>
      <p:sp>
        <p:nvSpPr>
          <p:cNvPr id="248" name="Google Shape;248;p11"/>
          <p:cNvSpPr/>
          <p:nvPr/>
        </p:nvSpPr>
        <p:spPr>
          <a:xfrm>
            <a:off x="9039225" y="2676525"/>
            <a:ext cx="2352675"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Accounts and Pro, review before exams, voice input and iPad. Pilot with 15 students.</a:t>
            </a:r>
          </a:p>
        </p:txBody>
      </p:sp>
      <p:sp>
        <p:nvSpPr>
          <p:cNvPr id="249" name="Google Shape;249;p11"/>
          <p:cNvSpPr/>
          <p:nvPr/>
        </p:nvSpPr>
        <p:spPr>
          <a:xfrm>
            <a:off x="523951" y="4343400"/>
            <a:ext cx="11144707" cy="1783080"/>
          </a:xfrm>
          <a:prstGeom prst="rect">
            <a:avLst/>
          </a:prstGeom>
          <a:solidFill>
            <a:srgbClr val="EAF2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1"/>
          <p:cNvSpPr/>
          <p:nvPr/>
        </p:nvSpPr>
        <p:spPr>
          <a:xfrm>
            <a:off x="752551" y="4507992"/>
            <a:ext cx="10698480" cy="2093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125">
                <a:solidFill>
                  <a:srgbClr val="154734"/>
                </a:solidFill>
                <a:latin typeface="Calibri"/>
                <a:ea typeface="Calibri"/>
                <a:cs typeface="Calibri"/>
                <a:sym typeface="Calibri"/>
              </a:rPr>
              <a:t>MINIMUM TARGETS</a:t>
            </a:r>
          </a:p>
        </p:txBody>
      </p:sp>
      <p:sp>
        <p:nvSpPr>
          <p:cNvPr id="251" name="Text 251"/>
          <p:cNvSpPr txBox="1"/>
          <p:nvPr/>
        </p:nvSpPr>
        <p:spPr>
          <a:xfrm>
            <a:off x="752551" y="4800600"/>
            <a:ext cx="3383280" cy="548640"/>
          </a:xfrm>
          <a:prstGeom prst="rect">
            <a:avLst/>
          </a:prstGeom>
          <a:noFill/>
          <a:ln>
            <a:noFill/>
          </a:ln>
        </p:spPr>
        <p:txBody>
          <a:bodyPr anchorCtr="0" anchor="t" bIns="0" lIns="0" spcFirstLastPara="1" rIns="0" wrap="square" tIns="0">
            <a:noAutofit/>
          </a:bodyPr>
          <a:lstStyle/>
          <a:p>
            <a:pPr marL="0" indent="0" lvl="0" marR="0" rtl="0" algn="l">
              <a:spcBef>
                <a:spcPts val="0"/>
              </a:spcBef>
              <a:spcAft>
                <a:spcPts val="0"/>
              </a:spcAft>
              <a:buNone/>
            </a:pPr>
            <a:r>
              <a:rPr b="1" lang="en-US" sz="3450">
                <a:solidFill>
                  <a:srgbClr val="154734"/>
                </a:solidFill>
                <a:latin typeface="Calibri"/>
                <a:ea typeface="Calibri"/>
                <a:cs typeface="Calibri"/>
                <a:sym typeface="Calibri"/>
              </a:rPr>
              <a:t>85%</a:t>
            </a:r>
          </a:p>
        </p:txBody>
      </p:sp>
      <p:sp>
        <p:nvSpPr>
          <p:cNvPr id="252" name="Text 252"/>
          <p:cNvSpPr txBox="1"/>
          <p:nvPr/>
        </p:nvSpPr>
        <p:spPr>
          <a:xfrm>
            <a:off x="752551" y="5394960"/>
            <a:ext cx="3474720" cy="640080"/>
          </a:xfrm>
          <a:prstGeom prst="rect">
            <a:avLst/>
          </a:prstGeom>
          <a:noFill/>
          <a:ln>
            <a:noFill/>
          </a:ln>
        </p:spPr>
        <p:txBody>
          <a:bodyPr anchorCtr="0" anchor="t" bIns="0" lIns="0" spcFirstLastPara="1" rIns="0" wrap="square" tIns="0">
            <a:noAutofit/>
          </a:bodyPr>
          <a:lstStyle/>
          <a:p>
            <a:pPr marL="0" indent="0" lvl="0" marR="0" rtl="0" algn="l">
              <a:spcBef>
                <a:spcPts val="0"/>
              </a:spcBef>
              <a:spcAft>
                <a:spcPts val="0"/>
              </a:spcAft>
              <a:buNone/>
            </a:pPr>
            <a:r>
              <a:rPr b="0" lang="en-US" sz="1575">
                <a:solidFill>
                  <a:srgbClr val="1A1A1A"/>
                </a:solidFill>
                <a:latin typeface="Calibri"/>
                <a:ea typeface="Calibri"/>
                <a:cs typeface="Calibri"/>
                <a:sym typeface="Calibri"/>
              </a:rPr>
              <a:t>of answers accurate to the page</a:t>
            </a:r>
          </a:p>
        </p:txBody>
      </p:sp>
      <p:sp>
        <p:nvSpPr>
          <p:cNvPr id="253" name="Text 253"/>
          <p:cNvSpPr txBox="1"/>
          <p:nvPr/>
        </p:nvSpPr>
        <p:spPr>
          <a:xfrm>
            <a:off x="4410151" y="4800600"/>
            <a:ext cx="3383280" cy="548640"/>
          </a:xfrm>
          <a:prstGeom prst="rect">
            <a:avLst/>
          </a:prstGeom>
          <a:noFill/>
          <a:ln>
            <a:noFill/>
          </a:ln>
        </p:spPr>
        <p:txBody>
          <a:bodyPr anchorCtr="0" anchor="t" bIns="0" lIns="0" spcFirstLastPara="1" rIns="0" wrap="square" tIns="0">
            <a:noAutofit/>
          </a:bodyPr>
          <a:lstStyle/>
          <a:p>
            <a:pPr marL="0" indent="0" lvl="0" marR="0" rtl="0" algn="l">
              <a:spcBef>
                <a:spcPts val="0"/>
              </a:spcBef>
              <a:spcAft>
                <a:spcPts val="0"/>
              </a:spcAft>
              <a:buNone/>
            </a:pPr>
            <a:r>
              <a:rPr b="1" lang="en-US" sz="3450">
                <a:solidFill>
                  <a:srgbClr val="154734"/>
                </a:solidFill>
                <a:latin typeface="Calibri"/>
                <a:ea typeface="Calibri"/>
                <a:cs typeface="Calibri"/>
                <a:sym typeface="Calibri"/>
              </a:rPr>
              <a:t>50%</a:t>
            </a:r>
          </a:p>
        </p:txBody>
      </p:sp>
      <p:sp>
        <p:nvSpPr>
          <p:cNvPr id="254" name="Text 254"/>
          <p:cNvSpPr txBox="1"/>
          <p:nvPr/>
        </p:nvSpPr>
        <p:spPr>
          <a:xfrm>
            <a:off x="4410151" y="5394960"/>
            <a:ext cx="3474720" cy="640080"/>
          </a:xfrm>
          <a:prstGeom prst="rect">
            <a:avLst/>
          </a:prstGeom>
          <a:noFill/>
          <a:ln>
            <a:noFill/>
          </a:ln>
        </p:spPr>
        <p:txBody>
          <a:bodyPr anchorCtr="0" anchor="t" bIns="0" lIns="0" spcFirstLastPara="1" rIns="0" wrap="square" tIns="0">
            <a:noAutofit/>
          </a:bodyPr>
          <a:lstStyle/>
          <a:p>
            <a:pPr marL="0" indent="0" lvl="0" marR="0" rtl="0" algn="l">
              <a:spcBef>
                <a:spcPts val="0"/>
              </a:spcBef>
              <a:spcAft>
                <a:spcPts val="0"/>
              </a:spcAft>
              <a:buNone/>
            </a:pPr>
            <a:r>
              <a:rPr b="0" lang="en-US" sz="1575">
                <a:solidFill>
                  <a:srgbClr val="1A1A1A"/>
                </a:solidFill>
                <a:latin typeface="Calibri"/>
                <a:ea typeface="Calibri"/>
                <a:cs typeface="Calibri"/>
                <a:sym typeface="Calibri"/>
              </a:rPr>
              <a:t>less time to a useful answer than uploading to a chatbot</a:t>
            </a:r>
          </a:p>
        </p:txBody>
      </p:sp>
      <p:sp>
        <p:nvSpPr>
          <p:cNvPr id="255" name="Text 255"/>
          <p:cNvSpPr txBox="1"/>
          <p:nvPr/>
        </p:nvSpPr>
        <p:spPr>
          <a:xfrm>
            <a:off x="8067751" y="4800600"/>
            <a:ext cx="3383280" cy="548640"/>
          </a:xfrm>
          <a:prstGeom prst="rect">
            <a:avLst/>
          </a:prstGeom>
          <a:noFill/>
          <a:ln>
            <a:noFill/>
          </a:ln>
        </p:spPr>
        <p:txBody>
          <a:bodyPr anchorCtr="0" anchor="t" bIns="0" lIns="0" spcFirstLastPara="1" rIns="0" wrap="square" tIns="0">
            <a:noAutofit/>
          </a:bodyPr>
          <a:lstStyle/>
          <a:p>
            <a:pPr marL="0" indent="0" lvl="0" marR="0" rtl="0" algn="l">
              <a:spcBef>
                <a:spcPts val="0"/>
              </a:spcBef>
              <a:spcAft>
                <a:spcPts val="0"/>
              </a:spcAft>
              <a:buNone/>
            </a:pPr>
            <a:r>
              <a:rPr b="1" lang="en-US" sz="3450">
                <a:solidFill>
                  <a:srgbClr val="154734"/>
                </a:solidFill>
                <a:latin typeface="Calibri"/>
                <a:ea typeface="Calibri"/>
                <a:cs typeface="Calibri"/>
                <a:sym typeface="Calibri"/>
              </a:rPr>
              <a:t>20%</a:t>
            </a:r>
          </a:p>
        </p:txBody>
      </p:sp>
      <p:sp>
        <p:nvSpPr>
          <p:cNvPr id="256" name="Text 256"/>
          <p:cNvSpPr txBox="1"/>
          <p:nvPr/>
        </p:nvSpPr>
        <p:spPr>
          <a:xfrm>
            <a:off x="8067751" y="5394960"/>
            <a:ext cx="3474720" cy="640080"/>
          </a:xfrm>
          <a:prstGeom prst="rect">
            <a:avLst/>
          </a:prstGeom>
          <a:noFill/>
          <a:ln>
            <a:noFill/>
          </a:ln>
        </p:spPr>
        <p:txBody>
          <a:bodyPr anchorCtr="0" anchor="t" bIns="0" lIns="0" spcFirstLastPara="1" rIns="0" wrap="square" tIns="0">
            <a:noAutofit/>
          </a:bodyPr>
          <a:lstStyle/>
          <a:p>
            <a:pPr marL="0" indent="0" lvl="0" marR="0" rtl="0" algn="l">
              <a:spcBef>
                <a:spcPts val="0"/>
              </a:spcBef>
              <a:spcAft>
                <a:spcPts val="0"/>
              </a:spcAft>
              <a:buNone/>
            </a:pPr>
            <a:r>
              <a:rPr b="0" lang="en-US" sz="1575">
                <a:solidFill>
                  <a:srgbClr val="1A1A1A"/>
                </a:solidFill>
                <a:latin typeface="Calibri"/>
                <a:ea typeface="Calibri"/>
                <a:cs typeface="Calibri"/>
                <a:sym typeface="Calibri"/>
              </a:rPr>
              <a:t>of pilot students would pay for Pro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54734"/>
        </a:solidFill>
        <a:effectLst/>
      </p:bgPr>
    </p:bg>
    <p:spTree>
      <p:nvGrpSpPr>
        <p:cNvPr id="1" name=""/>
        <p:cNvGrpSpPr/>
        <p:nvPr/>
      </p:nvGrpSpPr>
      <p:grpSpPr/>
      <p:sp>
        <p:nvSpPr>
          <p:cNvPr id="381" name="Google Shape;381;p18"/>
          <p:cNvSpPr/>
          <p:nvPr/>
        </p:nvSpPr>
        <p:spPr>
          <a:xfrm>
            <a:off x="762000" y="1743075"/>
            <a:ext cx="10382250" cy="971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5925">
                <a:solidFill>
                  <a:srgbClr val="FFB81C"/>
                </a:solidFill>
                <a:latin typeface="Calibri"/>
                <a:ea typeface="Calibri"/>
                <a:cs typeface="Calibri"/>
                <a:sym typeface="Calibri"/>
              </a:rPr>
              <a:t>Any questions?</a:t>
            </a:r>
            <a:endParaRPr/>
          </a:p>
        </p:txBody>
      </p:sp>
      <p:cxnSp>
        <p:nvCxnSpPr>
          <p:cNvPr id="382" name="Google Shape;382;p18"/>
          <p:cNvCxnSpPr/>
          <p:nvPr/>
        </p:nvCxnSpPr>
        <p:spPr>
          <a:xfrm>
            <a:off x="762000" y="3105150"/>
            <a:ext cx="4810125" cy="0"/>
          </a:xfrm>
          <a:prstGeom prst="straightConnector1">
            <a:avLst/>
          </a:prstGeom>
          <a:noFill/>
          <a:ln cap="flat" cmpd="sng" w="47625">
            <a:solidFill>
              <a:srgbClr val="FFB81C"/>
            </a:solidFill>
            <a:prstDash val="solid"/>
            <a:round/>
            <a:headEnd len="sm" w="sm" type="none"/>
            <a:tailEnd len="sm" w="sm" type="none"/>
          </a:ln>
        </p:spPr>
      </p:cxnSp>
      <p:sp>
        <p:nvSpPr>
          <p:cNvPr id="383" name="Google Shape;383;p18"/>
          <p:cNvSpPr/>
          <p:nvPr/>
        </p:nvSpPr>
        <p:spPr>
          <a:xfrm>
            <a:off x="762000" y="5343525"/>
            <a:ext cx="10668000" cy="7524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FFFF"/>
                </a:solidFill>
                <a:latin typeface="Calibri"/>
                <a:ea typeface="Calibri"/>
                <a:cs typeface="Calibri"/>
                <a:sym typeface="Calibri"/>
              </a:rPr>
              <a:t>Aubin Chriss Izere  /  200490675</a:t>
            </a:r>
            <a:endParaRPr/>
          </a:p>
          <a:p>
            <a:pPr indent="0" lvl="0" marL="0" marR="0" rtl="0" algn="l">
              <a:spcBef>
                <a:spcPts val="0"/>
              </a:spcBef>
              <a:spcAft>
                <a:spcPts val="0"/>
              </a:spcAft>
              <a:buNone/>
            </a:pPr>
            <a:r>
              <a:rPr b="0" lang="en-US" sz="2025">
                <a:solidFill>
                  <a:srgbClr val="FFFFFF"/>
                </a:solidFill>
                <a:latin typeface="Calibri"/>
                <a:ea typeface="Calibri"/>
                <a:cs typeface="Calibri"/>
                <a:sym typeface="Calibri"/>
              </a:rPr>
              <a:t>Chop Kur  /  200497265</a:t>
            </a:r>
            <a:endParaRPr b="0" sz="2025">
              <a:solidFill>
                <a:srgbClr val="FFFFFF"/>
              </a:solidFill>
              <a:latin typeface="Calibri"/>
              <a:ea typeface="Calibri"/>
              <a:cs typeface="Calibri"/>
              <a:sym typeface="Calibri"/>
            </a:endParaRPr>
          </a:p>
          <a:p>
            <a:pPr indent="0" lvl="0" marL="0" marR="0" rtl="0" algn="l">
              <a:spcBef>
                <a:spcPts val="0"/>
              </a:spcBef>
              <a:spcAft>
                <a:spcPts val="0"/>
              </a:spcAft>
              <a:buNone/>
            </a:pPr>
            <a:r>
              <a:rPr lang="en-US" sz="2025">
                <a:solidFill>
                  <a:srgbClr val="FFFFFF"/>
                </a:solidFill>
                <a:latin typeface="Calibri"/>
                <a:ea typeface="Calibri"/>
                <a:cs typeface="Calibri"/>
                <a:sym typeface="Calibri"/>
              </a:rPr>
              <a:t>https://github.com/Binborg1/Final-2027.git</a:t>
            </a:r>
            <a:endParaRPr sz="2025">
              <a:solidFill>
                <a:srgbClr val="FFFFFF"/>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AI Learning Environment: Final Pitch</dc:title>
  <cp:lastModifiedBy>Aubin Chriss Izere</cp:lastModifiedBy>
  <cp:revision>1</cp:revision>
  <dcterms:modified xsi:type="dcterms:W3CDTF">2026-10-13T17:43:47Z</dcterms:modified>
  <dc:subject>ENSE 400 final pitch at Cultivator HQ, 13 October 2026</dc:subject>
  <dc:creator>Aubin Chriss Izere and Chop Kur</dc:creator>
  <cp:keywords/>
  <dc:description/>
</cp:coreProperties>
</file>