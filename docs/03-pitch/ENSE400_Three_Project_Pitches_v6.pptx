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ibswSYcegftYYYLNWFXfeITMid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788B9B1-F278-4A7A-A6D5-9AABFE0BA978}">
  <a:tblStyle styleId="{7788B9B1-F278-4A7A-A6D5-9AABFE0BA97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Aubin. Target 25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We are Aubin Chriss Izere and Chop Kur. These are our three capstone alternatives: campus food ordering, a student-designed AI learning environment, and AI-assisted drones for crop scouting and fire detection. We are in the research phase. For each idea we will explain the problem, the people, the proposed experience and what we need to test.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and photo credits:</a:t>
            </a:r>
            <a:endParaRPr/>
          </a:p>
          <a:p>
            <a:pPr indent="0" lvl="0" marL="0" rtl="0" algn="l">
              <a:spcBef>
                <a:spcPts val="0"/>
              </a:spcBef>
              <a:spcAft>
                <a:spcPts val="0"/>
              </a:spcAft>
              <a:buNone/>
            </a:pPr>
            <a:r>
              <a:rPr lang="en-US" sz="1200"/>
              <a:t>Riddell Commons photo: University Communications &amp; Marketing. https://www.uregina.ca/stories/2025/09/so-many-options-find-your-new-favourite-spot-on-campus.html</a:t>
            </a:r>
            <a:endParaRPr/>
          </a:p>
          <a:p>
            <a:pPr indent="0" lvl="0" marL="0" rtl="0" algn="l">
              <a:spcBef>
                <a:spcPts val="0"/>
              </a:spcBef>
              <a:spcAft>
                <a:spcPts val="0"/>
              </a:spcAft>
              <a:buNone/>
            </a:pPr>
            <a:r>
              <a:rPr lang="en-US" sz="1200"/>
              <a:t>Student photo: Charlotte May / Pexels. https://www.pexels.com/photo/multiracial-students-with-tablet-and-laptop-5965678/</a:t>
            </a:r>
            <a:endParaRPr/>
          </a:p>
          <a:p>
            <a:pPr indent="0" lvl="0" marL="0" rtl="0" algn="l">
              <a:spcBef>
                <a:spcPts val="0"/>
              </a:spcBef>
              <a:spcAft>
                <a:spcPts val="0"/>
              </a:spcAft>
              <a:buNone/>
            </a:pPr>
            <a:r>
              <a:rPr lang="en-US" sz="1200"/>
              <a:t>Drone photo: Will S. / Pexels. https://www.pexels.com/photo/close-up-shot-of-a-flying-drone-8170183/</a:t>
            </a:r>
            <a:endParaRPr/>
          </a:p>
        </p:txBody>
      </p:sp>
      <p:sp>
        <p:nvSpPr>
          <p:cNvPr id="14" name="Google Shape;1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 name="Google Shape;32;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Aubin. Target 40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uofrEats is a proposed campus food-ordering platform for the University of Regina. Students would scan a campus QR code, choose a vendor, pay for an order and select an available pickup time. Limited breaks and uncertain queues can make students walk away, costing the restaurant a purchase. We want a pickup experience for students who commute and pay as they go, as well as residents. A meal plan would not be required.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and photo credits:</a:t>
            </a:r>
            <a:endParaRPr/>
          </a:p>
          <a:p>
            <a:pPr indent="0" lvl="0" marL="0" rtl="0" algn="l">
              <a:spcBef>
                <a:spcPts val="0"/>
              </a:spcBef>
              <a:spcAft>
                <a:spcPts val="0"/>
              </a:spcAft>
              <a:buNone/>
            </a:pPr>
            <a:r>
              <a:rPr lang="en-US" sz="1200"/>
              <a:t>Project definition and problem from team discussions and Manmeet interview.</a:t>
            </a:r>
            <a:endParaRPr/>
          </a:p>
          <a:p>
            <a:pPr indent="0" lvl="0" marL="0" rtl="0" algn="l">
              <a:spcBef>
                <a:spcPts val="0"/>
              </a:spcBef>
              <a:spcAft>
                <a:spcPts val="0"/>
              </a:spcAft>
              <a:buNone/>
            </a:pPr>
            <a:r>
              <a:rPr lang="en-US" sz="1200"/>
              <a:t>Illustrative takeaway food: dhiraj jain / Pexels. https://www.pexels.com/photo/ready-made-indian-meals-12737920/</a:t>
            </a:r>
            <a:endParaRPr/>
          </a:p>
        </p:txBody>
      </p:sp>
      <p:sp>
        <p:nvSpPr>
          <p:cNvPr id="33" name="Google Shape;33;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 name="Google Shape;50;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Aubin. Target 45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Our first conversations focused on restaurant management and students, the two sides of this service. Manmeet, associated with Da India Curry House Xpress, described students leaving because of the queue during peak hours. His quote here is a paraphrase of our interview notes. Students need predictability during a short break, while staff need an order flow they can manage without becoming overloaded. The earlier shared notes record willingness to try a pilot, with operating details still to be agreed. We will involve campus Food Services as we investigate a pilot. Contact from the team: uofr@dishsk.ca.</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and photo credits:</a:t>
            </a:r>
            <a:endParaRPr/>
          </a:p>
          <a:p>
            <a:pPr indent="0" lvl="0" marL="0" rtl="0" algn="l">
              <a:spcBef>
                <a:spcPts val="0"/>
              </a:spcBef>
              <a:spcAft>
                <a:spcPts val="0"/>
              </a:spcAft>
              <a:buNone/>
            </a:pPr>
            <a:r>
              <a:rPr lang="en-US" sz="1200"/>
              <a:t>First-interview groups supplied in the latest user request. Named quote is from Manmeet, a manager. No additional student food-ordering quote was supplied.</a:t>
            </a:r>
            <a:endParaRPr/>
          </a:p>
          <a:p>
            <a:pPr indent="0" lvl="0" marL="0" rtl="0" algn="l">
              <a:spcBef>
                <a:spcPts val="0"/>
              </a:spcBef>
              <a:spcAft>
                <a:spcPts val="0"/>
              </a:spcAft>
              <a:buNone/>
            </a:pPr>
            <a:r>
              <a:rPr lang="en-US" sz="1200"/>
              <a:t>Earlier pilot willingness recorded on pages 22-23 of the team-supplied Defence Drone Pitch Structure.pdf.</a:t>
            </a:r>
            <a:endParaRPr/>
          </a:p>
          <a:p>
            <a:pPr indent="0" lvl="0" marL="0" rtl="0" algn="l">
              <a:spcBef>
                <a:spcPts val="0"/>
              </a:spcBef>
              <a:spcAft>
                <a:spcPts val="0"/>
              </a:spcAft>
              <a:buNone/>
            </a:pPr>
            <a:r>
              <a:rPr lang="en-US" sz="1200"/>
              <a:t>Illustrative photo, not the interviewed restaurant: Vitaly Gariev / Pexels. https://www.pexels.com/photo/queue-of-diverse-customers-waiting-in-modern-cafe-36729753/</a:t>
            </a:r>
            <a:endParaRPr/>
          </a:p>
        </p:txBody>
      </p:sp>
      <p:sp>
        <p:nvSpPr>
          <p:cNvPr id="51" name="Google Shape;51;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 name="Google Shape;7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Aubin. Target 50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proposal has two interfaces and two experiences. The student interface handles browsing, ordering, pickup-time selection, payment and status tracking. The vendor interface handles incoming orders and preparation. Staff can accept an order, mark it preparing, and mark it ready. Pickup slots need to match the kitchen capacity. Vendors would connect a Stripe account so card payments route through their connected account. We must design payment confirmation, acceptance and refunds together. The first demonstration can use one vendor and test payments before any live transactions.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and photo credits:</a:t>
            </a:r>
            <a:endParaRPr/>
          </a:p>
          <a:p>
            <a:pPr indent="0" lvl="0" marL="0" rtl="0" algn="l">
              <a:spcBef>
                <a:spcPts val="0"/>
              </a:spcBef>
              <a:spcAft>
                <a:spcPts val="0"/>
              </a:spcAft>
              <a:buNone/>
            </a:pPr>
            <a:r>
              <a:rPr lang="en-US" sz="1200"/>
              <a:t>Proposed architecture and workflow, not an existing implementation.</a:t>
            </a:r>
            <a:endParaRPr/>
          </a:p>
          <a:p>
            <a:pPr indent="0" lvl="0" marL="0" rtl="0" algn="l">
              <a:spcBef>
                <a:spcPts val="0"/>
              </a:spcBef>
              <a:spcAft>
                <a:spcPts val="0"/>
              </a:spcAft>
              <a:buNone/>
            </a:pPr>
            <a:r>
              <a:rPr lang="en-US" sz="1200"/>
              <a:t>Stripe Connect account onboarding and payment routing: https://docs.stripe.com/connect/how-connect-works</a:t>
            </a:r>
            <a:endParaRPr/>
          </a:p>
        </p:txBody>
      </p:sp>
      <p:sp>
        <p:nvSpPr>
          <p:cNvPr id="72" name="Google Shape;72;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 name="Google Shape;103;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Aubin. Target 45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Our selected comparisons are UofR Dining and UR OneCard, and Uber Eats. OneCard is a prepaid meal-plan account and is mandatory for certain dorm residents. We have not verified that commuters are excluded, so our point is that uofrEats would let students order without buying a meal plan. Campus vendors already accept regular card or cash payments. Uber Eats serves a broader restaurant market and already supports scheduled pickup. The campus Da India Curry outlet is listed there. Our research will test whether a campus-only view, vendor-controlled pickup capacity and close local collaboration improve the experience. We still need to map coverage vendor by vendor.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and photo credits:</a:t>
            </a:r>
            <a:endParaRPr/>
          </a:p>
          <a:p>
            <a:pPr indent="0" lvl="0" marL="0" rtl="0" algn="l">
              <a:spcBef>
                <a:spcPts val="0"/>
              </a:spcBef>
              <a:spcAft>
                <a:spcPts val="0"/>
              </a:spcAft>
              <a:buNone/>
            </a:pPr>
            <a:r>
              <a:rPr lang="en-US" sz="1200"/>
              <a:t>https://www.uregina.ca/foodservices/residence-meal-plans.html</a:t>
            </a:r>
            <a:endParaRPr/>
          </a:p>
          <a:p>
            <a:pPr indent="0" lvl="0" marL="0" rtl="0" algn="l">
              <a:spcBef>
                <a:spcPts val="0"/>
              </a:spcBef>
              <a:spcAft>
                <a:spcPts val="0"/>
              </a:spcAft>
              <a:buNone/>
            </a:pPr>
            <a:r>
              <a:rPr lang="en-US" sz="1200"/>
              <a:t>https://www.uregina.ca/foodservices/where-to-eat.html</a:t>
            </a:r>
            <a:endParaRPr/>
          </a:p>
          <a:p>
            <a:pPr indent="0" lvl="0" marL="0" rtl="0" algn="l">
              <a:spcBef>
                <a:spcPts val="0"/>
              </a:spcBef>
              <a:spcAft>
                <a:spcPts val="0"/>
              </a:spcAft>
              <a:buNone/>
            </a:pPr>
            <a:r>
              <a:rPr lang="en-US" sz="1200"/>
              <a:t>https://help.uber.com/en-AU/merchants-and-restaurants/article/preguntas-frecuentes-de-los-restaurantes-sobre-los-pedidos-%E2%80%9Cpara-llevar?nodeId=e19f6abb-20c7-4768-99a0-69c27efd00cb</a:t>
            </a:r>
            <a:endParaRPr/>
          </a:p>
          <a:p>
            <a:pPr indent="0" lvl="0" marL="0" rtl="0" algn="l">
              <a:spcBef>
                <a:spcPts val="0"/>
              </a:spcBef>
              <a:spcAft>
                <a:spcPts val="0"/>
              </a:spcAft>
              <a:buNone/>
            </a:pPr>
            <a:r>
              <a:rPr lang="en-US" sz="1200"/>
              <a:t>https://www.ubereats.com/ca/store/da-india-curry-xpress-university-of-regina/g7os2NJKVTip6tjqQl9CeQ</a:t>
            </a:r>
            <a:endParaRPr/>
          </a:p>
        </p:txBody>
      </p:sp>
      <p:sp>
        <p:nvSpPr>
          <p:cNvPr id="104" name="Google Shape;104;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 name="Google Shape;118;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Aubin. Target 45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Our first phase is to observe how orders move through the restaurant and interview students about their time between classes. Then we will test a clickable workflow with Manmeet and a small set of students. We will study where people get stuck before building the full system. If we later run a pilot, we will compare pickup waiting time, on-time readiness and staff handling time against a baseline. We would also observe purchase walkaways where practical. Those are proposed measures, not results. The first prototype is deliberately limited to one vendor, a short menu and test payments.</a:t>
            </a:r>
            <a:endParaRPr/>
          </a:p>
        </p:txBody>
      </p:sp>
      <p:sp>
        <p:nvSpPr>
          <p:cNvPr id="119" name="Google Shape;119;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Chop. Target 40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Our second alternative is a student-designed learning workspace for desktop and iPad. Students keep their course files in local folders and use a learning environment that understands the material they choose to open. The goal is to connect explanation, conversation, practice and review. We want to reduce the effort of uploading context and switching tools while a student is trying to learn. Existing applications already have AI PDF features, so our research must demonstrate a better study experience and useful learning support, not just another chat panel.</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and photo credits:</a:t>
            </a:r>
            <a:endParaRPr/>
          </a:p>
          <a:p>
            <a:pPr indent="0" lvl="0" marL="0" rtl="0" algn="l">
              <a:spcBef>
                <a:spcPts val="0"/>
              </a:spcBef>
              <a:spcAft>
                <a:spcPts val="0"/>
              </a:spcAft>
              <a:buNone/>
            </a:pPr>
            <a:r>
              <a:rPr lang="en-US" sz="1200"/>
              <a:t>Problem and proposed definition from team discussions and the Linda interview.</a:t>
            </a:r>
            <a:endParaRPr/>
          </a:p>
          <a:p>
            <a:pPr indent="0" lvl="0" marL="0" rtl="0" algn="l">
              <a:spcBef>
                <a:spcPts val="0"/>
              </a:spcBef>
              <a:spcAft>
                <a:spcPts val="0"/>
              </a:spcAft>
              <a:buNone/>
            </a:pPr>
            <a:r>
              <a:rPr lang="en-US" sz="1200"/>
              <a:t>Illustrative photo: Yan Krukau / Pexels. https://www.pexels.com/photo/students-in-a-library-looking-at-a-tablet-screen-8199599/</a:t>
            </a:r>
            <a:endParaRPr/>
          </a:p>
        </p:txBody>
      </p:sp>
      <p:sp>
        <p:nvSpPr>
          <p:cNvPr id="150" name="Google Shape;150;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Chop. Target 40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Linda described a study experience that feels interrupted when asking ChatGPT questions. Before she can get help, she has to establish the file context and explain what she is looking at. We summarized her interview here, so the wording is a paraphrase rather than a transcript. Our primary users are students who learn from PDFs on desktop and iPad. Students will also be our design partners. We will watch real study sessions and ask them to test whether page-aware explanations and follow-up practice make the experience easier and help them understand the material.</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and photo credits:</a:t>
            </a:r>
            <a:endParaRPr/>
          </a:p>
          <a:p>
            <a:pPr indent="0" lvl="0" marL="0" rtl="0" algn="l">
              <a:spcBef>
                <a:spcPts val="0"/>
              </a:spcBef>
              <a:spcAft>
                <a:spcPts val="0"/>
              </a:spcAft>
              <a:buNone/>
            </a:pPr>
            <a:r>
              <a:rPr lang="en-US" sz="1200"/>
              <a:t>Linda interview summary supplied by the team. Quotation is a paraphrase, not a verbatim transcript.</a:t>
            </a:r>
            <a:endParaRPr/>
          </a:p>
          <a:p>
            <a:pPr indent="0" lvl="0" marL="0" rtl="0" algn="l">
              <a:spcBef>
                <a:spcPts val="0"/>
              </a:spcBef>
              <a:spcAft>
                <a:spcPts val="0"/>
              </a:spcAft>
              <a:buNone/>
            </a:pPr>
            <a:r>
              <a:rPr lang="en-US" sz="1200"/>
              <a:t>Illustrative study photo, not Linda: Charlotte May / Pexels. https://www.pexels.com/photo/faceless-woman-using-tablet-in-campus-5965545/</a:t>
            </a:r>
            <a:endParaRPr/>
          </a:p>
        </p:txBody>
      </p:sp>
      <p:sp>
        <p:nvSpPr>
          <p:cNvPr id="168" name="Google Shape;168;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 name="Google Shape;188;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Chop. Target 50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Students grant access to a local course folder, open a PDF and select a page or passage. The AI explains the material and points back to the source. Text and voice questions are part of the vision, followed by flashcards, quizzes and review reminders alongside exam dates. Original files remain on the device. We must still test which AI models can run locally, especially on iPad. Local storage alone does not guarantee offline inference. On-device processing is our first research option. Any alternative that transmits course content would require a separate, explicit design decision with users.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and photo credits:</a:t>
            </a:r>
            <a:endParaRPr/>
          </a:p>
          <a:p>
            <a:pPr indent="0" lvl="0" marL="0" rtl="0" algn="l">
              <a:spcBef>
                <a:spcPts val="0"/>
              </a:spcBef>
              <a:spcAft>
                <a:spcPts val="0"/>
              </a:spcAft>
              <a:buNone/>
            </a:pPr>
            <a:r>
              <a:rPr lang="en-US" sz="1200"/>
              <a:t>Proposed workflow and local-storage requirement from the team. Model architecture and device performance remain research questions.</a:t>
            </a:r>
            <a:endParaRPr/>
          </a:p>
        </p:txBody>
      </p:sp>
      <p:sp>
        <p:nvSpPr>
          <p:cNvPr id="189" name="Google Shape;189;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1" name="Google Shape;21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Chop. Target 40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main features already exist in different forms. NotebookLM offers source-based learning tools including quizzes and flashcards. Goodnotes adds AI to notes and PDFs, while Acrobat supports PDF questions, citations and voice interactions on mobile. We would compare against these tools rather than claiming to invent AI tutoring. Our proposed value is the whole study session: local folders, the page already open, an explanation, practice and a reminder. The business pain is a crowded market where a feature list alone does not justify another subscription. We need evidence of a smoother workflow, useful learning support and willingness to use or pay for it.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and photo credits:</a:t>
            </a:r>
            <a:endParaRPr/>
          </a:p>
          <a:p>
            <a:pPr indent="0" lvl="0" marL="0" rtl="0" algn="l">
              <a:spcBef>
                <a:spcPts val="0"/>
              </a:spcBef>
              <a:spcAft>
                <a:spcPts val="0"/>
              </a:spcAft>
              <a:buNone/>
            </a:pPr>
            <a:r>
              <a:rPr lang="en-US" sz="1200"/>
              <a:t>https://blog.google/innovation-and-ai/models-and-research/google-labs/notebooklm-student-features/</a:t>
            </a:r>
            <a:endParaRPr/>
          </a:p>
          <a:p>
            <a:pPr indent="0" lvl="0" marL="0" rtl="0" algn="l">
              <a:spcBef>
                <a:spcPts val="0"/>
              </a:spcBef>
              <a:spcAft>
                <a:spcPts val="0"/>
              </a:spcAft>
              <a:buNone/>
            </a:pPr>
            <a:r>
              <a:rPr lang="en-US" sz="1200"/>
              <a:t>https://www.goodnotes.com/ai</a:t>
            </a:r>
            <a:endParaRPr/>
          </a:p>
          <a:p>
            <a:pPr indent="0" lvl="0" marL="0" rtl="0" algn="l">
              <a:spcBef>
                <a:spcPts val="0"/>
              </a:spcBef>
              <a:spcAft>
                <a:spcPts val="0"/>
              </a:spcAft>
              <a:buNone/>
            </a:pPr>
            <a:r>
              <a:rPr lang="en-US" sz="1200"/>
              <a:t>https://helpx.adobe.com/acrobat/mobile/acrobat-ai/ask-questions.html</a:t>
            </a:r>
            <a:endParaRPr/>
          </a:p>
          <a:p>
            <a:pPr indent="0" lvl="0" marL="0" rtl="0" algn="l">
              <a:spcBef>
                <a:spcPts val="0"/>
              </a:spcBef>
              <a:spcAft>
                <a:spcPts val="0"/>
              </a:spcAft>
              <a:buNone/>
            </a:pPr>
            <a:r>
              <a:rPr lang="en-US" sz="1200"/>
              <a:t>https://helpx.adobe.com/in/acrobat/mobile/acrobat-ai/voice-commands.html</a:t>
            </a:r>
            <a:endParaRPr/>
          </a:p>
        </p:txBody>
      </p:sp>
      <p:sp>
        <p:nvSpPr>
          <p:cNvPr id="212" name="Google Shape;212;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 name="Google Shape;225;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Chop. Target 45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We will begin with Linda and additional students, watching how they currently study a PDF. We will prototype one lesson workflow and compare it with an existing document-aware study tool. We want to measure how much effort it takes to establish context, whether explanations accurately reference the source, and whether students can explain or recall the concept after a delay. A usability score alone would not prove better learning. For two people, the first implementation should cover one desktop workflow and one course. Voice, calendar support and the broader iPad experience can follow once that core workflow proves useful.</a:t>
            </a:r>
            <a:endParaRPr/>
          </a:p>
        </p:txBody>
      </p:sp>
      <p:sp>
        <p:nvSpPr>
          <p:cNvPr id="226" name="Google Shape;226;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6" name="Google Shape;256;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Aubin. Target 40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Our third alternative is an AI-assisted drone system for Saskatchewan. It would flag suspicious crop areas for closer inspection, with fire or smoke detection as a second application. Large areas take time to inspect, and useful alerts need a location. Saskatchewan Polytechnic is researching drone and hyperspectral approaches to earlier clubroot detection in canola. This supports the regional relevance and highlights the importance of sensor choice. The photo shows existing compact drone hardware as a reference.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and photo credits:</a:t>
            </a:r>
            <a:endParaRPr/>
          </a:p>
          <a:p>
            <a:pPr indent="0" lvl="0" marL="0" rtl="0" algn="l">
              <a:spcBef>
                <a:spcPts val="0"/>
              </a:spcBef>
              <a:spcAft>
                <a:spcPts val="0"/>
              </a:spcAft>
              <a:buNone/>
            </a:pPr>
            <a:r>
              <a:rPr lang="en-US" sz="1200"/>
              <a:t>Saskatchewan crop research context: https://saskpolytech.ca/news/posts/2026/drone-technology-offers-earlier-detection-of-clubroot-in-canola.aspx</a:t>
            </a:r>
            <a:endParaRPr/>
          </a:p>
          <a:p>
            <a:pPr indent="0" lvl="0" marL="0" rtl="0" algn="l">
              <a:spcBef>
                <a:spcPts val="0"/>
              </a:spcBef>
              <a:spcAft>
                <a:spcPts val="0"/>
              </a:spcAft>
              <a:buNone/>
            </a:pPr>
            <a:r>
              <a:rPr lang="en-US" sz="1200"/>
              <a:t>Photo: Altaf Shah / Pexels, compact DJI Air 2S above a field. https://www.pexels.com/photo/gray-drone-flying-on-green-grass-field-9405571/</a:t>
            </a:r>
            <a:endParaRPr/>
          </a:p>
        </p:txBody>
      </p:sp>
      <p:sp>
        <p:nvSpPr>
          <p:cNvPr id="257" name="Google Shape;257;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5" name="Google Shape;275;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Aubin. Target 35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Our proposed users are farmers and agronomists, followed by land or fire-monitoring teams. We have not interviewed these groups yet. We need to learn how they choose areas to inspect, what makes an alert useful and how false alarms affect their work. Crop scouting leads the first research phase. Fire detection remains a separate imagery experiment. These photographs illustrate the use cases and are not verified Saskatchewan locations.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and photo credits:</a:t>
            </a:r>
            <a:endParaRPr/>
          </a:p>
          <a:p>
            <a:pPr indent="0" lvl="0" marL="0" rtl="0" algn="l">
              <a:spcBef>
                <a:spcPts val="0"/>
              </a:spcBef>
              <a:spcAft>
                <a:spcPts val="0"/>
              </a:spcAft>
              <a:buNone/>
            </a:pPr>
            <a:r>
              <a:rPr lang="en-US" sz="1200"/>
              <a:t>Proposed stakeholder needs to validate through interviews.</a:t>
            </a:r>
            <a:endParaRPr/>
          </a:p>
          <a:p>
            <a:pPr indent="0" lvl="0" marL="0" rtl="0" algn="l">
              <a:spcBef>
                <a:spcPts val="0"/>
              </a:spcBef>
              <a:spcAft>
                <a:spcPts val="0"/>
              </a:spcAft>
              <a:buNone/>
            </a:pPr>
            <a:r>
              <a:rPr lang="en-US" sz="1200"/>
              <a:t>Farmer photograph: Gustavo Fring / Pexels. https://www.pexels.com/photo/a-man-standing-with-a-notepad-in-a-field-4975400/</a:t>
            </a:r>
            <a:endParaRPr/>
          </a:p>
          <a:p>
            <a:pPr indent="0" lvl="0" marL="0" rtl="0" algn="l">
              <a:spcBef>
                <a:spcPts val="0"/>
              </a:spcBef>
              <a:spcAft>
                <a:spcPts val="0"/>
              </a:spcAft>
              <a:buNone/>
            </a:pPr>
            <a:r>
              <a:rPr lang="en-US" sz="1200"/>
              <a:t>Fire photograph: Saravanan Narayanan / Pexels. https://www.pexels.com/photo/wildfire-burning-forest-9633007/</a:t>
            </a:r>
            <a:endParaRPr/>
          </a:p>
        </p:txBody>
      </p:sp>
      <p:sp>
        <p:nvSpPr>
          <p:cNvPr id="276" name="Google Shape;276;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5" name="Google Shape;295;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Aubin. Target 45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drone supplies imagery and location. AI screens the images and raises a mapped alert with confidence information for human review. Crop alerts initially mean an area needs inspection, rather than a confirmed diagnosis. Fire alerts could use smoke or thermal cues, depending on the sensor. An ordinary RGB camera cannot measure heat. Manual control remains available, with pilot-assisted flight first and autonomous missions as later scope. This real FPV drone illustrates the form factor. The final hardware remains a research choice.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and photo credits:</a:t>
            </a:r>
            <a:endParaRPr/>
          </a:p>
          <a:p>
            <a:pPr indent="0" lvl="0" marL="0" rtl="0" algn="l">
              <a:spcBef>
                <a:spcPts val="0"/>
              </a:spcBef>
              <a:spcAft>
                <a:spcPts val="0"/>
              </a:spcAft>
              <a:buNone/>
            </a:pPr>
            <a:r>
              <a:rPr lang="en-US" sz="1200"/>
              <a:t>Proposed architecture. Hardware, crop condition and sensing modality are undecided.</a:t>
            </a:r>
            <a:endParaRPr/>
          </a:p>
          <a:p>
            <a:pPr indent="0" lvl="0" marL="0" rtl="0" algn="l">
              <a:spcBef>
                <a:spcPts val="0"/>
              </a:spcBef>
              <a:spcAft>
                <a:spcPts val="0"/>
              </a:spcAft>
              <a:buNone/>
            </a:pPr>
            <a:r>
              <a:rPr lang="en-US" sz="1200"/>
              <a:t>Crop sensing context: https://saskpolytech.ca/news/posts/2026/drone-technology-offers-earlier-detection-of-clubroot-in-canola.aspx</a:t>
            </a:r>
            <a:endParaRPr/>
          </a:p>
          <a:p>
            <a:pPr indent="0" lvl="0" marL="0" rtl="0" algn="l">
              <a:spcBef>
                <a:spcPts val="0"/>
              </a:spcBef>
              <a:spcAft>
                <a:spcPts val="0"/>
              </a:spcAft>
              <a:buNone/>
            </a:pPr>
            <a:r>
              <a:rPr lang="en-US" sz="1200"/>
              <a:t>Thermal platform example: https://enterprise.dji.com/matrice-4-series</a:t>
            </a:r>
            <a:endParaRPr/>
          </a:p>
          <a:p>
            <a:pPr indent="0" lvl="0" marL="0" rtl="0" algn="l">
              <a:spcBef>
                <a:spcPts val="0"/>
              </a:spcBef>
              <a:spcAft>
                <a:spcPts val="0"/>
              </a:spcAft>
              <a:buNone/>
            </a:pPr>
            <a:r>
              <a:rPr lang="en-US" sz="1200"/>
              <a:t>Photo: UMUT RAW / Pexels. Existing DJI Avata FPV hardware. https://www.pexels.com/photo/dji-avata-drone-on-fallen-leaves-19659883/</a:t>
            </a:r>
            <a:endParaRPr/>
          </a:p>
        </p:txBody>
      </p:sp>
      <p:sp>
        <p:nvSpPr>
          <p:cNvPr id="296" name="Google Shape;296;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0" name="Google Shape;320;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Chop. Target 40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Existing tools already map farms and analyse plant-health imagery. PIX4Dfields and DroneDeploy are direct workflow comparators. DJI sells multispectral agricultural drones and thermal inspection platforms. Our capstone would explore a narrow intelligence and review workflow using suitable existing hardware. The differentiation must come from useful, validated alerts for a specific crop condition or fire cue. We should not promise to outperform these platforms or undercut their cost without evidence. For a farmer or service provider, missed observations, false alarms and the cost of equipment and review all affect the value. We need stakeholder interviews before making a commercial claim.</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and photo credits:</a:t>
            </a:r>
            <a:endParaRPr/>
          </a:p>
          <a:p>
            <a:pPr indent="0" lvl="0" marL="0" rtl="0" algn="l">
              <a:spcBef>
                <a:spcPts val="0"/>
              </a:spcBef>
              <a:spcAft>
                <a:spcPts val="0"/>
              </a:spcAft>
              <a:buNone/>
            </a:pPr>
            <a:r>
              <a:rPr lang="en-US" sz="1200"/>
              <a:t>https://www.pix4d.com/product/pix4dfields/</a:t>
            </a:r>
            <a:endParaRPr/>
          </a:p>
          <a:p>
            <a:pPr indent="0" lvl="0" marL="0" rtl="0" algn="l">
              <a:spcBef>
                <a:spcPts val="0"/>
              </a:spcBef>
              <a:spcAft>
                <a:spcPts val="0"/>
              </a:spcAft>
              <a:buNone/>
            </a:pPr>
            <a:r>
              <a:rPr lang="en-US" sz="1200"/>
              <a:t>https://help.dronedeploy.com/hc/en-us/articles/1500004860861-Plant-Health</a:t>
            </a:r>
            <a:endParaRPr/>
          </a:p>
          <a:p>
            <a:pPr indent="0" lvl="0" marL="0" rtl="0" algn="l">
              <a:spcBef>
                <a:spcPts val="0"/>
              </a:spcBef>
              <a:spcAft>
                <a:spcPts val="0"/>
              </a:spcAft>
              <a:buNone/>
            </a:pPr>
            <a:r>
              <a:rPr lang="en-US" sz="1200"/>
              <a:t>https://ag.dji.com/mavic-3-m</a:t>
            </a:r>
            <a:endParaRPr/>
          </a:p>
          <a:p>
            <a:pPr indent="0" lvl="0" marL="0" rtl="0" algn="l">
              <a:spcBef>
                <a:spcPts val="0"/>
              </a:spcBef>
              <a:spcAft>
                <a:spcPts val="0"/>
              </a:spcAft>
              <a:buNone/>
            </a:pPr>
            <a:r>
              <a:rPr lang="en-US" sz="1200"/>
              <a:t>https://enterprise.dji.com/matrice-4-series</a:t>
            </a:r>
            <a:endParaRPr/>
          </a:p>
        </p:txBody>
      </p:sp>
      <p:sp>
        <p:nvSpPr>
          <p:cNvPr id="321" name="Google Shape;321;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4" name="Google Shape;334;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Chop. Target 45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This is the most hardware-dependent option. We would first find a stakeholder, identify one crop and condition, and establish what imagery and labels we can access. The first demonstration can use recorded images with known locations, a detector and a mapped alert. We would test images from different fields or dates separately from training data. Then we would measure false alerts, missed cases, latency and location accuracy. We would also check aircraft access, sensor cost, field permission and applicable operating requirements before planning a supervised flight. Fire detection begins as a separate offline experiment so it does not double the initial field workload. Autumn and winter timing also affects crop data access.</a:t>
            </a:r>
            <a:endParaRPr/>
          </a:p>
        </p:txBody>
      </p:sp>
      <p:sp>
        <p:nvSpPr>
          <p:cNvPr id="335" name="Google Shape;335;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5" name="Google Shape;365;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Chop. Target 50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three projects are at different stages of evidence. uofrEats has a manager interview and a possible local pilot workflow. The learning environment has Linda's interview and access to students for testing. The drone project has relevant regional research, but we still need our own stakeholder and a realistic route to imagery, hardware and field access. Each option has a manageable first demonstration, but a different main uncertainty. We are seeking feedback on which problem is worth pursuing and what proof we should gather next. We will use validated need, user access and a scope that two people can deliver to choose one capstone. The table reflects our present assessment, not quantitative rankings.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and photo credits:</a:t>
            </a:r>
            <a:endParaRPr/>
          </a:p>
          <a:p>
            <a:pPr indent="0" lvl="0" marL="0" rtl="0" algn="l">
              <a:spcBef>
                <a:spcPts val="0"/>
              </a:spcBef>
              <a:spcAft>
                <a:spcPts val="0"/>
              </a:spcAft>
              <a:buNone/>
            </a:pPr>
            <a:r>
              <a:rPr lang="en-US" sz="1200"/>
              <a:t>Team interviews and proposed research plans. No comparative performance has been measured.</a:t>
            </a:r>
            <a:endParaRPr/>
          </a:p>
        </p:txBody>
      </p:sp>
      <p:sp>
        <p:nvSpPr>
          <p:cNvPr id="366" name="Google Shape;366;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8" name="Google Shape;378;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Both. Target 180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Invite classmates and the instructor to challenge the problem, the proposed value and the first prototype.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Likely questions:</a:t>
            </a:r>
            <a:endParaRPr/>
          </a:p>
          <a:p>
            <a:pPr indent="0" lvl="0" marL="0" rtl="0" algn="l">
              <a:spcBef>
                <a:spcPts val="0"/>
              </a:spcBef>
              <a:spcAft>
                <a:spcPts val="0"/>
              </a:spcAft>
              <a:buNone/>
            </a:pPr>
            <a:r>
              <a:rPr lang="en-US" sz="1200"/>
              <a:t>Why not existing campus apps? Campus ordering is established. We need to prove a UofR vendor workflow improves pickup reliability and staff workload.</a:t>
            </a:r>
            <a:endParaRPr/>
          </a:p>
          <a:p>
            <a:pPr indent="0" lvl="0" marL="0" rtl="0" algn="l">
              <a:spcBef>
                <a:spcPts val="0"/>
              </a:spcBef>
              <a:spcAft>
                <a:spcPts val="0"/>
              </a:spcAft>
              <a:buNone/>
            </a:pPr>
            <a:r>
              <a:rPr lang="en-US" sz="1200"/>
              <a:t>Will preordering remove all queues? No. Kitchen capacity and pickup handling remain constraints.</a:t>
            </a:r>
            <a:endParaRPr/>
          </a:p>
          <a:p>
            <a:pPr indent="0" lvl="0" marL="0" rtl="0" algn="l">
              <a:spcBef>
                <a:spcPts val="0"/>
              </a:spcBef>
              <a:spcAft>
                <a:spcPts val="0"/>
              </a:spcAft>
              <a:buNone/>
            </a:pPr>
            <a:r>
              <a:rPr lang="en-US" sz="1200"/>
              <a:t>Is the learning AI completely offline? Local file storage is required. We must test local model quality and device limits before making a fully offline promise.</a:t>
            </a:r>
            <a:endParaRPr/>
          </a:p>
          <a:p>
            <a:pPr indent="0" lvl="0" marL="0" rtl="0" algn="l">
              <a:spcBef>
                <a:spcPts val="0"/>
              </a:spcBef>
              <a:spcAft>
                <a:spcPts val="0"/>
              </a:spcAft>
              <a:buNone/>
            </a:pPr>
            <a:r>
              <a:rPr lang="en-US" sz="1200"/>
              <a:t>Are AI PDF features new? No. We are evaluating a smoother student workflow and learning outcomes.</a:t>
            </a:r>
            <a:endParaRPr/>
          </a:p>
          <a:p>
            <a:pPr indent="0" lvl="0" marL="0" rtl="0" algn="l">
              <a:spcBef>
                <a:spcPts val="0"/>
              </a:spcBef>
              <a:spcAft>
                <a:spcPts val="0"/>
              </a:spcAft>
              <a:buNone/>
            </a:pPr>
            <a:r>
              <a:rPr lang="en-US" sz="1200"/>
              <a:t>Which drone or crop disease? Those are research decisions. Start with one crop condition and suitable imagery.</a:t>
            </a:r>
            <a:endParaRPr/>
          </a:p>
          <a:p>
            <a:pPr indent="0" lvl="0" marL="0" rtl="0" algn="l">
              <a:spcBef>
                <a:spcPts val="0"/>
              </a:spcBef>
              <a:spcAft>
                <a:spcPts val="0"/>
              </a:spcAft>
              <a:buNone/>
            </a:pPr>
            <a:r>
              <a:rPr lang="en-US" sz="1200"/>
              <a:t>Are the interview quotes exact? They summarize team interview notes and are labeled as paraphrases.</a:t>
            </a:r>
            <a:endParaRPr/>
          </a:p>
          <a:p>
            <a:pPr indent="0" lvl="0" marL="0" rtl="0" algn="l">
              <a:spcBef>
                <a:spcPts val="0"/>
              </a:spcBef>
              <a:spcAft>
                <a:spcPts val="0"/>
              </a:spcAft>
              <a:buNone/>
            </a:pPr>
            <a:r>
              <a:rPr lang="en-US" sz="1200"/>
              <a:t>Why three alternatives? We will select one based on validated need, access and feasible scope.</a:t>
            </a:r>
            <a:endParaRPr/>
          </a:p>
        </p:txBody>
      </p:sp>
      <p:sp>
        <p:nvSpPr>
          <p:cNvPr id="379" name="Google Shape;379;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jpg"/><Relationship Id="rId5"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jpg"/><Relationship Id="rId4" Type="http://schemas.openxmlformats.org/officeDocument/2006/relationships/hyperlink" Target="https://www.pexels.com/photo/ready-made-indian-meals-12737920/"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jpg"/><Relationship Id="rId4" Type="http://schemas.openxmlformats.org/officeDocument/2006/relationships/hyperlink" Target="https://www.pexels.com/photo/queue-of-diverse-customers-waiting-in-modern-cafe-36729753/"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jpg"/><Relationship Id="rId4" Type="http://schemas.openxmlformats.org/officeDocument/2006/relationships/hyperlink" Target="https://www.pexels.com/photo/students-in-a-library-looking-at-a-tablet-screen-8199599/"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hyperlink" Target="https://www.pexels.com/photo/faceless-woman-using-tablet-in-campus-5965545/"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jpg"/><Relationship Id="rId4" Type="http://schemas.openxmlformats.org/officeDocument/2006/relationships/hyperlink" Target="https://www.pexels.com/photo/gray-drone-flying-on-green-grass-field-9405571/"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jpg"/><Relationship Id="rId4" Type="http://schemas.openxmlformats.org/officeDocument/2006/relationships/image" Target="../media/image6.jpg"/><Relationship Id="rId5" Type="http://schemas.openxmlformats.org/officeDocument/2006/relationships/hyperlink" Target="https://www.pexels.com/photo/a-man-standing-with-a-notepad-in-a-field-4975400/" TargetMode="External"/><Relationship Id="rId6" Type="http://schemas.openxmlformats.org/officeDocument/2006/relationships/hyperlink" Target="https://www.pexels.com/photo/wildfire-burning-forest-9633007/"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4734"/>
        </a:solidFill>
      </p:bgPr>
    </p:bg>
    <p:spTree>
      <p:nvGrpSpPr>
        <p:cNvPr id="15" name="Shape 15"/>
        <p:cNvGrpSpPr/>
        <p:nvPr/>
      </p:nvGrpSpPr>
      <p:grpSpPr>
        <a:xfrm>
          <a:off x="0" y="0"/>
          <a:ext cx="0" cy="0"/>
          <a:chOff x="0" y="0"/>
          <a:chExt cx="0" cy="0"/>
        </a:xfrm>
      </p:grpSpPr>
      <p:sp>
        <p:nvSpPr>
          <p:cNvPr id="16" name="Google Shape;16;p1"/>
          <p:cNvSpPr/>
          <p:nvPr/>
        </p:nvSpPr>
        <p:spPr>
          <a:xfrm>
            <a:off x="523875" y="361950"/>
            <a:ext cx="10477500" cy="2952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725">
                <a:solidFill>
                  <a:srgbClr val="FFFFFF"/>
                </a:solidFill>
                <a:latin typeface="Calibri"/>
                <a:ea typeface="Calibri"/>
                <a:cs typeface="Calibri"/>
                <a:sym typeface="Calibri"/>
              </a:rPr>
              <a:t>ENSE 400  /  PROJECT PITCHES</a:t>
            </a:r>
            <a:endParaRPr/>
          </a:p>
        </p:txBody>
      </p:sp>
      <p:sp>
        <p:nvSpPr>
          <p:cNvPr id="17" name="Google Shape;17;p1"/>
          <p:cNvSpPr/>
          <p:nvPr/>
        </p:nvSpPr>
        <p:spPr>
          <a:xfrm>
            <a:off x="523875" y="866775"/>
            <a:ext cx="111442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4650">
                <a:solidFill>
                  <a:srgbClr val="FFB81C"/>
                </a:solidFill>
                <a:latin typeface="Calibri"/>
                <a:ea typeface="Calibri"/>
                <a:cs typeface="Calibri"/>
                <a:sym typeface="Calibri"/>
              </a:rPr>
              <a:t>Three ideas. One capstone.</a:t>
            </a:r>
            <a:endParaRPr/>
          </a:p>
        </p:txBody>
      </p:sp>
      <p:pic>
        <p:nvPicPr>
          <p:cNvPr id="18" name="Google Shape;18;p1"/>
          <p:cNvPicPr preferRelativeResize="0"/>
          <p:nvPr/>
        </p:nvPicPr>
        <p:blipFill rotWithShape="1">
          <a:blip r:embed="rId3">
            <a:alphaModFix/>
          </a:blip>
          <a:srcRect b="2151" l="0" r="0" t="2151"/>
          <a:stretch/>
        </p:blipFill>
        <p:spPr>
          <a:xfrm>
            <a:off x="523875" y="1952625"/>
            <a:ext cx="3543300" cy="2543175"/>
          </a:xfrm>
          <a:prstGeom prst="rect">
            <a:avLst/>
          </a:prstGeom>
          <a:noFill/>
          <a:ln>
            <a:noFill/>
          </a:ln>
        </p:spPr>
      </p:pic>
      <p:sp>
        <p:nvSpPr>
          <p:cNvPr id="19" name="Google Shape;19;p1"/>
          <p:cNvSpPr/>
          <p:nvPr/>
        </p:nvSpPr>
        <p:spPr>
          <a:xfrm>
            <a:off x="523875" y="4676775"/>
            <a:ext cx="3571875" cy="4095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250">
                <a:solidFill>
                  <a:srgbClr val="FFB81C"/>
                </a:solidFill>
                <a:latin typeface="Calibri"/>
                <a:ea typeface="Calibri"/>
                <a:cs typeface="Calibri"/>
                <a:sym typeface="Calibri"/>
              </a:rPr>
              <a:t>uofrEats</a:t>
            </a:r>
            <a:endParaRPr/>
          </a:p>
        </p:txBody>
      </p:sp>
      <p:sp>
        <p:nvSpPr>
          <p:cNvPr id="20" name="Google Shape;20;p1"/>
          <p:cNvSpPr/>
          <p:nvPr/>
        </p:nvSpPr>
        <p:spPr>
          <a:xfrm>
            <a:off x="523875" y="5114925"/>
            <a:ext cx="3571875" cy="333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FFFFFF"/>
                </a:solidFill>
                <a:latin typeface="Calibri"/>
                <a:ea typeface="Calibri"/>
                <a:cs typeface="Calibri"/>
                <a:sym typeface="Calibri"/>
              </a:rPr>
              <a:t>Campus ordering and pickup</a:t>
            </a:r>
            <a:endParaRPr/>
          </a:p>
        </p:txBody>
      </p:sp>
      <p:pic>
        <p:nvPicPr>
          <p:cNvPr id="21" name="Google Shape;21;p1"/>
          <p:cNvPicPr preferRelativeResize="0"/>
          <p:nvPr/>
        </p:nvPicPr>
        <p:blipFill rotWithShape="1">
          <a:blip r:embed="rId4">
            <a:alphaModFix/>
          </a:blip>
          <a:srcRect b="26075" l="0" r="0" t="26075"/>
          <a:stretch/>
        </p:blipFill>
        <p:spPr>
          <a:xfrm>
            <a:off x="4324350" y="1952625"/>
            <a:ext cx="3543300" cy="2543175"/>
          </a:xfrm>
          <a:prstGeom prst="rect">
            <a:avLst/>
          </a:prstGeom>
          <a:noFill/>
          <a:ln>
            <a:noFill/>
          </a:ln>
        </p:spPr>
      </p:pic>
      <p:sp>
        <p:nvSpPr>
          <p:cNvPr id="22" name="Google Shape;22;p1"/>
          <p:cNvSpPr/>
          <p:nvPr/>
        </p:nvSpPr>
        <p:spPr>
          <a:xfrm>
            <a:off x="4324350" y="4676775"/>
            <a:ext cx="3571875" cy="4095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250">
                <a:solidFill>
                  <a:srgbClr val="FFB81C"/>
                </a:solidFill>
                <a:latin typeface="Calibri"/>
                <a:ea typeface="Calibri"/>
                <a:cs typeface="Calibri"/>
                <a:sym typeface="Calibri"/>
              </a:rPr>
              <a:t>AI Learning Environment</a:t>
            </a:r>
            <a:endParaRPr/>
          </a:p>
        </p:txBody>
      </p:sp>
      <p:sp>
        <p:nvSpPr>
          <p:cNvPr id="23" name="Google Shape;23;p1"/>
          <p:cNvSpPr/>
          <p:nvPr/>
        </p:nvSpPr>
        <p:spPr>
          <a:xfrm>
            <a:off x="4324350" y="5114925"/>
            <a:ext cx="3571875" cy="333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FFFFFF"/>
                </a:solidFill>
                <a:latin typeface="Calibri"/>
                <a:ea typeface="Calibri"/>
                <a:cs typeface="Calibri"/>
                <a:sym typeface="Calibri"/>
              </a:rPr>
              <a:t>Learning with your course files</a:t>
            </a:r>
            <a:endParaRPr/>
          </a:p>
        </p:txBody>
      </p:sp>
      <p:pic>
        <p:nvPicPr>
          <p:cNvPr id="24" name="Google Shape;24;p1"/>
          <p:cNvPicPr preferRelativeResize="0"/>
          <p:nvPr/>
        </p:nvPicPr>
        <p:blipFill rotWithShape="1">
          <a:blip r:embed="rId5">
            <a:alphaModFix/>
          </a:blip>
          <a:srcRect b="0" l="3570" r="3570" t="0"/>
          <a:stretch/>
        </p:blipFill>
        <p:spPr>
          <a:xfrm>
            <a:off x="8124825" y="1952625"/>
            <a:ext cx="3543300" cy="2543175"/>
          </a:xfrm>
          <a:prstGeom prst="rect">
            <a:avLst/>
          </a:prstGeom>
          <a:noFill/>
          <a:ln>
            <a:noFill/>
          </a:ln>
        </p:spPr>
      </p:pic>
      <p:sp>
        <p:nvSpPr>
          <p:cNvPr id="25" name="Google Shape;25;p1"/>
          <p:cNvSpPr/>
          <p:nvPr/>
        </p:nvSpPr>
        <p:spPr>
          <a:xfrm>
            <a:off x="8124825" y="4676775"/>
            <a:ext cx="3571875" cy="4095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250">
                <a:solidFill>
                  <a:srgbClr val="FFB81C"/>
                </a:solidFill>
                <a:latin typeface="Calibri"/>
                <a:ea typeface="Calibri"/>
                <a:cs typeface="Calibri"/>
                <a:sym typeface="Calibri"/>
              </a:rPr>
              <a:t>AI-Assisted Drones</a:t>
            </a:r>
            <a:endParaRPr/>
          </a:p>
        </p:txBody>
      </p:sp>
      <p:sp>
        <p:nvSpPr>
          <p:cNvPr id="26" name="Google Shape;26;p1"/>
          <p:cNvSpPr/>
          <p:nvPr/>
        </p:nvSpPr>
        <p:spPr>
          <a:xfrm>
            <a:off x="8124825" y="5114925"/>
            <a:ext cx="3571875" cy="333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FFFFFF"/>
                </a:solidFill>
                <a:latin typeface="Calibri"/>
                <a:ea typeface="Calibri"/>
                <a:cs typeface="Calibri"/>
                <a:sym typeface="Calibri"/>
              </a:rPr>
              <a:t>Crop scouting and fire detection</a:t>
            </a:r>
            <a:endParaRPr/>
          </a:p>
        </p:txBody>
      </p:sp>
      <p:cxnSp>
        <p:nvCxnSpPr>
          <p:cNvPr id="27" name="Google Shape;27;p1"/>
          <p:cNvCxnSpPr/>
          <p:nvPr/>
        </p:nvCxnSpPr>
        <p:spPr>
          <a:xfrm>
            <a:off x="523875" y="5638800"/>
            <a:ext cx="11125200" cy="0"/>
          </a:xfrm>
          <a:prstGeom prst="straightConnector1">
            <a:avLst/>
          </a:prstGeom>
          <a:noFill/>
          <a:ln cap="flat" cmpd="sng" w="19050">
            <a:solidFill>
              <a:srgbClr val="FFB81C"/>
            </a:solidFill>
            <a:prstDash val="solid"/>
            <a:round/>
            <a:headEnd len="sm" w="sm" type="none"/>
            <a:tailEnd len="sm" w="sm" type="none"/>
          </a:ln>
        </p:spPr>
      </p:cxnSp>
      <p:sp>
        <p:nvSpPr>
          <p:cNvPr id="28" name="Google Shape;28;p1"/>
          <p:cNvSpPr/>
          <p:nvPr/>
        </p:nvSpPr>
        <p:spPr>
          <a:xfrm>
            <a:off x="523875" y="5857875"/>
            <a:ext cx="695325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FFFFFF"/>
                </a:solidFill>
                <a:latin typeface="Calibri"/>
                <a:ea typeface="Calibri"/>
                <a:cs typeface="Calibri"/>
                <a:sym typeface="Calibri"/>
              </a:rPr>
              <a:t>Aubin Chriss Izere  /  200490675</a:t>
            </a:r>
            <a:endParaRPr/>
          </a:p>
          <a:p>
            <a:pPr indent="0" lvl="0" marL="0" marR="0" rtl="0" algn="l">
              <a:spcBef>
                <a:spcPts val="0"/>
              </a:spcBef>
              <a:spcAft>
                <a:spcPts val="0"/>
              </a:spcAft>
              <a:buNone/>
            </a:pPr>
            <a:r>
              <a:rPr b="0" lang="en-US" sz="1800">
                <a:solidFill>
                  <a:srgbClr val="FFFFFF"/>
                </a:solidFill>
                <a:latin typeface="Calibri"/>
                <a:ea typeface="Calibri"/>
                <a:cs typeface="Calibri"/>
                <a:sym typeface="Calibri"/>
              </a:rPr>
              <a:t>Chop Kur  /  200497265</a:t>
            </a:r>
            <a:endParaRPr/>
          </a:p>
        </p:txBody>
      </p:sp>
      <p:sp>
        <p:nvSpPr>
          <p:cNvPr id="29" name="Google Shape;29;p1"/>
          <p:cNvSpPr/>
          <p:nvPr/>
        </p:nvSpPr>
        <p:spPr>
          <a:xfrm>
            <a:off x="8439150" y="5915025"/>
            <a:ext cx="3228975" cy="52387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lang="en-US" sz="1650">
                <a:solidFill>
                  <a:srgbClr val="FFFFFF"/>
                </a:solidFill>
                <a:latin typeface="Calibri"/>
                <a:ea typeface="Calibri"/>
                <a:cs typeface="Calibri"/>
                <a:sym typeface="Calibri"/>
              </a:rPr>
              <a:t>September 15, 2026</a:t>
            </a:r>
            <a:endParaRPr/>
          </a:p>
          <a:p>
            <a:pPr indent="0" lvl="0" marL="0" marR="0" rtl="0" algn="r">
              <a:spcBef>
                <a:spcPts val="0"/>
              </a:spcBef>
              <a:spcAft>
                <a:spcPts val="0"/>
              </a:spcAft>
              <a:buNone/>
            </a:pPr>
            <a:r>
              <a:rPr b="0" lang="en-US" sz="1650">
                <a:solidFill>
                  <a:srgbClr val="FFFFFF"/>
                </a:solidFill>
                <a:latin typeface="Calibri"/>
                <a:ea typeface="Calibri"/>
                <a:cs typeface="Calibri"/>
                <a:sym typeface="Calibri"/>
              </a:rPr>
              <a:t>Research phase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 name="Shape 34"/>
        <p:cNvGrpSpPr/>
        <p:nvPr/>
      </p:nvGrpSpPr>
      <p:grpSpPr>
        <a:xfrm>
          <a:off x="0" y="0"/>
          <a:ext cx="0" cy="0"/>
          <a:chOff x="0" y="0"/>
          <a:chExt cx="0" cy="0"/>
        </a:xfrm>
      </p:grpSpPr>
      <p:sp>
        <p:nvSpPr>
          <p:cNvPr id="35" name="Google Shape;35;p2"/>
          <p:cNvSpPr/>
          <p:nvPr/>
        </p:nvSpPr>
        <p:spPr>
          <a:xfrm>
            <a:off x="514350" y="428625"/>
            <a:ext cx="8477250" cy="628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154734"/>
                </a:solidFill>
                <a:latin typeface="Calibri"/>
                <a:ea typeface="Calibri"/>
                <a:cs typeface="Calibri"/>
                <a:sym typeface="Calibri"/>
              </a:rPr>
              <a:t>What is uofrEats?</a:t>
            </a:r>
            <a:endParaRPr/>
          </a:p>
        </p:txBody>
      </p:sp>
      <p:sp>
        <p:nvSpPr>
          <p:cNvPr id="36" name="Google Shape;36;p2"/>
          <p:cNvSpPr/>
          <p:nvPr/>
        </p:nvSpPr>
        <p:spPr>
          <a:xfrm>
            <a:off x="9286875" y="409575"/>
            <a:ext cx="2381250" cy="361950"/>
          </a:xfrm>
          <a:prstGeom prst="roundRect">
            <a:avLst>
              <a:gd fmla="val 39474" name="adj"/>
            </a:avLst>
          </a:prstGeom>
          <a:solidFill>
            <a:srgbClr val="FFB8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9382125" y="485775"/>
            <a:ext cx="2190750" cy="2190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200">
                <a:solidFill>
                  <a:srgbClr val="154734"/>
                </a:solidFill>
                <a:latin typeface="Calibri"/>
                <a:ea typeface="Calibri"/>
                <a:cs typeface="Calibri"/>
                <a:sym typeface="Calibri"/>
              </a:rPr>
              <a:t>DEFINITION + WHY</a:t>
            </a:r>
            <a:endParaRPr/>
          </a:p>
        </p:txBody>
      </p:sp>
      <p:cxnSp>
        <p:nvCxnSpPr>
          <p:cNvPr id="38" name="Google Shape;38;p2"/>
          <p:cNvCxnSpPr/>
          <p:nvPr/>
        </p:nvCxnSpPr>
        <p:spPr>
          <a:xfrm>
            <a:off x="0" y="6819900"/>
            <a:ext cx="12191695" cy="0"/>
          </a:xfrm>
          <a:prstGeom prst="straightConnector1">
            <a:avLst/>
          </a:prstGeom>
          <a:noFill/>
          <a:ln cap="flat" cmpd="sng" w="47625">
            <a:solidFill>
              <a:srgbClr val="FFB81C"/>
            </a:solidFill>
            <a:prstDash val="solid"/>
            <a:round/>
            <a:headEnd len="sm" w="sm" type="none"/>
            <a:tailEnd len="sm" w="sm" type="none"/>
          </a:ln>
        </p:spPr>
      </p:cxnSp>
      <p:sp>
        <p:nvSpPr>
          <p:cNvPr id="39" name="Google Shape;39;p2"/>
          <p:cNvSpPr/>
          <p:nvPr/>
        </p:nvSpPr>
        <p:spPr>
          <a:xfrm>
            <a:off x="11477625" y="6419850"/>
            <a:ext cx="285750" cy="2095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lang="en-US" sz="1050">
                <a:solidFill>
                  <a:srgbClr val="65736B"/>
                </a:solidFill>
                <a:latin typeface="Calibri"/>
                <a:ea typeface="Calibri"/>
                <a:cs typeface="Calibri"/>
                <a:sym typeface="Calibri"/>
              </a:rPr>
              <a:t>2</a:t>
            </a:r>
            <a:endParaRPr/>
          </a:p>
        </p:txBody>
      </p:sp>
      <p:sp>
        <p:nvSpPr>
          <p:cNvPr id="40" name="Google Shape;40;p2"/>
          <p:cNvSpPr/>
          <p:nvPr/>
        </p:nvSpPr>
        <p:spPr>
          <a:xfrm>
            <a:off x="523875" y="1409700"/>
            <a:ext cx="6229350" cy="723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850">
                <a:solidFill>
                  <a:srgbClr val="154734"/>
                </a:solidFill>
                <a:latin typeface="Calibri"/>
                <a:ea typeface="Calibri"/>
                <a:cs typeface="Calibri"/>
                <a:sym typeface="Calibri"/>
              </a:rPr>
              <a:t>A campus food-ordering platform</a:t>
            </a:r>
            <a:endParaRPr/>
          </a:p>
        </p:txBody>
      </p:sp>
      <p:sp>
        <p:nvSpPr>
          <p:cNvPr id="41" name="Google Shape;41;p2"/>
          <p:cNvSpPr/>
          <p:nvPr/>
        </p:nvSpPr>
        <p:spPr>
          <a:xfrm>
            <a:off x="523875" y="2276475"/>
            <a:ext cx="6096000" cy="1095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250">
                <a:solidFill>
                  <a:srgbClr val="1A1A1A"/>
                </a:solidFill>
                <a:latin typeface="Calibri"/>
                <a:ea typeface="Calibri"/>
                <a:cs typeface="Calibri"/>
                <a:sym typeface="Calibri"/>
              </a:rPr>
              <a:t>Students order from campus vendors, pay per order and choose an available pickup time.</a:t>
            </a:r>
            <a:endParaRPr/>
          </a:p>
        </p:txBody>
      </p:sp>
      <p:sp>
        <p:nvSpPr>
          <p:cNvPr id="42" name="Google Shape;42;p2"/>
          <p:cNvSpPr/>
          <p:nvPr/>
        </p:nvSpPr>
        <p:spPr>
          <a:xfrm>
            <a:off x="523875" y="3819525"/>
            <a:ext cx="6076950" cy="2762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575">
                <a:solidFill>
                  <a:srgbClr val="154734"/>
                </a:solidFill>
                <a:latin typeface="Calibri"/>
                <a:ea typeface="Calibri"/>
                <a:cs typeface="Calibri"/>
                <a:sym typeface="Calibri"/>
              </a:rPr>
              <a:t>WHY THIS PROBLEM?</a:t>
            </a:r>
            <a:endParaRPr/>
          </a:p>
        </p:txBody>
      </p:sp>
      <p:sp>
        <p:nvSpPr>
          <p:cNvPr id="43" name="Google Shape;43;p2"/>
          <p:cNvSpPr/>
          <p:nvPr/>
        </p:nvSpPr>
        <p:spPr>
          <a:xfrm>
            <a:off x="523875" y="4267200"/>
            <a:ext cx="6029325" cy="110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75">
                <a:solidFill>
                  <a:srgbClr val="1A1A1A"/>
                </a:solidFill>
                <a:latin typeface="Calibri"/>
                <a:ea typeface="Calibri"/>
                <a:cs typeface="Calibri"/>
                <a:sym typeface="Calibri"/>
              </a:rPr>
              <a:t>Students have short breaks. Long ordering lines can cost them a meal and cost vendors a sale.</a:t>
            </a:r>
            <a:endParaRPr/>
          </a:p>
        </p:txBody>
      </p:sp>
      <p:pic>
        <p:nvPicPr>
          <p:cNvPr id="44" name="Google Shape;44;p2"/>
          <p:cNvPicPr preferRelativeResize="0"/>
          <p:nvPr/>
        </p:nvPicPr>
        <p:blipFill rotWithShape="1">
          <a:blip r:embed="rId3">
            <a:alphaModFix/>
          </a:blip>
          <a:srcRect b="0" l="15040" r="15040" t="0"/>
          <a:stretch/>
        </p:blipFill>
        <p:spPr>
          <a:xfrm>
            <a:off x="7143750" y="1390650"/>
            <a:ext cx="4524375" cy="4314825"/>
          </a:xfrm>
          <a:prstGeom prst="rect">
            <a:avLst/>
          </a:prstGeom>
          <a:noFill/>
          <a:ln>
            <a:noFill/>
          </a:ln>
        </p:spPr>
      </p:pic>
      <p:sp>
        <p:nvSpPr>
          <p:cNvPr id="45" name="Google Shape;45;p2"/>
          <p:cNvSpPr/>
          <p:nvPr/>
        </p:nvSpPr>
        <p:spPr>
          <a:xfrm>
            <a:off x="523875" y="5876925"/>
            <a:ext cx="11144250" cy="476250"/>
          </a:xfrm>
          <a:prstGeom prst="roundRect">
            <a:avLst>
              <a:gd fmla="val 24000" name="adj"/>
            </a:avLst>
          </a:prstGeom>
          <a:solidFill>
            <a:srgbClr val="FFB8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752475" y="6048375"/>
            <a:ext cx="1068705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725">
                <a:solidFill>
                  <a:srgbClr val="154734"/>
                </a:solidFill>
                <a:latin typeface="Calibri"/>
                <a:ea typeface="Calibri"/>
                <a:cs typeface="Calibri"/>
                <a:sym typeface="Calibri"/>
              </a:rPr>
              <a:t>Campus pickup designed around class breaks. No meal plan required.</a:t>
            </a:r>
            <a:endParaRPr/>
          </a:p>
        </p:txBody>
      </p:sp>
      <p:sp>
        <p:nvSpPr>
          <p:cNvPr id="47" name="Google Shape;47;p2"/>
          <p:cNvSpPr/>
          <p:nvPr/>
        </p:nvSpPr>
        <p:spPr>
          <a:xfrm>
            <a:off x="523875" y="6486525"/>
            <a:ext cx="10382250" cy="2190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125" u="sng">
                <a:solidFill>
                  <a:srgbClr val="65736B"/>
                </a:solidFill>
                <a:latin typeface="Calibri"/>
                <a:ea typeface="Calibri"/>
                <a:cs typeface="Calibri"/>
                <a:sym typeface="Calibri"/>
                <a:hlinkClick r:id="rId4">
                  <a:extLst>
                    <a:ext uri="{A12FA001-AC4F-418D-AE19-62706E023703}">
                      <ahyp:hlinkClr val="tx"/>
                    </a:ext>
                  </a:extLst>
                </a:hlinkClick>
              </a:rPr>
              <a:t>Illustrative food photo: dhiraj jain / Pexels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 name="Shape 52"/>
        <p:cNvGrpSpPr/>
        <p:nvPr/>
      </p:nvGrpSpPr>
      <p:grpSpPr>
        <a:xfrm>
          <a:off x="0" y="0"/>
          <a:ext cx="0" cy="0"/>
          <a:chOff x="0" y="0"/>
          <a:chExt cx="0" cy="0"/>
        </a:xfrm>
      </p:grpSpPr>
      <p:sp>
        <p:nvSpPr>
          <p:cNvPr id="53" name="Google Shape;53;p3"/>
          <p:cNvSpPr/>
          <p:nvPr/>
        </p:nvSpPr>
        <p:spPr>
          <a:xfrm>
            <a:off x="514350" y="428625"/>
            <a:ext cx="8477250" cy="628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154734"/>
                </a:solidFill>
                <a:latin typeface="Calibri"/>
                <a:ea typeface="Calibri"/>
                <a:cs typeface="Calibri"/>
                <a:sym typeface="Calibri"/>
              </a:rPr>
              <a:t>Who is uofrEats for?</a:t>
            </a:r>
            <a:endParaRPr/>
          </a:p>
        </p:txBody>
      </p:sp>
      <p:sp>
        <p:nvSpPr>
          <p:cNvPr id="54" name="Google Shape;54;p3"/>
          <p:cNvSpPr/>
          <p:nvPr/>
        </p:nvSpPr>
        <p:spPr>
          <a:xfrm>
            <a:off x="9286875" y="409575"/>
            <a:ext cx="2381250" cy="361950"/>
          </a:xfrm>
          <a:prstGeom prst="roundRect">
            <a:avLst>
              <a:gd fmla="val 39474" name="adj"/>
            </a:avLst>
          </a:prstGeom>
          <a:solidFill>
            <a:srgbClr val="FFB8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p:nvPr/>
        </p:nvSpPr>
        <p:spPr>
          <a:xfrm>
            <a:off x="9382125" y="485775"/>
            <a:ext cx="2190750" cy="2190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200">
                <a:solidFill>
                  <a:srgbClr val="154734"/>
                </a:solidFill>
                <a:latin typeface="Calibri"/>
                <a:ea typeface="Calibri"/>
                <a:cs typeface="Calibri"/>
                <a:sym typeface="Calibri"/>
              </a:rPr>
              <a:t>WHO</a:t>
            </a:r>
            <a:endParaRPr/>
          </a:p>
        </p:txBody>
      </p:sp>
      <p:cxnSp>
        <p:nvCxnSpPr>
          <p:cNvPr id="56" name="Google Shape;56;p3"/>
          <p:cNvCxnSpPr/>
          <p:nvPr/>
        </p:nvCxnSpPr>
        <p:spPr>
          <a:xfrm>
            <a:off x="0" y="6819900"/>
            <a:ext cx="12191695" cy="0"/>
          </a:xfrm>
          <a:prstGeom prst="straightConnector1">
            <a:avLst/>
          </a:prstGeom>
          <a:noFill/>
          <a:ln cap="flat" cmpd="sng" w="47625">
            <a:solidFill>
              <a:srgbClr val="FFB81C"/>
            </a:solidFill>
            <a:prstDash val="solid"/>
            <a:round/>
            <a:headEnd len="sm" w="sm" type="none"/>
            <a:tailEnd len="sm" w="sm" type="none"/>
          </a:ln>
        </p:spPr>
      </p:cxnSp>
      <p:sp>
        <p:nvSpPr>
          <p:cNvPr id="57" name="Google Shape;57;p3"/>
          <p:cNvSpPr/>
          <p:nvPr/>
        </p:nvSpPr>
        <p:spPr>
          <a:xfrm>
            <a:off x="11477625" y="6419850"/>
            <a:ext cx="285750" cy="2095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lang="en-US" sz="1050">
                <a:solidFill>
                  <a:srgbClr val="65736B"/>
                </a:solidFill>
                <a:latin typeface="Calibri"/>
                <a:ea typeface="Calibri"/>
                <a:cs typeface="Calibri"/>
                <a:sym typeface="Calibri"/>
              </a:rPr>
              <a:t>3</a:t>
            </a:r>
            <a:endParaRPr/>
          </a:p>
        </p:txBody>
      </p:sp>
      <p:pic>
        <p:nvPicPr>
          <p:cNvPr id="58" name="Google Shape;58;p3"/>
          <p:cNvPicPr preferRelativeResize="0"/>
          <p:nvPr/>
        </p:nvPicPr>
        <p:blipFill rotWithShape="1">
          <a:blip r:embed="rId3">
            <a:alphaModFix/>
          </a:blip>
          <a:srcRect b="13625" l="0" r="0" t="13625"/>
          <a:stretch/>
        </p:blipFill>
        <p:spPr>
          <a:xfrm>
            <a:off x="0" y="1285875"/>
            <a:ext cx="12191695" cy="4991100"/>
          </a:xfrm>
          <a:prstGeom prst="rect">
            <a:avLst/>
          </a:prstGeom>
          <a:noFill/>
          <a:ln>
            <a:noFill/>
          </a:ln>
        </p:spPr>
      </p:pic>
      <p:sp>
        <p:nvSpPr>
          <p:cNvPr id="59" name="Google Shape;59;p3"/>
          <p:cNvSpPr/>
          <p:nvPr/>
        </p:nvSpPr>
        <p:spPr>
          <a:xfrm>
            <a:off x="0" y="1285875"/>
            <a:ext cx="12191695" cy="4991100"/>
          </a:xfrm>
          <a:prstGeom prst="rect">
            <a:avLst/>
          </a:prstGeom>
          <a:solidFill>
            <a:srgbClr val="FFFFFF">
              <a:alpha val="8705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523875" y="1362075"/>
            <a:ext cx="11125200" cy="60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154734"/>
                </a:solidFill>
                <a:latin typeface="Calibri"/>
                <a:ea typeface="Calibri"/>
                <a:cs typeface="Calibri"/>
                <a:sym typeface="Calibri"/>
              </a:rPr>
              <a:t>First people interviewed: restaurant owners/managers and students</a:t>
            </a:r>
            <a:endParaRPr/>
          </a:p>
        </p:txBody>
      </p:sp>
      <p:sp>
        <p:nvSpPr>
          <p:cNvPr id="61" name="Google Shape;61;p3"/>
          <p:cNvSpPr/>
          <p:nvPr/>
        </p:nvSpPr>
        <p:spPr>
          <a:xfrm>
            <a:off x="523875" y="2400300"/>
            <a:ext cx="6972300" cy="16287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775">
                <a:solidFill>
                  <a:srgbClr val="154734"/>
                </a:solidFill>
                <a:latin typeface="Calibri"/>
                <a:ea typeface="Calibri"/>
                <a:cs typeface="Calibri"/>
                <a:sym typeface="Calibri"/>
              </a:rPr>
              <a:t>“During peak rush hours, some students leave without buying food because the line is too long.”</a:t>
            </a:r>
            <a:endParaRPr/>
          </a:p>
        </p:txBody>
      </p:sp>
      <p:sp>
        <p:nvSpPr>
          <p:cNvPr id="62" name="Google Shape;62;p3"/>
          <p:cNvSpPr/>
          <p:nvPr/>
        </p:nvSpPr>
        <p:spPr>
          <a:xfrm>
            <a:off x="523875" y="4352925"/>
            <a:ext cx="7172325" cy="2952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1A1A1A"/>
                </a:solidFill>
                <a:latin typeface="Calibri"/>
                <a:ea typeface="Calibri"/>
                <a:cs typeface="Calibri"/>
                <a:sym typeface="Calibri"/>
              </a:rPr>
              <a:t>Manmeet, Da India Curry House Xpress manager</a:t>
            </a:r>
            <a:endParaRPr/>
          </a:p>
        </p:txBody>
      </p:sp>
      <p:sp>
        <p:nvSpPr>
          <p:cNvPr id="63" name="Google Shape;63;p3"/>
          <p:cNvSpPr/>
          <p:nvPr/>
        </p:nvSpPr>
        <p:spPr>
          <a:xfrm>
            <a:off x="523875" y="4695825"/>
            <a:ext cx="704850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425">
                <a:solidFill>
                  <a:srgbClr val="65736B"/>
                </a:solidFill>
                <a:latin typeface="Calibri"/>
                <a:ea typeface="Calibri"/>
                <a:cs typeface="Calibri"/>
                <a:sym typeface="Calibri"/>
              </a:rPr>
              <a:t>Interview summary, paraphrased from team notes</a:t>
            </a:r>
            <a:endParaRPr/>
          </a:p>
        </p:txBody>
      </p:sp>
      <p:sp>
        <p:nvSpPr>
          <p:cNvPr id="64" name="Google Shape;64;p3"/>
          <p:cNvSpPr/>
          <p:nvPr/>
        </p:nvSpPr>
        <p:spPr>
          <a:xfrm>
            <a:off x="8239125" y="2438400"/>
            <a:ext cx="32766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575">
                <a:solidFill>
                  <a:srgbClr val="154734"/>
                </a:solidFill>
                <a:latin typeface="Calibri"/>
                <a:ea typeface="Calibri"/>
                <a:cs typeface="Calibri"/>
                <a:sym typeface="Calibri"/>
              </a:rPr>
              <a:t>STUDENTS</a:t>
            </a:r>
            <a:endParaRPr/>
          </a:p>
        </p:txBody>
      </p:sp>
      <p:sp>
        <p:nvSpPr>
          <p:cNvPr id="65" name="Google Shape;65;p3"/>
          <p:cNvSpPr/>
          <p:nvPr/>
        </p:nvSpPr>
        <p:spPr>
          <a:xfrm>
            <a:off x="8239125" y="2838450"/>
            <a:ext cx="3276600" cy="8477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1A1A1A"/>
                </a:solidFill>
                <a:latin typeface="Calibri"/>
                <a:ea typeface="Calibri"/>
                <a:cs typeface="Calibri"/>
                <a:sym typeface="Calibri"/>
              </a:rPr>
              <a:t>Commuters and residents</a:t>
            </a:r>
            <a:endParaRPr/>
          </a:p>
          <a:p>
            <a:pPr indent="0" lvl="0" marL="0" marR="0" rtl="0" algn="l">
              <a:spcBef>
                <a:spcPts val="0"/>
              </a:spcBef>
              <a:spcAft>
                <a:spcPts val="0"/>
              </a:spcAft>
              <a:buNone/>
            </a:pPr>
            <a:r>
              <a:rPr b="0" lang="en-US" sz="2025">
                <a:solidFill>
                  <a:srgbClr val="1A1A1A"/>
                </a:solidFill>
                <a:latin typeface="Calibri"/>
                <a:ea typeface="Calibri"/>
                <a:cs typeface="Calibri"/>
                <a:sym typeface="Calibri"/>
              </a:rPr>
              <a:t>who need food between classes</a:t>
            </a:r>
            <a:endParaRPr/>
          </a:p>
        </p:txBody>
      </p:sp>
      <p:sp>
        <p:nvSpPr>
          <p:cNvPr id="66" name="Google Shape;66;p3"/>
          <p:cNvSpPr/>
          <p:nvPr/>
        </p:nvSpPr>
        <p:spPr>
          <a:xfrm>
            <a:off x="8239125" y="4105275"/>
            <a:ext cx="32766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575">
                <a:solidFill>
                  <a:srgbClr val="154734"/>
                </a:solidFill>
                <a:latin typeface="Calibri"/>
                <a:ea typeface="Calibri"/>
                <a:cs typeface="Calibri"/>
                <a:sym typeface="Calibri"/>
              </a:rPr>
              <a:t>RESTAURANT TEAMS</a:t>
            </a:r>
            <a:endParaRPr/>
          </a:p>
        </p:txBody>
      </p:sp>
      <p:sp>
        <p:nvSpPr>
          <p:cNvPr id="67" name="Google Shape;67;p3"/>
          <p:cNvSpPr/>
          <p:nvPr/>
        </p:nvSpPr>
        <p:spPr>
          <a:xfrm>
            <a:off x="8239125" y="4505325"/>
            <a:ext cx="3276600" cy="876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1A1A1A"/>
                </a:solidFill>
                <a:latin typeface="Calibri"/>
                <a:ea typeface="Calibri"/>
                <a:cs typeface="Calibri"/>
                <a:sym typeface="Calibri"/>
              </a:rPr>
              <a:t>Owners, managers and staff</a:t>
            </a:r>
            <a:endParaRPr/>
          </a:p>
          <a:p>
            <a:pPr indent="0" lvl="0" marL="0" marR="0" rtl="0" algn="l">
              <a:spcBef>
                <a:spcPts val="0"/>
              </a:spcBef>
              <a:spcAft>
                <a:spcPts val="0"/>
              </a:spcAft>
              <a:buNone/>
            </a:pPr>
            <a:r>
              <a:rPr b="0" lang="en-US" sz="2025">
                <a:solidFill>
                  <a:srgbClr val="1A1A1A"/>
                </a:solidFill>
                <a:latin typeface="Calibri"/>
                <a:ea typeface="Calibri"/>
                <a:cs typeface="Calibri"/>
                <a:sym typeface="Calibri"/>
              </a:rPr>
              <a:t>handling the lunch rush</a:t>
            </a:r>
            <a:endParaRPr/>
          </a:p>
        </p:txBody>
      </p:sp>
      <p:sp>
        <p:nvSpPr>
          <p:cNvPr id="68" name="Google Shape;68;p3"/>
          <p:cNvSpPr/>
          <p:nvPr/>
        </p:nvSpPr>
        <p:spPr>
          <a:xfrm>
            <a:off x="523875" y="6343650"/>
            <a:ext cx="10477500" cy="2190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125" u="sng">
                <a:solidFill>
                  <a:srgbClr val="65736B"/>
                </a:solidFill>
                <a:latin typeface="Calibri"/>
                <a:ea typeface="Calibri"/>
                <a:cs typeface="Calibri"/>
                <a:sym typeface="Calibri"/>
                <a:hlinkClick r:id="rId4">
                  <a:extLst>
                    <a:ext uri="{A12FA001-AC4F-418D-AE19-62706E023703}">
                      <ahyp:hlinkClr val="tx"/>
                    </a:ext>
                  </a:extLst>
                </a:hlinkClick>
              </a:rPr>
              <a:t>Illustrative queue photo: Vitaly Gariev / Pexels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 name="Shape 73"/>
        <p:cNvGrpSpPr/>
        <p:nvPr/>
      </p:nvGrpSpPr>
      <p:grpSpPr>
        <a:xfrm>
          <a:off x="0" y="0"/>
          <a:ext cx="0" cy="0"/>
          <a:chOff x="0" y="0"/>
          <a:chExt cx="0" cy="0"/>
        </a:xfrm>
      </p:grpSpPr>
      <p:sp>
        <p:nvSpPr>
          <p:cNvPr id="74" name="Google Shape;74;p4"/>
          <p:cNvSpPr/>
          <p:nvPr/>
        </p:nvSpPr>
        <p:spPr>
          <a:xfrm>
            <a:off x="514350" y="428625"/>
            <a:ext cx="8477250" cy="628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154734"/>
                </a:solidFill>
                <a:latin typeface="Calibri"/>
                <a:ea typeface="Calibri"/>
                <a:cs typeface="Calibri"/>
                <a:sym typeface="Calibri"/>
              </a:rPr>
              <a:t>Two interfaces, two experiences</a:t>
            </a:r>
            <a:endParaRPr/>
          </a:p>
        </p:txBody>
      </p:sp>
      <p:sp>
        <p:nvSpPr>
          <p:cNvPr id="75" name="Google Shape;75;p4"/>
          <p:cNvSpPr/>
          <p:nvPr/>
        </p:nvSpPr>
        <p:spPr>
          <a:xfrm>
            <a:off x="9286875" y="409575"/>
            <a:ext cx="2381250" cy="361950"/>
          </a:xfrm>
          <a:prstGeom prst="roundRect">
            <a:avLst>
              <a:gd fmla="val 39474" name="adj"/>
            </a:avLst>
          </a:prstGeom>
          <a:solidFill>
            <a:srgbClr val="FFB8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4"/>
          <p:cNvSpPr/>
          <p:nvPr/>
        </p:nvSpPr>
        <p:spPr>
          <a:xfrm>
            <a:off x="9382125" y="485775"/>
            <a:ext cx="2190750" cy="2190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200">
                <a:solidFill>
                  <a:srgbClr val="154734"/>
                </a:solidFill>
                <a:latin typeface="Calibri"/>
                <a:ea typeface="Calibri"/>
                <a:cs typeface="Calibri"/>
                <a:sym typeface="Calibri"/>
              </a:rPr>
              <a:t>WHAT + HOW</a:t>
            </a:r>
            <a:endParaRPr/>
          </a:p>
        </p:txBody>
      </p:sp>
      <p:cxnSp>
        <p:nvCxnSpPr>
          <p:cNvPr id="77" name="Google Shape;77;p4"/>
          <p:cNvCxnSpPr/>
          <p:nvPr/>
        </p:nvCxnSpPr>
        <p:spPr>
          <a:xfrm>
            <a:off x="0" y="6819900"/>
            <a:ext cx="12191695" cy="0"/>
          </a:xfrm>
          <a:prstGeom prst="straightConnector1">
            <a:avLst/>
          </a:prstGeom>
          <a:noFill/>
          <a:ln cap="flat" cmpd="sng" w="47625">
            <a:solidFill>
              <a:srgbClr val="FFB81C"/>
            </a:solidFill>
            <a:prstDash val="solid"/>
            <a:round/>
            <a:headEnd len="sm" w="sm" type="none"/>
            <a:tailEnd len="sm" w="sm" type="none"/>
          </a:ln>
        </p:spPr>
      </p:cxnSp>
      <p:sp>
        <p:nvSpPr>
          <p:cNvPr id="78" name="Google Shape;78;p4"/>
          <p:cNvSpPr/>
          <p:nvPr/>
        </p:nvSpPr>
        <p:spPr>
          <a:xfrm>
            <a:off x="11477625" y="6419850"/>
            <a:ext cx="285750" cy="2095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lang="en-US" sz="1050">
                <a:solidFill>
                  <a:srgbClr val="65736B"/>
                </a:solidFill>
                <a:latin typeface="Calibri"/>
                <a:ea typeface="Calibri"/>
                <a:cs typeface="Calibri"/>
                <a:sym typeface="Calibri"/>
              </a:rPr>
              <a:t>4</a:t>
            </a:r>
            <a:endParaRPr/>
          </a:p>
        </p:txBody>
      </p:sp>
      <p:sp>
        <p:nvSpPr>
          <p:cNvPr id="79" name="Google Shape;79;p4"/>
          <p:cNvSpPr/>
          <p:nvPr/>
        </p:nvSpPr>
        <p:spPr>
          <a:xfrm>
            <a:off x="523875" y="1304925"/>
            <a:ext cx="11144250" cy="333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154734"/>
                </a:solidFill>
                <a:latin typeface="Calibri"/>
                <a:ea typeface="Calibri"/>
                <a:cs typeface="Calibri"/>
                <a:sym typeface="Calibri"/>
              </a:rPr>
              <a:t>1. Student interface: order and collect</a:t>
            </a:r>
            <a:endParaRPr/>
          </a:p>
        </p:txBody>
      </p:sp>
      <p:sp>
        <p:nvSpPr>
          <p:cNvPr id="80" name="Google Shape;80;p4"/>
          <p:cNvSpPr/>
          <p:nvPr/>
        </p:nvSpPr>
        <p:spPr>
          <a:xfrm>
            <a:off x="523875" y="1819275"/>
            <a:ext cx="2000250" cy="952500"/>
          </a:xfrm>
          <a:prstGeom prst="roundRect">
            <a:avLst>
              <a:gd fmla="val 10000" name="adj"/>
            </a:avLst>
          </a:prstGeom>
          <a:solidFill>
            <a:srgbClr val="EAF2EE"/>
          </a:solidFill>
          <a:ln cap="flat" cmpd="sng" w="13325">
            <a:solidFill>
              <a:srgbClr val="154734"/>
            </a:solidFill>
            <a:prstDash val="solid"/>
            <a:round/>
            <a:headEnd len="sm" w="sm" type="none"/>
            <a:tailEnd len="sm" w="sm" type="none"/>
          </a:ln>
        </p:spPr>
        <p:txBody>
          <a:bodyPr anchorCtr="0" anchor="ctr" bIns="95250" lIns="114300" spcFirstLastPara="1" rIns="114300" wrap="square" tIns="95250">
            <a:noAutofit/>
          </a:bodyPr>
          <a:lstStyle/>
          <a:p>
            <a:pPr indent="0" lvl="0" marL="0" marR="0" rtl="0" algn="ctr">
              <a:spcBef>
                <a:spcPts val="0"/>
              </a:spcBef>
              <a:spcAft>
                <a:spcPts val="0"/>
              </a:spcAft>
              <a:buNone/>
            </a:pPr>
            <a:r>
              <a:rPr b="1" lang="en-US" sz="1800">
                <a:solidFill>
                  <a:srgbClr val="154734"/>
                </a:solidFill>
                <a:latin typeface="Calibri"/>
                <a:ea typeface="Calibri"/>
                <a:cs typeface="Calibri"/>
                <a:sym typeface="Calibri"/>
              </a:rPr>
              <a:t>Scan campus QR</a:t>
            </a:r>
            <a:endParaRPr/>
          </a:p>
        </p:txBody>
      </p:sp>
      <p:sp>
        <p:nvSpPr>
          <p:cNvPr id="81" name="Google Shape;81;p4"/>
          <p:cNvSpPr/>
          <p:nvPr/>
        </p:nvSpPr>
        <p:spPr>
          <a:xfrm>
            <a:off x="2809875" y="1819275"/>
            <a:ext cx="2000250" cy="952500"/>
          </a:xfrm>
          <a:prstGeom prst="roundRect">
            <a:avLst>
              <a:gd fmla="val 10000" name="adj"/>
            </a:avLst>
          </a:prstGeom>
          <a:solidFill>
            <a:srgbClr val="EAF2EE"/>
          </a:solidFill>
          <a:ln cap="flat" cmpd="sng" w="13325">
            <a:solidFill>
              <a:srgbClr val="154734"/>
            </a:solidFill>
            <a:prstDash val="solid"/>
            <a:round/>
            <a:headEnd len="sm" w="sm" type="none"/>
            <a:tailEnd len="sm" w="sm" type="none"/>
          </a:ln>
        </p:spPr>
        <p:txBody>
          <a:bodyPr anchorCtr="0" anchor="ctr" bIns="95250" lIns="114300" spcFirstLastPara="1" rIns="114300" wrap="square" tIns="95250">
            <a:noAutofit/>
          </a:bodyPr>
          <a:lstStyle/>
          <a:p>
            <a:pPr indent="0" lvl="0" marL="0" marR="0" rtl="0" algn="ctr">
              <a:spcBef>
                <a:spcPts val="0"/>
              </a:spcBef>
              <a:spcAft>
                <a:spcPts val="0"/>
              </a:spcAft>
              <a:buNone/>
            </a:pPr>
            <a:r>
              <a:rPr b="1" lang="en-US" sz="1800">
                <a:solidFill>
                  <a:srgbClr val="154734"/>
                </a:solidFill>
                <a:latin typeface="Calibri"/>
                <a:ea typeface="Calibri"/>
                <a:cs typeface="Calibri"/>
                <a:sym typeface="Calibri"/>
              </a:rPr>
              <a:t>Choose vendor</a:t>
            </a:r>
            <a:endParaRPr/>
          </a:p>
          <a:p>
            <a:pPr indent="0" lvl="0" marL="0" marR="0" rtl="0" algn="ctr">
              <a:spcBef>
                <a:spcPts val="0"/>
              </a:spcBef>
              <a:spcAft>
                <a:spcPts val="0"/>
              </a:spcAft>
              <a:buNone/>
            </a:pPr>
            <a:r>
              <a:rPr b="1" lang="en-US" sz="1800">
                <a:solidFill>
                  <a:srgbClr val="154734"/>
                </a:solidFill>
                <a:latin typeface="Calibri"/>
                <a:ea typeface="Calibri"/>
                <a:cs typeface="Calibri"/>
                <a:sym typeface="Calibri"/>
              </a:rPr>
              <a:t>and food</a:t>
            </a:r>
            <a:endParaRPr/>
          </a:p>
        </p:txBody>
      </p:sp>
      <p:sp>
        <p:nvSpPr>
          <p:cNvPr id="82" name="Google Shape;82;p4"/>
          <p:cNvSpPr/>
          <p:nvPr/>
        </p:nvSpPr>
        <p:spPr>
          <a:xfrm>
            <a:off x="5095875" y="1819275"/>
            <a:ext cx="2000250" cy="952500"/>
          </a:xfrm>
          <a:prstGeom prst="roundRect">
            <a:avLst>
              <a:gd fmla="val 10000" name="adj"/>
            </a:avLst>
          </a:prstGeom>
          <a:solidFill>
            <a:srgbClr val="FFB81C"/>
          </a:solidFill>
          <a:ln cap="flat" cmpd="sng" w="13325">
            <a:solidFill>
              <a:srgbClr val="154734"/>
            </a:solidFill>
            <a:prstDash val="solid"/>
            <a:round/>
            <a:headEnd len="sm" w="sm" type="none"/>
            <a:tailEnd len="sm" w="sm" type="none"/>
          </a:ln>
        </p:spPr>
        <p:txBody>
          <a:bodyPr anchorCtr="0" anchor="ctr" bIns="95250" lIns="114300" spcFirstLastPara="1" rIns="114300" wrap="square" tIns="95250">
            <a:noAutofit/>
          </a:bodyPr>
          <a:lstStyle/>
          <a:p>
            <a:pPr indent="0" lvl="0" marL="0" marR="0" rtl="0" algn="ctr">
              <a:spcBef>
                <a:spcPts val="0"/>
              </a:spcBef>
              <a:spcAft>
                <a:spcPts val="0"/>
              </a:spcAft>
              <a:buNone/>
            </a:pPr>
            <a:r>
              <a:rPr b="1" lang="en-US" sz="1800">
                <a:solidFill>
                  <a:srgbClr val="154734"/>
                </a:solidFill>
                <a:latin typeface="Calibri"/>
                <a:ea typeface="Calibri"/>
                <a:cs typeface="Calibri"/>
                <a:sym typeface="Calibri"/>
              </a:rPr>
              <a:t>Select available</a:t>
            </a:r>
            <a:endParaRPr/>
          </a:p>
          <a:p>
            <a:pPr indent="0" lvl="0" marL="0" marR="0" rtl="0" algn="ctr">
              <a:spcBef>
                <a:spcPts val="0"/>
              </a:spcBef>
              <a:spcAft>
                <a:spcPts val="0"/>
              </a:spcAft>
              <a:buNone/>
            </a:pPr>
            <a:r>
              <a:rPr b="1" lang="en-US" sz="1800">
                <a:solidFill>
                  <a:srgbClr val="154734"/>
                </a:solidFill>
                <a:latin typeface="Calibri"/>
                <a:ea typeface="Calibri"/>
                <a:cs typeface="Calibri"/>
                <a:sym typeface="Calibri"/>
              </a:rPr>
              <a:t>pickup time</a:t>
            </a:r>
            <a:endParaRPr/>
          </a:p>
        </p:txBody>
      </p:sp>
      <p:sp>
        <p:nvSpPr>
          <p:cNvPr id="83" name="Google Shape;83;p4"/>
          <p:cNvSpPr/>
          <p:nvPr/>
        </p:nvSpPr>
        <p:spPr>
          <a:xfrm>
            <a:off x="7381875" y="1819275"/>
            <a:ext cx="2000250" cy="952500"/>
          </a:xfrm>
          <a:prstGeom prst="roundRect">
            <a:avLst>
              <a:gd fmla="val 10000" name="adj"/>
            </a:avLst>
          </a:prstGeom>
          <a:solidFill>
            <a:srgbClr val="EAF2EE"/>
          </a:solidFill>
          <a:ln cap="flat" cmpd="sng" w="13325">
            <a:solidFill>
              <a:srgbClr val="154734"/>
            </a:solidFill>
            <a:prstDash val="solid"/>
            <a:round/>
            <a:headEnd len="sm" w="sm" type="none"/>
            <a:tailEnd len="sm" w="sm" type="none"/>
          </a:ln>
        </p:spPr>
        <p:txBody>
          <a:bodyPr anchorCtr="0" anchor="ctr" bIns="95250" lIns="114300" spcFirstLastPara="1" rIns="114300" wrap="square" tIns="95250">
            <a:noAutofit/>
          </a:bodyPr>
          <a:lstStyle/>
          <a:p>
            <a:pPr indent="0" lvl="0" marL="0" marR="0" rtl="0" algn="ctr">
              <a:spcBef>
                <a:spcPts val="0"/>
              </a:spcBef>
              <a:spcAft>
                <a:spcPts val="0"/>
              </a:spcAft>
              <a:buNone/>
            </a:pPr>
            <a:r>
              <a:rPr b="1" lang="en-US" sz="1800">
                <a:solidFill>
                  <a:srgbClr val="154734"/>
                </a:solidFill>
                <a:latin typeface="Calibri"/>
                <a:ea typeface="Calibri"/>
                <a:cs typeface="Calibri"/>
                <a:sym typeface="Calibri"/>
              </a:rPr>
              <a:t>Pay and track</a:t>
            </a:r>
            <a:endParaRPr/>
          </a:p>
          <a:p>
            <a:pPr indent="0" lvl="0" marL="0" marR="0" rtl="0" algn="ctr">
              <a:spcBef>
                <a:spcPts val="0"/>
              </a:spcBef>
              <a:spcAft>
                <a:spcPts val="0"/>
              </a:spcAft>
              <a:buNone/>
            </a:pPr>
            <a:r>
              <a:rPr b="1" lang="en-US" sz="1800">
                <a:solidFill>
                  <a:srgbClr val="154734"/>
                </a:solidFill>
                <a:latin typeface="Calibri"/>
                <a:ea typeface="Calibri"/>
                <a:cs typeface="Calibri"/>
                <a:sym typeface="Calibri"/>
              </a:rPr>
              <a:t>order status</a:t>
            </a:r>
            <a:endParaRPr/>
          </a:p>
        </p:txBody>
      </p:sp>
      <p:sp>
        <p:nvSpPr>
          <p:cNvPr id="84" name="Google Shape;84;p4"/>
          <p:cNvSpPr/>
          <p:nvPr/>
        </p:nvSpPr>
        <p:spPr>
          <a:xfrm>
            <a:off x="9667875" y="1819275"/>
            <a:ext cx="2000250" cy="952500"/>
          </a:xfrm>
          <a:prstGeom prst="roundRect">
            <a:avLst>
              <a:gd fmla="val 10000" name="adj"/>
            </a:avLst>
          </a:prstGeom>
          <a:solidFill>
            <a:srgbClr val="EAF2EE"/>
          </a:solidFill>
          <a:ln cap="flat" cmpd="sng" w="13325">
            <a:solidFill>
              <a:srgbClr val="154734"/>
            </a:solidFill>
            <a:prstDash val="solid"/>
            <a:round/>
            <a:headEnd len="sm" w="sm" type="none"/>
            <a:tailEnd len="sm" w="sm" type="none"/>
          </a:ln>
        </p:spPr>
        <p:txBody>
          <a:bodyPr anchorCtr="0" anchor="ctr" bIns="95250" lIns="114300" spcFirstLastPara="1" rIns="114300" wrap="square" tIns="95250">
            <a:noAutofit/>
          </a:bodyPr>
          <a:lstStyle/>
          <a:p>
            <a:pPr indent="0" lvl="0" marL="0" marR="0" rtl="0" algn="ctr">
              <a:spcBef>
                <a:spcPts val="0"/>
              </a:spcBef>
              <a:spcAft>
                <a:spcPts val="0"/>
              </a:spcAft>
              <a:buNone/>
            </a:pPr>
            <a:r>
              <a:rPr b="1" lang="en-US" sz="1800">
                <a:solidFill>
                  <a:srgbClr val="154734"/>
                </a:solidFill>
                <a:latin typeface="Calibri"/>
                <a:ea typeface="Calibri"/>
                <a:cs typeface="Calibri"/>
                <a:sym typeface="Calibri"/>
              </a:rPr>
              <a:t>Collect when</a:t>
            </a:r>
            <a:endParaRPr/>
          </a:p>
          <a:p>
            <a:pPr indent="0" lvl="0" marL="0" marR="0" rtl="0" algn="ctr">
              <a:spcBef>
                <a:spcPts val="0"/>
              </a:spcBef>
              <a:spcAft>
                <a:spcPts val="0"/>
              </a:spcAft>
              <a:buNone/>
            </a:pPr>
            <a:r>
              <a:rPr b="1" lang="en-US" sz="1800">
                <a:solidFill>
                  <a:srgbClr val="154734"/>
                </a:solidFill>
                <a:latin typeface="Calibri"/>
                <a:ea typeface="Calibri"/>
                <a:cs typeface="Calibri"/>
                <a:sym typeface="Calibri"/>
              </a:rPr>
              <a:t>ready</a:t>
            </a:r>
            <a:endParaRPr/>
          </a:p>
        </p:txBody>
      </p:sp>
      <p:cxnSp>
        <p:nvCxnSpPr>
          <p:cNvPr id="85" name="Google Shape;85;p4"/>
          <p:cNvCxnSpPr>
            <a:stCxn id="80" idx="3"/>
            <a:endCxn id="81" idx="1"/>
          </p:cNvCxnSpPr>
          <p:nvPr/>
        </p:nvCxnSpPr>
        <p:spPr>
          <a:xfrm>
            <a:off x="2524125" y="2295525"/>
            <a:ext cx="285900" cy="0"/>
          </a:xfrm>
          <a:prstGeom prst="straightConnector1">
            <a:avLst/>
          </a:prstGeom>
          <a:noFill/>
          <a:ln cap="flat" cmpd="sng" w="23800">
            <a:solidFill>
              <a:srgbClr val="154734"/>
            </a:solidFill>
            <a:prstDash val="solid"/>
            <a:round/>
            <a:headEnd len="sm" w="sm" type="none"/>
            <a:tailEnd len="med" w="med" type="stealth"/>
          </a:ln>
        </p:spPr>
      </p:cxnSp>
      <p:cxnSp>
        <p:nvCxnSpPr>
          <p:cNvPr id="86" name="Google Shape;86;p4"/>
          <p:cNvCxnSpPr>
            <a:stCxn id="81" idx="3"/>
            <a:endCxn id="82" idx="1"/>
          </p:cNvCxnSpPr>
          <p:nvPr/>
        </p:nvCxnSpPr>
        <p:spPr>
          <a:xfrm>
            <a:off x="4810125" y="2295525"/>
            <a:ext cx="285900" cy="0"/>
          </a:xfrm>
          <a:prstGeom prst="straightConnector1">
            <a:avLst/>
          </a:prstGeom>
          <a:noFill/>
          <a:ln cap="flat" cmpd="sng" w="23800">
            <a:solidFill>
              <a:srgbClr val="154734"/>
            </a:solidFill>
            <a:prstDash val="solid"/>
            <a:round/>
            <a:headEnd len="sm" w="sm" type="none"/>
            <a:tailEnd len="med" w="med" type="stealth"/>
          </a:ln>
        </p:spPr>
      </p:cxnSp>
      <p:cxnSp>
        <p:nvCxnSpPr>
          <p:cNvPr id="87" name="Google Shape;87;p4"/>
          <p:cNvCxnSpPr>
            <a:stCxn id="82" idx="3"/>
            <a:endCxn id="83" idx="1"/>
          </p:cNvCxnSpPr>
          <p:nvPr/>
        </p:nvCxnSpPr>
        <p:spPr>
          <a:xfrm>
            <a:off x="7096125" y="2295525"/>
            <a:ext cx="285900" cy="0"/>
          </a:xfrm>
          <a:prstGeom prst="straightConnector1">
            <a:avLst/>
          </a:prstGeom>
          <a:noFill/>
          <a:ln cap="flat" cmpd="sng" w="23800">
            <a:solidFill>
              <a:srgbClr val="154734"/>
            </a:solidFill>
            <a:prstDash val="solid"/>
            <a:round/>
            <a:headEnd len="sm" w="sm" type="none"/>
            <a:tailEnd len="med" w="med" type="stealth"/>
          </a:ln>
        </p:spPr>
      </p:cxnSp>
      <p:cxnSp>
        <p:nvCxnSpPr>
          <p:cNvPr id="88" name="Google Shape;88;p4"/>
          <p:cNvCxnSpPr>
            <a:stCxn id="83" idx="3"/>
            <a:endCxn id="84" idx="1"/>
          </p:cNvCxnSpPr>
          <p:nvPr/>
        </p:nvCxnSpPr>
        <p:spPr>
          <a:xfrm>
            <a:off x="9382125" y="2295525"/>
            <a:ext cx="285900" cy="0"/>
          </a:xfrm>
          <a:prstGeom prst="straightConnector1">
            <a:avLst/>
          </a:prstGeom>
          <a:noFill/>
          <a:ln cap="flat" cmpd="sng" w="23800">
            <a:solidFill>
              <a:srgbClr val="154734"/>
            </a:solidFill>
            <a:prstDash val="solid"/>
            <a:round/>
            <a:headEnd len="sm" w="sm" type="none"/>
            <a:tailEnd len="med" w="med" type="stealth"/>
          </a:ln>
        </p:spPr>
      </p:cxnSp>
      <p:sp>
        <p:nvSpPr>
          <p:cNvPr id="89" name="Google Shape;89;p4"/>
          <p:cNvSpPr/>
          <p:nvPr/>
        </p:nvSpPr>
        <p:spPr>
          <a:xfrm>
            <a:off x="523875" y="3257550"/>
            <a:ext cx="7086600" cy="3143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154734"/>
                </a:solidFill>
                <a:latin typeface="Calibri"/>
                <a:ea typeface="Calibri"/>
                <a:cs typeface="Calibri"/>
                <a:sym typeface="Calibri"/>
              </a:rPr>
              <a:t>2. Vendor interface: manage preparation</a:t>
            </a:r>
            <a:endParaRPr/>
          </a:p>
        </p:txBody>
      </p:sp>
      <p:sp>
        <p:nvSpPr>
          <p:cNvPr id="90" name="Google Shape;90;p4"/>
          <p:cNvSpPr/>
          <p:nvPr/>
        </p:nvSpPr>
        <p:spPr>
          <a:xfrm>
            <a:off x="523875" y="3819525"/>
            <a:ext cx="2476500" cy="1000125"/>
          </a:xfrm>
          <a:prstGeom prst="roundRect">
            <a:avLst>
              <a:gd fmla="val 9524" name="adj"/>
            </a:avLst>
          </a:prstGeom>
          <a:solidFill>
            <a:srgbClr val="EAF2EE"/>
          </a:solidFill>
          <a:ln cap="flat" cmpd="sng" w="13325">
            <a:solidFill>
              <a:srgbClr val="154734"/>
            </a:solidFill>
            <a:prstDash val="solid"/>
            <a:round/>
            <a:headEnd len="sm" w="sm" type="none"/>
            <a:tailEnd len="sm" w="sm" type="none"/>
          </a:ln>
        </p:spPr>
        <p:txBody>
          <a:bodyPr anchorCtr="0" anchor="ctr" bIns="95250" lIns="114300" spcFirstLastPara="1" rIns="114300" wrap="square" tIns="95250">
            <a:noAutofit/>
          </a:bodyPr>
          <a:lstStyle/>
          <a:p>
            <a:pPr indent="0" lvl="0" marL="0" marR="0" rtl="0" algn="ctr">
              <a:spcBef>
                <a:spcPts val="0"/>
              </a:spcBef>
              <a:spcAft>
                <a:spcPts val="0"/>
              </a:spcAft>
              <a:buNone/>
            </a:pPr>
            <a:r>
              <a:rPr b="1" lang="en-US" sz="1800">
                <a:solidFill>
                  <a:srgbClr val="154734"/>
                </a:solidFill>
                <a:latin typeface="Calibri"/>
                <a:ea typeface="Calibri"/>
                <a:cs typeface="Calibri"/>
                <a:sym typeface="Calibri"/>
              </a:rPr>
              <a:t>uofrEats</a:t>
            </a:r>
            <a:endParaRPr/>
          </a:p>
          <a:p>
            <a:pPr indent="0" lvl="0" marL="0" marR="0" rtl="0" algn="ctr">
              <a:spcBef>
                <a:spcPts val="0"/>
              </a:spcBef>
              <a:spcAft>
                <a:spcPts val="0"/>
              </a:spcAft>
              <a:buNone/>
            </a:pPr>
            <a:r>
              <a:rPr b="1" lang="en-US" sz="1800">
                <a:solidFill>
                  <a:srgbClr val="154734"/>
                </a:solidFill>
                <a:latin typeface="Calibri"/>
                <a:ea typeface="Calibri"/>
                <a:cs typeface="Calibri"/>
                <a:sym typeface="Calibri"/>
              </a:rPr>
              <a:t>order service</a:t>
            </a:r>
            <a:endParaRPr/>
          </a:p>
        </p:txBody>
      </p:sp>
      <p:sp>
        <p:nvSpPr>
          <p:cNvPr id="91" name="Google Shape;91;p4"/>
          <p:cNvSpPr/>
          <p:nvPr/>
        </p:nvSpPr>
        <p:spPr>
          <a:xfrm>
            <a:off x="3686175" y="3819525"/>
            <a:ext cx="3143250" cy="1000125"/>
          </a:xfrm>
          <a:prstGeom prst="roundRect">
            <a:avLst>
              <a:gd fmla="val 9524" name="adj"/>
            </a:avLst>
          </a:prstGeom>
          <a:solidFill>
            <a:srgbClr val="FFB81C"/>
          </a:solidFill>
          <a:ln cap="flat" cmpd="sng" w="13325">
            <a:solidFill>
              <a:srgbClr val="154734"/>
            </a:solidFill>
            <a:prstDash val="solid"/>
            <a:round/>
            <a:headEnd len="sm" w="sm" type="none"/>
            <a:tailEnd len="sm" w="sm" type="none"/>
          </a:ln>
        </p:spPr>
        <p:txBody>
          <a:bodyPr anchorCtr="0" anchor="ctr" bIns="95250" lIns="114300" spcFirstLastPara="1" rIns="114300" wrap="square" tIns="95250">
            <a:noAutofit/>
          </a:bodyPr>
          <a:lstStyle/>
          <a:p>
            <a:pPr indent="0" lvl="0" marL="0" marR="0" rtl="0" algn="ctr">
              <a:spcBef>
                <a:spcPts val="0"/>
              </a:spcBef>
              <a:spcAft>
                <a:spcPts val="0"/>
              </a:spcAft>
              <a:buNone/>
            </a:pPr>
            <a:r>
              <a:rPr b="1" lang="en-US" sz="1800">
                <a:solidFill>
                  <a:srgbClr val="154734"/>
                </a:solidFill>
                <a:latin typeface="Calibri"/>
                <a:ea typeface="Calibri"/>
                <a:cs typeface="Calibri"/>
                <a:sym typeface="Calibri"/>
              </a:rPr>
              <a:t>Vendor dashboard</a:t>
            </a:r>
            <a:endParaRPr/>
          </a:p>
          <a:p>
            <a:pPr indent="0" lvl="0" marL="0" marR="0" rtl="0" algn="ctr">
              <a:spcBef>
                <a:spcPts val="0"/>
              </a:spcBef>
              <a:spcAft>
                <a:spcPts val="0"/>
              </a:spcAft>
              <a:buNone/>
            </a:pPr>
            <a:r>
              <a:rPr b="1" lang="en-US" sz="1800">
                <a:solidFill>
                  <a:srgbClr val="154734"/>
                </a:solidFill>
                <a:latin typeface="Calibri"/>
                <a:ea typeface="Calibri"/>
                <a:cs typeface="Calibri"/>
                <a:sym typeface="Calibri"/>
              </a:rPr>
              <a:t>Accept / prepare / ready</a:t>
            </a:r>
            <a:endParaRPr/>
          </a:p>
        </p:txBody>
      </p:sp>
      <p:cxnSp>
        <p:nvCxnSpPr>
          <p:cNvPr id="92" name="Google Shape;92;p4"/>
          <p:cNvCxnSpPr>
            <a:stCxn id="90" idx="3"/>
            <a:endCxn id="91" idx="1"/>
          </p:cNvCxnSpPr>
          <p:nvPr/>
        </p:nvCxnSpPr>
        <p:spPr>
          <a:xfrm>
            <a:off x="3000375" y="4319588"/>
            <a:ext cx="685800" cy="0"/>
          </a:xfrm>
          <a:prstGeom prst="straightConnector1">
            <a:avLst/>
          </a:prstGeom>
          <a:noFill/>
          <a:ln cap="flat" cmpd="sng" w="23800">
            <a:solidFill>
              <a:srgbClr val="154734"/>
            </a:solidFill>
            <a:prstDash val="solid"/>
            <a:round/>
            <a:headEnd len="sm" w="sm" type="none"/>
            <a:tailEnd len="med" w="med" type="stealth"/>
          </a:ln>
        </p:spPr>
      </p:cxnSp>
      <p:sp>
        <p:nvSpPr>
          <p:cNvPr id="93" name="Google Shape;93;p4"/>
          <p:cNvSpPr/>
          <p:nvPr/>
        </p:nvSpPr>
        <p:spPr>
          <a:xfrm>
            <a:off x="7800975" y="3257550"/>
            <a:ext cx="3867150" cy="3143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154734"/>
                </a:solidFill>
                <a:latin typeface="Calibri"/>
                <a:ea typeface="Calibri"/>
                <a:cs typeface="Calibri"/>
                <a:sym typeface="Calibri"/>
              </a:rPr>
              <a:t>Card payment routing</a:t>
            </a:r>
            <a:endParaRPr/>
          </a:p>
        </p:txBody>
      </p:sp>
      <p:sp>
        <p:nvSpPr>
          <p:cNvPr id="94" name="Google Shape;94;p4"/>
          <p:cNvSpPr/>
          <p:nvPr/>
        </p:nvSpPr>
        <p:spPr>
          <a:xfrm>
            <a:off x="7800975" y="3819525"/>
            <a:ext cx="1600200" cy="1000125"/>
          </a:xfrm>
          <a:prstGeom prst="roundRect">
            <a:avLst>
              <a:gd fmla="val 9524" name="adj"/>
            </a:avLst>
          </a:prstGeom>
          <a:solidFill>
            <a:srgbClr val="EAF2EE"/>
          </a:solidFill>
          <a:ln cap="flat" cmpd="sng" w="13325">
            <a:solidFill>
              <a:srgbClr val="154734"/>
            </a:solidFill>
            <a:prstDash val="solid"/>
            <a:round/>
            <a:headEnd len="sm" w="sm" type="none"/>
            <a:tailEnd len="sm" w="sm" type="none"/>
          </a:ln>
        </p:spPr>
        <p:txBody>
          <a:bodyPr anchorCtr="0" anchor="ctr" bIns="95250" lIns="114300" spcFirstLastPara="1" rIns="114300" wrap="square" tIns="95250">
            <a:noAutofit/>
          </a:bodyPr>
          <a:lstStyle/>
          <a:p>
            <a:pPr indent="0" lvl="0" marL="0" marR="0" rtl="0" algn="ctr">
              <a:spcBef>
                <a:spcPts val="0"/>
              </a:spcBef>
              <a:spcAft>
                <a:spcPts val="0"/>
              </a:spcAft>
              <a:buNone/>
            </a:pPr>
            <a:r>
              <a:rPr b="1" lang="en-US" sz="1800">
                <a:solidFill>
                  <a:srgbClr val="154734"/>
                </a:solidFill>
                <a:latin typeface="Calibri"/>
                <a:ea typeface="Calibri"/>
                <a:cs typeface="Calibri"/>
                <a:sym typeface="Calibri"/>
              </a:rPr>
              <a:t>Stripe</a:t>
            </a:r>
            <a:endParaRPr/>
          </a:p>
          <a:p>
            <a:pPr indent="0" lvl="0" marL="0" marR="0" rtl="0" algn="ctr">
              <a:spcBef>
                <a:spcPts val="0"/>
              </a:spcBef>
              <a:spcAft>
                <a:spcPts val="0"/>
              </a:spcAft>
              <a:buNone/>
            </a:pPr>
            <a:r>
              <a:rPr b="1" lang="en-US" sz="1800">
                <a:solidFill>
                  <a:srgbClr val="154734"/>
                </a:solidFill>
                <a:latin typeface="Calibri"/>
                <a:ea typeface="Calibri"/>
                <a:cs typeface="Calibri"/>
                <a:sym typeface="Calibri"/>
              </a:rPr>
              <a:t>Connect</a:t>
            </a:r>
            <a:endParaRPr/>
          </a:p>
        </p:txBody>
      </p:sp>
      <p:sp>
        <p:nvSpPr>
          <p:cNvPr id="95" name="Google Shape;95;p4"/>
          <p:cNvSpPr/>
          <p:nvPr/>
        </p:nvSpPr>
        <p:spPr>
          <a:xfrm>
            <a:off x="9734550" y="3819525"/>
            <a:ext cx="1933575" cy="1000125"/>
          </a:xfrm>
          <a:prstGeom prst="roundRect">
            <a:avLst>
              <a:gd fmla="val 9524" name="adj"/>
            </a:avLst>
          </a:prstGeom>
          <a:solidFill>
            <a:srgbClr val="EAF2EE"/>
          </a:solidFill>
          <a:ln cap="flat" cmpd="sng" w="13325">
            <a:solidFill>
              <a:srgbClr val="154734"/>
            </a:solidFill>
            <a:prstDash val="solid"/>
            <a:round/>
            <a:headEnd len="sm" w="sm" type="none"/>
            <a:tailEnd len="sm" w="sm" type="none"/>
          </a:ln>
        </p:spPr>
        <p:txBody>
          <a:bodyPr anchorCtr="0" anchor="ctr" bIns="95250" lIns="114300" spcFirstLastPara="1" rIns="114300" wrap="square" tIns="95250">
            <a:noAutofit/>
          </a:bodyPr>
          <a:lstStyle/>
          <a:p>
            <a:pPr indent="0" lvl="0" marL="0" marR="0" rtl="0" algn="ctr">
              <a:spcBef>
                <a:spcPts val="0"/>
              </a:spcBef>
              <a:spcAft>
                <a:spcPts val="0"/>
              </a:spcAft>
              <a:buNone/>
            </a:pPr>
            <a:r>
              <a:rPr b="1" lang="en-US" sz="1800">
                <a:solidFill>
                  <a:srgbClr val="154734"/>
                </a:solidFill>
                <a:latin typeface="Calibri"/>
                <a:ea typeface="Calibri"/>
                <a:cs typeface="Calibri"/>
                <a:sym typeface="Calibri"/>
              </a:rPr>
              <a:t>Vendor</a:t>
            </a:r>
            <a:endParaRPr/>
          </a:p>
          <a:p>
            <a:pPr indent="0" lvl="0" marL="0" marR="0" rtl="0" algn="ctr">
              <a:spcBef>
                <a:spcPts val="0"/>
              </a:spcBef>
              <a:spcAft>
                <a:spcPts val="0"/>
              </a:spcAft>
              <a:buNone/>
            </a:pPr>
            <a:r>
              <a:rPr b="1" lang="en-US" sz="1800">
                <a:solidFill>
                  <a:srgbClr val="154734"/>
                </a:solidFill>
                <a:latin typeface="Calibri"/>
                <a:ea typeface="Calibri"/>
                <a:cs typeface="Calibri"/>
                <a:sym typeface="Calibri"/>
              </a:rPr>
              <a:t>connected account</a:t>
            </a:r>
            <a:endParaRPr/>
          </a:p>
        </p:txBody>
      </p:sp>
      <p:cxnSp>
        <p:nvCxnSpPr>
          <p:cNvPr id="96" name="Google Shape;96;p4"/>
          <p:cNvCxnSpPr>
            <a:stCxn id="94" idx="3"/>
            <a:endCxn id="95" idx="1"/>
          </p:cNvCxnSpPr>
          <p:nvPr/>
        </p:nvCxnSpPr>
        <p:spPr>
          <a:xfrm>
            <a:off x="9401175" y="4319588"/>
            <a:ext cx="333300" cy="0"/>
          </a:xfrm>
          <a:prstGeom prst="straightConnector1">
            <a:avLst/>
          </a:prstGeom>
          <a:noFill/>
          <a:ln cap="flat" cmpd="sng" w="23800">
            <a:solidFill>
              <a:srgbClr val="154734"/>
            </a:solidFill>
            <a:prstDash val="solid"/>
            <a:round/>
            <a:headEnd len="sm" w="sm" type="none"/>
            <a:tailEnd len="med" w="med" type="stealth"/>
          </a:ln>
        </p:spPr>
      </p:cxnSp>
      <p:sp>
        <p:nvSpPr>
          <p:cNvPr id="97" name="Google Shape;97;p4"/>
          <p:cNvSpPr/>
          <p:nvPr/>
        </p:nvSpPr>
        <p:spPr>
          <a:xfrm>
            <a:off x="523875" y="4991100"/>
            <a:ext cx="6334125"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65736B"/>
                </a:solidFill>
                <a:latin typeface="Calibri"/>
                <a:ea typeface="Calibri"/>
                <a:cs typeface="Calibri"/>
                <a:sym typeface="Calibri"/>
              </a:rPr>
              <a:t>Orders and status updates</a:t>
            </a:r>
            <a:endParaRPr/>
          </a:p>
        </p:txBody>
      </p:sp>
      <p:sp>
        <p:nvSpPr>
          <p:cNvPr id="98" name="Google Shape;98;p4"/>
          <p:cNvSpPr/>
          <p:nvPr/>
        </p:nvSpPr>
        <p:spPr>
          <a:xfrm>
            <a:off x="7810500" y="4991100"/>
            <a:ext cx="3838575" cy="552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65736B"/>
                </a:solidFill>
                <a:latin typeface="Calibri"/>
                <a:ea typeface="Calibri"/>
                <a:cs typeface="Calibri"/>
                <a:sym typeface="Calibri"/>
              </a:rPr>
              <a:t>Restaurant receives funds</a:t>
            </a:r>
            <a:endParaRPr/>
          </a:p>
        </p:txBody>
      </p:sp>
      <p:sp>
        <p:nvSpPr>
          <p:cNvPr id="99" name="Google Shape;99;p4"/>
          <p:cNvSpPr/>
          <p:nvPr/>
        </p:nvSpPr>
        <p:spPr>
          <a:xfrm>
            <a:off x="523875" y="5715000"/>
            <a:ext cx="11144250" cy="571500"/>
          </a:xfrm>
          <a:prstGeom prst="roundRect">
            <a:avLst>
              <a:gd fmla="val 20000" name="adj"/>
            </a:avLst>
          </a:prstGeom>
          <a:solidFill>
            <a:srgbClr val="FFB8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
          <p:cNvSpPr/>
          <p:nvPr/>
        </p:nvSpPr>
        <p:spPr>
          <a:xfrm>
            <a:off x="752475" y="5886450"/>
            <a:ext cx="1068705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154734"/>
                </a:solidFill>
                <a:latin typeface="Calibri"/>
                <a:ea typeface="Calibri"/>
                <a:cs typeface="Calibri"/>
                <a:sym typeface="Calibri"/>
              </a:rPr>
              <a:t>Pickup capacity follows the kitchen. Ordering ahead must not overload it.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 name="Shape 105"/>
        <p:cNvGrpSpPr/>
        <p:nvPr/>
      </p:nvGrpSpPr>
      <p:grpSpPr>
        <a:xfrm>
          <a:off x="0" y="0"/>
          <a:ext cx="0" cy="0"/>
          <a:chOff x="0" y="0"/>
          <a:chExt cx="0" cy="0"/>
        </a:xfrm>
      </p:grpSpPr>
      <p:sp>
        <p:nvSpPr>
          <p:cNvPr id="106" name="Google Shape;106;p5"/>
          <p:cNvSpPr/>
          <p:nvPr/>
        </p:nvSpPr>
        <p:spPr>
          <a:xfrm>
            <a:off x="514350" y="428625"/>
            <a:ext cx="8477250" cy="628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154734"/>
                </a:solidFill>
                <a:latin typeface="Calibri"/>
                <a:ea typeface="Calibri"/>
                <a:cs typeface="Calibri"/>
                <a:sym typeface="Calibri"/>
              </a:rPr>
              <a:t>uofrEats value and competitors</a:t>
            </a:r>
            <a:endParaRPr/>
          </a:p>
        </p:txBody>
      </p:sp>
      <p:sp>
        <p:nvSpPr>
          <p:cNvPr id="107" name="Google Shape;107;p5"/>
          <p:cNvSpPr/>
          <p:nvPr/>
        </p:nvSpPr>
        <p:spPr>
          <a:xfrm>
            <a:off x="9286875" y="409575"/>
            <a:ext cx="2381250" cy="361950"/>
          </a:xfrm>
          <a:prstGeom prst="roundRect">
            <a:avLst>
              <a:gd fmla="val 39474" name="adj"/>
            </a:avLst>
          </a:prstGeom>
          <a:solidFill>
            <a:srgbClr val="FFB8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
          <p:cNvSpPr/>
          <p:nvPr/>
        </p:nvSpPr>
        <p:spPr>
          <a:xfrm>
            <a:off x="9382125" y="485775"/>
            <a:ext cx="2190750" cy="2190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200">
                <a:solidFill>
                  <a:srgbClr val="154734"/>
                </a:solidFill>
                <a:latin typeface="Calibri"/>
                <a:ea typeface="Calibri"/>
                <a:cs typeface="Calibri"/>
                <a:sym typeface="Calibri"/>
              </a:rPr>
              <a:t>VALUE + STRATEGY</a:t>
            </a:r>
            <a:endParaRPr/>
          </a:p>
        </p:txBody>
      </p:sp>
      <p:cxnSp>
        <p:nvCxnSpPr>
          <p:cNvPr id="109" name="Google Shape;109;p5"/>
          <p:cNvCxnSpPr/>
          <p:nvPr/>
        </p:nvCxnSpPr>
        <p:spPr>
          <a:xfrm>
            <a:off x="0" y="6819900"/>
            <a:ext cx="12191695" cy="0"/>
          </a:xfrm>
          <a:prstGeom prst="straightConnector1">
            <a:avLst/>
          </a:prstGeom>
          <a:noFill/>
          <a:ln cap="flat" cmpd="sng" w="47625">
            <a:solidFill>
              <a:srgbClr val="FFB81C"/>
            </a:solidFill>
            <a:prstDash val="solid"/>
            <a:round/>
            <a:headEnd len="sm" w="sm" type="none"/>
            <a:tailEnd len="sm" w="sm" type="none"/>
          </a:ln>
        </p:spPr>
      </p:cxnSp>
      <p:sp>
        <p:nvSpPr>
          <p:cNvPr id="110" name="Google Shape;110;p5"/>
          <p:cNvSpPr/>
          <p:nvPr/>
        </p:nvSpPr>
        <p:spPr>
          <a:xfrm>
            <a:off x="11477625" y="6419850"/>
            <a:ext cx="285750" cy="2095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lang="en-US" sz="1050">
                <a:solidFill>
                  <a:srgbClr val="65736B"/>
                </a:solidFill>
                <a:latin typeface="Calibri"/>
                <a:ea typeface="Calibri"/>
                <a:cs typeface="Calibri"/>
                <a:sym typeface="Calibri"/>
              </a:rPr>
              <a:t>5</a:t>
            </a:r>
            <a:endParaRPr/>
          </a:p>
        </p:txBody>
      </p:sp>
      <p:graphicFrame>
        <p:nvGraphicFramePr>
          <p:cNvPr id="111" name="Google Shape;111;p5"/>
          <p:cNvGraphicFramePr/>
          <p:nvPr/>
        </p:nvGraphicFramePr>
        <p:xfrm>
          <a:off x="523875" y="1428750"/>
          <a:ext cx="3000000" cy="3000000"/>
        </p:xfrm>
        <a:graphic>
          <a:graphicData uri="http://schemas.openxmlformats.org/drawingml/2006/table">
            <a:tbl>
              <a:tblPr>
                <a:noFill/>
                <a:tableStyleId>{7788B9B1-F278-4A7A-A6D5-9AABFE0BA978}</a:tableStyleId>
              </a:tblPr>
              <a:tblGrid>
                <a:gridCol w="2619375"/>
                <a:gridCol w="4000500"/>
                <a:gridCol w="4524375"/>
              </a:tblGrid>
              <a:tr h="800100">
                <a:tc>
                  <a:txBody>
                    <a:bodyPr/>
                    <a:lstStyle/>
                    <a:p>
                      <a:pPr indent="0" lvl="0" marL="0" marR="0" rtl="0" algn="l">
                        <a:spcBef>
                          <a:spcPts val="0"/>
                        </a:spcBef>
                        <a:spcAft>
                          <a:spcPts val="0"/>
                        </a:spcAft>
                        <a:buClr>
                          <a:srgbClr val="FFFFFF"/>
                        </a:buClr>
                        <a:buSzPts val="1650"/>
                        <a:buFont typeface="Calibri"/>
                        <a:buNone/>
                      </a:pPr>
                      <a:r>
                        <a:rPr b="1" lang="en-US" sz="1650" u="none" cap="none" strike="noStrike">
                          <a:solidFill>
                            <a:srgbClr val="FFFFFF"/>
                          </a:solidFill>
                          <a:latin typeface="Calibri"/>
                          <a:ea typeface="Calibri"/>
                          <a:cs typeface="Calibri"/>
                          <a:sym typeface="Calibri"/>
                        </a:rPr>
                        <a:t>Selected comparison</a:t>
                      </a:r>
                      <a:endParaRPr/>
                    </a:p>
                  </a:txBody>
                  <a:tcPr marT="45725" marB="45725" marR="91450" marL="91450" anchor="ctr">
                    <a:solidFill>
                      <a:srgbClr val="154734"/>
                    </a:solidFill>
                  </a:tcPr>
                </a:tc>
                <a:tc>
                  <a:txBody>
                    <a:bodyPr/>
                    <a:lstStyle/>
                    <a:p>
                      <a:pPr indent="0" lvl="0" marL="0" marR="0" rtl="0" algn="l">
                        <a:spcBef>
                          <a:spcPts val="0"/>
                        </a:spcBef>
                        <a:spcAft>
                          <a:spcPts val="0"/>
                        </a:spcAft>
                        <a:buClr>
                          <a:srgbClr val="FFFFFF"/>
                        </a:buClr>
                        <a:buSzPts val="1650"/>
                        <a:buFont typeface="Calibri"/>
                        <a:buNone/>
                      </a:pPr>
                      <a:r>
                        <a:rPr b="1" lang="en-US" sz="1650">
                          <a:solidFill>
                            <a:srgbClr val="FFFFFF"/>
                          </a:solidFill>
                          <a:latin typeface="Calibri"/>
                          <a:ea typeface="Calibri"/>
                          <a:cs typeface="Calibri"/>
                          <a:sym typeface="Calibri"/>
                        </a:rPr>
                        <a:t>Existing experience</a:t>
                      </a:r>
                      <a:endParaRPr/>
                    </a:p>
                  </a:txBody>
                  <a:tcPr marT="45725" marB="45725" marR="91450" marL="91450" anchor="ctr">
                    <a:solidFill>
                      <a:srgbClr val="154734"/>
                    </a:solidFill>
                  </a:tcPr>
                </a:tc>
                <a:tc>
                  <a:txBody>
                    <a:bodyPr/>
                    <a:lstStyle/>
                    <a:p>
                      <a:pPr indent="0" lvl="0" marL="0" marR="0" rtl="0" algn="l">
                        <a:spcBef>
                          <a:spcPts val="0"/>
                        </a:spcBef>
                        <a:spcAft>
                          <a:spcPts val="0"/>
                        </a:spcAft>
                        <a:buClr>
                          <a:srgbClr val="FFFFFF"/>
                        </a:buClr>
                        <a:buSzPts val="1650"/>
                        <a:buFont typeface="Calibri"/>
                        <a:buNone/>
                      </a:pPr>
                      <a:r>
                        <a:rPr b="1" lang="en-US" sz="1650">
                          <a:solidFill>
                            <a:srgbClr val="FFFFFF"/>
                          </a:solidFill>
                          <a:latin typeface="Calibri"/>
                          <a:ea typeface="Calibri"/>
                          <a:cs typeface="Calibri"/>
                          <a:sym typeface="Calibri"/>
                        </a:rPr>
                        <a:t>uofrEats proposed focus</a:t>
                      </a:r>
                      <a:endParaRPr/>
                    </a:p>
                  </a:txBody>
                  <a:tcPr marT="45725" marB="45725" marR="91450" marL="91450" anchor="ctr">
                    <a:solidFill>
                      <a:srgbClr val="154734"/>
                    </a:solidFill>
                  </a:tcPr>
                </a:tc>
              </a:tr>
              <a:tr h="800100">
                <a:tc>
                  <a:txBody>
                    <a:bodyPr/>
                    <a:lstStyle/>
                    <a:p>
                      <a:pPr indent="0" lvl="0" marL="0" marR="0" rtl="0" algn="l">
                        <a:spcBef>
                          <a:spcPts val="0"/>
                        </a:spcBef>
                        <a:spcAft>
                          <a:spcPts val="0"/>
                        </a:spcAft>
                        <a:buClr>
                          <a:srgbClr val="1A1A1A"/>
                        </a:buClr>
                        <a:buSzPts val="1725"/>
                        <a:buFont typeface="Calibri"/>
                        <a:buNone/>
                      </a:pPr>
                      <a:r>
                        <a:rPr b="1" lang="en-US" sz="1725">
                          <a:solidFill>
                            <a:srgbClr val="1A1A1A"/>
                          </a:solidFill>
                          <a:latin typeface="Calibri"/>
                          <a:ea typeface="Calibri"/>
                          <a:cs typeface="Calibri"/>
                          <a:sym typeface="Calibri"/>
                        </a:rPr>
                        <a:t>UofR Dining / UR OneCard</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Dining information and prepaid meal-plan payments</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Order and pay per purchase, including students without meal plans</a:t>
                      </a:r>
                      <a:endParaRPr/>
                    </a:p>
                  </a:txBody>
                  <a:tcPr marT="45725" marB="45725" marR="91450" marL="91450" anchor="ctr">
                    <a:solidFill>
                      <a:srgbClr val="FFFFFF"/>
                    </a:solidFill>
                  </a:tcPr>
                </a:tc>
              </a:tr>
              <a:tr h="800100">
                <a:tc>
                  <a:txBody>
                    <a:bodyPr/>
                    <a:lstStyle/>
                    <a:p>
                      <a:pPr indent="0" lvl="0" marL="0" marR="0" rtl="0" algn="l">
                        <a:spcBef>
                          <a:spcPts val="0"/>
                        </a:spcBef>
                        <a:spcAft>
                          <a:spcPts val="0"/>
                        </a:spcAft>
                        <a:buClr>
                          <a:srgbClr val="1A1A1A"/>
                        </a:buClr>
                        <a:buSzPts val="1725"/>
                        <a:buFont typeface="Calibri"/>
                        <a:buNone/>
                      </a:pPr>
                      <a:r>
                        <a:rPr b="1" lang="en-US" sz="1725">
                          <a:solidFill>
                            <a:srgbClr val="1A1A1A"/>
                          </a:solidFill>
                          <a:latin typeface="Calibri"/>
                          <a:ea typeface="Calibri"/>
                          <a:cs typeface="Calibri"/>
                          <a:sym typeface="Calibri"/>
                        </a:rPr>
                        <a:t>Uber Eats</a:t>
                      </a:r>
                      <a:endParaRPr/>
                    </a:p>
                  </a:txBody>
                  <a:tcPr marT="45725" marB="45725" marR="91450" marL="91450" anchor="ctr">
                    <a:solidFill>
                      <a:srgbClr val="EAF2EE"/>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Many local restaurants, delivery and scheduled pickup</a:t>
                      </a:r>
                      <a:endParaRPr/>
                    </a:p>
                  </a:txBody>
                  <a:tcPr marT="45725" marB="45725" marR="91450" marL="91450" anchor="ctr">
                    <a:solidFill>
                      <a:srgbClr val="EAF2EE"/>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A campus-only vendor view shaped around class breaks and kitchen capacity</a:t>
                      </a:r>
                      <a:endParaRPr/>
                    </a:p>
                  </a:txBody>
                  <a:tcPr marT="45725" marB="45725" marR="91450" marL="91450" anchor="ctr">
                    <a:solidFill>
                      <a:srgbClr val="EAF2EE"/>
                    </a:solidFill>
                  </a:tcPr>
                </a:tc>
              </a:tr>
            </a:tbl>
          </a:graphicData>
        </a:graphic>
      </p:graphicFrame>
      <p:sp>
        <p:nvSpPr>
          <p:cNvPr id="112" name="Google Shape;112;p5"/>
          <p:cNvSpPr/>
          <p:nvPr/>
        </p:nvSpPr>
        <p:spPr>
          <a:xfrm>
            <a:off x="523875" y="4076700"/>
            <a:ext cx="1095375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54734"/>
                </a:solidFill>
                <a:latin typeface="Calibri"/>
                <a:ea typeface="Calibri"/>
                <a:cs typeface="Calibri"/>
                <a:sym typeface="Calibri"/>
              </a:rPr>
              <a:t>PROPOSED UNIQUE VALUE</a:t>
            </a:r>
            <a:endParaRPr/>
          </a:p>
        </p:txBody>
      </p:sp>
      <p:sp>
        <p:nvSpPr>
          <p:cNvPr id="113" name="Google Shape;113;p5"/>
          <p:cNvSpPr/>
          <p:nvPr/>
        </p:nvSpPr>
        <p:spPr>
          <a:xfrm>
            <a:off x="523875" y="4371975"/>
            <a:ext cx="11115675" cy="6762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400">
                <a:solidFill>
                  <a:srgbClr val="154734"/>
                </a:solidFill>
                <a:latin typeface="Calibri"/>
                <a:ea typeface="Calibri"/>
                <a:cs typeface="Calibri"/>
                <a:sym typeface="Calibri"/>
              </a:rPr>
              <a:t>One campus ordering space, with pickup capacity controlled by each vendor</a:t>
            </a:r>
            <a:endParaRPr/>
          </a:p>
        </p:txBody>
      </p:sp>
      <p:sp>
        <p:nvSpPr>
          <p:cNvPr id="114" name="Google Shape;114;p5"/>
          <p:cNvSpPr/>
          <p:nvPr/>
        </p:nvSpPr>
        <p:spPr>
          <a:xfrm>
            <a:off x="523875" y="5219700"/>
            <a:ext cx="11049000" cy="3714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725">
                <a:solidFill>
                  <a:srgbClr val="1A1A1A"/>
                </a:solidFill>
                <a:latin typeface="Calibri"/>
                <a:ea typeface="Calibri"/>
                <a:cs typeface="Calibri"/>
                <a:sym typeface="Calibri"/>
              </a:rPr>
              <a:t>Strategy: start with one vendor, test pickup reliability, then expand campus coverage.</a:t>
            </a:r>
            <a:endParaRPr/>
          </a:p>
        </p:txBody>
      </p:sp>
      <p:sp>
        <p:nvSpPr>
          <p:cNvPr id="115" name="Google Shape;115;p5"/>
          <p:cNvSpPr/>
          <p:nvPr/>
        </p:nvSpPr>
        <p:spPr>
          <a:xfrm>
            <a:off x="523875" y="5724525"/>
            <a:ext cx="11087100" cy="523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65736B"/>
                </a:solidFill>
                <a:latin typeface="Calibri"/>
                <a:ea typeface="Calibri"/>
                <a:cs typeface="Calibri"/>
                <a:sym typeface="Calibri"/>
              </a:rPr>
              <a:t>Coverage check: the campus curry outlet is on Uber Eats. Other outlets need verification.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 name="Shape 120"/>
        <p:cNvGrpSpPr/>
        <p:nvPr/>
      </p:nvGrpSpPr>
      <p:grpSpPr>
        <a:xfrm>
          <a:off x="0" y="0"/>
          <a:ext cx="0" cy="0"/>
          <a:chOff x="0" y="0"/>
          <a:chExt cx="0" cy="0"/>
        </a:xfrm>
      </p:grpSpPr>
      <p:sp>
        <p:nvSpPr>
          <p:cNvPr id="121" name="Google Shape;121;p6"/>
          <p:cNvSpPr/>
          <p:nvPr/>
        </p:nvSpPr>
        <p:spPr>
          <a:xfrm>
            <a:off x="514350" y="428625"/>
            <a:ext cx="8477250" cy="628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154734"/>
                </a:solidFill>
                <a:latin typeface="Calibri"/>
                <a:ea typeface="Calibri"/>
                <a:cs typeface="Calibri"/>
                <a:sym typeface="Calibri"/>
              </a:rPr>
              <a:t>uofrEats research phases</a:t>
            </a:r>
            <a:endParaRPr/>
          </a:p>
        </p:txBody>
      </p:sp>
      <p:sp>
        <p:nvSpPr>
          <p:cNvPr id="122" name="Google Shape;122;p6"/>
          <p:cNvSpPr/>
          <p:nvPr/>
        </p:nvSpPr>
        <p:spPr>
          <a:xfrm>
            <a:off x="9286875" y="409575"/>
            <a:ext cx="2381250" cy="361950"/>
          </a:xfrm>
          <a:prstGeom prst="roundRect">
            <a:avLst>
              <a:gd fmla="val 39474" name="adj"/>
            </a:avLst>
          </a:prstGeom>
          <a:solidFill>
            <a:srgbClr val="FFB8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6"/>
          <p:cNvSpPr/>
          <p:nvPr/>
        </p:nvSpPr>
        <p:spPr>
          <a:xfrm>
            <a:off x="9382125" y="485775"/>
            <a:ext cx="2190750" cy="2190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200">
                <a:solidFill>
                  <a:srgbClr val="154734"/>
                </a:solidFill>
                <a:latin typeface="Calibri"/>
                <a:ea typeface="Calibri"/>
                <a:cs typeface="Calibri"/>
                <a:sym typeface="Calibri"/>
              </a:rPr>
              <a:t>HOW / PDSA</a:t>
            </a:r>
            <a:endParaRPr/>
          </a:p>
        </p:txBody>
      </p:sp>
      <p:cxnSp>
        <p:nvCxnSpPr>
          <p:cNvPr id="124" name="Google Shape;124;p6"/>
          <p:cNvCxnSpPr/>
          <p:nvPr/>
        </p:nvCxnSpPr>
        <p:spPr>
          <a:xfrm>
            <a:off x="0" y="6819900"/>
            <a:ext cx="12191695" cy="0"/>
          </a:xfrm>
          <a:prstGeom prst="straightConnector1">
            <a:avLst/>
          </a:prstGeom>
          <a:noFill/>
          <a:ln cap="flat" cmpd="sng" w="47625">
            <a:solidFill>
              <a:srgbClr val="FFB81C"/>
            </a:solidFill>
            <a:prstDash val="solid"/>
            <a:round/>
            <a:headEnd len="sm" w="sm" type="none"/>
            <a:tailEnd len="sm" w="sm" type="none"/>
          </a:ln>
        </p:spPr>
      </p:cxnSp>
      <p:sp>
        <p:nvSpPr>
          <p:cNvPr id="125" name="Google Shape;125;p6"/>
          <p:cNvSpPr/>
          <p:nvPr/>
        </p:nvSpPr>
        <p:spPr>
          <a:xfrm>
            <a:off x="11477625" y="6419850"/>
            <a:ext cx="285750" cy="2095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lang="en-US" sz="1050">
                <a:solidFill>
                  <a:srgbClr val="65736B"/>
                </a:solidFill>
                <a:latin typeface="Calibri"/>
                <a:ea typeface="Calibri"/>
                <a:cs typeface="Calibri"/>
                <a:sym typeface="Calibri"/>
              </a:rPr>
              <a:t>6</a:t>
            </a:r>
            <a:endParaRPr/>
          </a:p>
        </p:txBody>
      </p:sp>
      <p:sp>
        <p:nvSpPr>
          <p:cNvPr id="126" name="Google Shape;126;p6"/>
          <p:cNvSpPr/>
          <p:nvPr/>
        </p:nvSpPr>
        <p:spPr>
          <a:xfrm>
            <a:off x="523875" y="1438275"/>
            <a:ext cx="238125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FFB81C"/>
                </a:solidFill>
                <a:latin typeface="Calibri"/>
                <a:ea typeface="Calibri"/>
                <a:cs typeface="Calibri"/>
                <a:sym typeface="Calibri"/>
              </a:rPr>
              <a:t>01</a:t>
            </a:r>
            <a:endParaRPr/>
          </a:p>
        </p:txBody>
      </p:sp>
      <p:sp>
        <p:nvSpPr>
          <p:cNvPr id="127" name="Google Shape;127;p6"/>
          <p:cNvSpPr/>
          <p:nvPr/>
        </p:nvSpPr>
        <p:spPr>
          <a:xfrm>
            <a:off x="523875" y="2066925"/>
            <a:ext cx="2333625" cy="333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154734"/>
                </a:solidFill>
                <a:latin typeface="Calibri"/>
                <a:ea typeface="Calibri"/>
                <a:cs typeface="Calibri"/>
                <a:sym typeface="Calibri"/>
              </a:rPr>
              <a:t>PLAN</a:t>
            </a:r>
            <a:endParaRPr/>
          </a:p>
        </p:txBody>
      </p:sp>
      <p:cxnSp>
        <p:nvCxnSpPr>
          <p:cNvPr id="128" name="Google Shape;128;p6"/>
          <p:cNvCxnSpPr/>
          <p:nvPr/>
        </p:nvCxnSpPr>
        <p:spPr>
          <a:xfrm>
            <a:off x="523875" y="2486025"/>
            <a:ext cx="2352675" cy="0"/>
          </a:xfrm>
          <a:prstGeom prst="straightConnector1">
            <a:avLst/>
          </a:prstGeom>
          <a:noFill/>
          <a:ln cap="flat" cmpd="sng" w="19050">
            <a:solidFill>
              <a:srgbClr val="CDDBD3"/>
            </a:solidFill>
            <a:prstDash val="solid"/>
            <a:round/>
            <a:headEnd len="sm" w="sm" type="none"/>
            <a:tailEnd len="sm" w="sm" type="none"/>
          </a:ln>
        </p:spPr>
      </p:cxnSp>
      <p:sp>
        <p:nvSpPr>
          <p:cNvPr id="129" name="Google Shape;129;p6"/>
          <p:cNvSpPr/>
          <p:nvPr/>
        </p:nvSpPr>
        <p:spPr>
          <a:xfrm>
            <a:off x="523875" y="2676525"/>
            <a:ext cx="2352675" cy="1809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1A1A1A"/>
                </a:solidFill>
                <a:latin typeface="Calibri"/>
                <a:ea typeface="Calibri"/>
                <a:cs typeface="Calibri"/>
                <a:sym typeface="Calibri"/>
              </a:rPr>
              <a:t>Interview students and map Manmeet's peak-hour workflow.</a:t>
            </a:r>
            <a:endParaRPr/>
          </a:p>
        </p:txBody>
      </p:sp>
      <p:sp>
        <p:nvSpPr>
          <p:cNvPr id="130" name="Google Shape;130;p6"/>
          <p:cNvSpPr/>
          <p:nvPr/>
        </p:nvSpPr>
        <p:spPr>
          <a:xfrm>
            <a:off x="3362325" y="1438275"/>
            <a:ext cx="238125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FFB81C"/>
                </a:solidFill>
                <a:latin typeface="Calibri"/>
                <a:ea typeface="Calibri"/>
                <a:cs typeface="Calibri"/>
                <a:sym typeface="Calibri"/>
              </a:rPr>
              <a:t>02</a:t>
            </a:r>
            <a:endParaRPr/>
          </a:p>
        </p:txBody>
      </p:sp>
      <p:sp>
        <p:nvSpPr>
          <p:cNvPr id="131" name="Google Shape;131;p6"/>
          <p:cNvSpPr/>
          <p:nvPr/>
        </p:nvSpPr>
        <p:spPr>
          <a:xfrm>
            <a:off x="3362325" y="2066925"/>
            <a:ext cx="2333625" cy="333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154734"/>
                </a:solidFill>
                <a:latin typeface="Calibri"/>
                <a:ea typeface="Calibri"/>
                <a:cs typeface="Calibri"/>
                <a:sym typeface="Calibri"/>
              </a:rPr>
              <a:t>DO</a:t>
            </a:r>
            <a:endParaRPr/>
          </a:p>
        </p:txBody>
      </p:sp>
      <p:cxnSp>
        <p:nvCxnSpPr>
          <p:cNvPr id="132" name="Google Shape;132;p6"/>
          <p:cNvCxnSpPr/>
          <p:nvPr/>
        </p:nvCxnSpPr>
        <p:spPr>
          <a:xfrm>
            <a:off x="3362325" y="2486025"/>
            <a:ext cx="2352675" cy="0"/>
          </a:xfrm>
          <a:prstGeom prst="straightConnector1">
            <a:avLst/>
          </a:prstGeom>
          <a:noFill/>
          <a:ln cap="flat" cmpd="sng" w="19050">
            <a:solidFill>
              <a:srgbClr val="CDDBD3"/>
            </a:solidFill>
            <a:prstDash val="solid"/>
            <a:round/>
            <a:headEnd len="sm" w="sm" type="none"/>
            <a:tailEnd len="sm" w="sm" type="none"/>
          </a:ln>
        </p:spPr>
      </p:cxnSp>
      <p:sp>
        <p:nvSpPr>
          <p:cNvPr id="133" name="Google Shape;133;p6"/>
          <p:cNvSpPr/>
          <p:nvPr/>
        </p:nvSpPr>
        <p:spPr>
          <a:xfrm>
            <a:off x="3362325" y="2676525"/>
            <a:ext cx="2352675" cy="1809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1A1A1A"/>
                </a:solidFill>
                <a:latin typeface="Calibri"/>
                <a:ea typeface="Calibri"/>
                <a:cs typeface="Calibri"/>
                <a:sym typeface="Calibri"/>
              </a:rPr>
              <a:t>Test an ordering prototype and a vendor order screen.</a:t>
            </a:r>
            <a:endParaRPr/>
          </a:p>
        </p:txBody>
      </p:sp>
      <p:sp>
        <p:nvSpPr>
          <p:cNvPr id="134" name="Google Shape;134;p6"/>
          <p:cNvSpPr/>
          <p:nvPr/>
        </p:nvSpPr>
        <p:spPr>
          <a:xfrm>
            <a:off x="6200775" y="1438275"/>
            <a:ext cx="238125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FFB81C"/>
                </a:solidFill>
                <a:latin typeface="Calibri"/>
                <a:ea typeface="Calibri"/>
                <a:cs typeface="Calibri"/>
                <a:sym typeface="Calibri"/>
              </a:rPr>
              <a:t>03</a:t>
            </a:r>
            <a:endParaRPr/>
          </a:p>
        </p:txBody>
      </p:sp>
      <p:sp>
        <p:nvSpPr>
          <p:cNvPr id="135" name="Google Shape;135;p6"/>
          <p:cNvSpPr/>
          <p:nvPr/>
        </p:nvSpPr>
        <p:spPr>
          <a:xfrm>
            <a:off x="6200775" y="2066925"/>
            <a:ext cx="2333625" cy="333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154734"/>
                </a:solidFill>
                <a:latin typeface="Calibri"/>
                <a:ea typeface="Calibri"/>
                <a:cs typeface="Calibri"/>
                <a:sym typeface="Calibri"/>
              </a:rPr>
              <a:t>STUDY</a:t>
            </a:r>
            <a:endParaRPr/>
          </a:p>
        </p:txBody>
      </p:sp>
      <p:cxnSp>
        <p:nvCxnSpPr>
          <p:cNvPr id="136" name="Google Shape;136;p6"/>
          <p:cNvCxnSpPr/>
          <p:nvPr/>
        </p:nvCxnSpPr>
        <p:spPr>
          <a:xfrm>
            <a:off x="6200775" y="2486025"/>
            <a:ext cx="2352675" cy="0"/>
          </a:xfrm>
          <a:prstGeom prst="straightConnector1">
            <a:avLst/>
          </a:prstGeom>
          <a:noFill/>
          <a:ln cap="flat" cmpd="sng" w="19050">
            <a:solidFill>
              <a:srgbClr val="CDDBD3"/>
            </a:solidFill>
            <a:prstDash val="solid"/>
            <a:round/>
            <a:headEnd len="sm" w="sm" type="none"/>
            <a:tailEnd len="sm" w="sm" type="none"/>
          </a:ln>
        </p:spPr>
      </p:cxnSp>
      <p:sp>
        <p:nvSpPr>
          <p:cNvPr id="137" name="Google Shape;137;p6"/>
          <p:cNvSpPr/>
          <p:nvPr/>
        </p:nvSpPr>
        <p:spPr>
          <a:xfrm>
            <a:off x="6200775" y="2676525"/>
            <a:ext cx="2352675" cy="1809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1A1A1A"/>
                </a:solidFill>
                <a:latin typeface="Calibri"/>
                <a:ea typeface="Calibri"/>
                <a:cs typeface="Calibri"/>
                <a:sym typeface="Calibri"/>
              </a:rPr>
              <a:t>Compare pickup wait, readiness and staff handling time.</a:t>
            </a:r>
            <a:endParaRPr/>
          </a:p>
        </p:txBody>
      </p:sp>
      <p:sp>
        <p:nvSpPr>
          <p:cNvPr id="138" name="Google Shape;138;p6"/>
          <p:cNvSpPr/>
          <p:nvPr/>
        </p:nvSpPr>
        <p:spPr>
          <a:xfrm>
            <a:off x="9039225" y="1438275"/>
            <a:ext cx="238125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FFB81C"/>
                </a:solidFill>
                <a:latin typeface="Calibri"/>
                <a:ea typeface="Calibri"/>
                <a:cs typeface="Calibri"/>
                <a:sym typeface="Calibri"/>
              </a:rPr>
              <a:t>04</a:t>
            </a:r>
            <a:endParaRPr/>
          </a:p>
        </p:txBody>
      </p:sp>
      <p:sp>
        <p:nvSpPr>
          <p:cNvPr id="139" name="Google Shape;139;p6"/>
          <p:cNvSpPr/>
          <p:nvPr/>
        </p:nvSpPr>
        <p:spPr>
          <a:xfrm>
            <a:off x="9039225" y="2066925"/>
            <a:ext cx="2333625" cy="333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154734"/>
                </a:solidFill>
                <a:latin typeface="Calibri"/>
                <a:ea typeface="Calibri"/>
                <a:cs typeface="Calibri"/>
                <a:sym typeface="Calibri"/>
              </a:rPr>
              <a:t>ACT</a:t>
            </a:r>
            <a:endParaRPr/>
          </a:p>
        </p:txBody>
      </p:sp>
      <p:cxnSp>
        <p:nvCxnSpPr>
          <p:cNvPr id="140" name="Google Shape;140;p6"/>
          <p:cNvCxnSpPr/>
          <p:nvPr/>
        </p:nvCxnSpPr>
        <p:spPr>
          <a:xfrm>
            <a:off x="9039225" y="2486025"/>
            <a:ext cx="2352675" cy="0"/>
          </a:xfrm>
          <a:prstGeom prst="straightConnector1">
            <a:avLst/>
          </a:prstGeom>
          <a:noFill/>
          <a:ln cap="flat" cmpd="sng" w="19050">
            <a:solidFill>
              <a:srgbClr val="CDDBD3"/>
            </a:solidFill>
            <a:prstDash val="solid"/>
            <a:round/>
            <a:headEnd len="sm" w="sm" type="none"/>
            <a:tailEnd len="sm" w="sm" type="none"/>
          </a:ln>
        </p:spPr>
      </p:cxnSp>
      <p:sp>
        <p:nvSpPr>
          <p:cNvPr id="141" name="Google Shape;141;p6"/>
          <p:cNvSpPr/>
          <p:nvPr/>
        </p:nvSpPr>
        <p:spPr>
          <a:xfrm>
            <a:off x="9039225" y="2676525"/>
            <a:ext cx="2352675" cy="1809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1A1A1A"/>
                </a:solidFill>
                <a:latin typeface="Calibri"/>
                <a:ea typeface="Calibri"/>
                <a:cs typeface="Calibri"/>
                <a:sym typeface="Calibri"/>
              </a:rPr>
              <a:t>Adjust slot capacity, order acceptance and pickup details.</a:t>
            </a:r>
            <a:endParaRPr/>
          </a:p>
        </p:txBody>
      </p:sp>
      <p:sp>
        <p:nvSpPr>
          <p:cNvPr id="142" name="Google Shape;142;p6"/>
          <p:cNvSpPr/>
          <p:nvPr/>
        </p:nvSpPr>
        <p:spPr>
          <a:xfrm>
            <a:off x="523875" y="4591050"/>
            <a:ext cx="11144250" cy="771525"/>
          </a:xfrm>
          <a:prstGeom prst="rect">
            <a:avLst/>
          </a:prstGeom>
          <a:solidFill>
            <a:srgbClr val="EAF2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
          <p:cNvSpPr/>
          <p:nvPr/>
        </p:nvSpPr>
        <p:spPr>
          <a:xfrm>
            <a:off x="714375" y="4714875"/>
            <a:ext cx="107442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125">
                <a:solidFill>
                  <a:srgbClr val="154734"/>
                </a:solidFill>
                <a:latin typeface="Calibri"/>
                <a:ea typeface="Calibri"/>
                <a:cs typeface="Calibri"/>
                <a:sym typeface="Calibri"/>
              </a:rPr>
              <a:t>QUESTION TO TEST</a:t>
            </a:r>
            <a:endParaRPr/>
          </a:p>
        </p:txBody>
      </p:sp>
      <p:sp>
        <p:nvSpPr>
          <p:cNvPr id="144" name="Google Shape;144;p6"/>
          <p:cNvSpPr/>
          <p:nvPr/>
        </p:nvSpPr>
        <p:spPr>
          <a:xfrm>
            <a:off x="714375" y="4972050"/>
            <a:ext cx="1074420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75">
                <a:solidFill>
                  <a:srgbClr val="154734"/>
                </a:solidFill>
                <a:latin typeface="Calibri"/>
                <a:ea typeface="Calibri"/>
                <a:cs typeface="Calibri"/>
                <a:sym typeface="Calibri"/>
              </a:rPr>
              <a:t>Can scheduled orders reduce waiting without increasing staff workload?</a:t>
            </a:r>
            <a:endParaRPr/>
          </a:p>
        </p:txBody>
      </p:sp>
      <p:sp>
        <p:nvSpPr>
          <p:cNvPr id="145" name="Google Shape;145;p6"/>
          <p:cNvSpPr/>
          <p:nvPr/>
        </p:nvSpPr>
        <p:spPr>
          <a:xfrm>
            <a:off x="523875" y="5686425"/>
            <a:ext cx="1905000" cy="2952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75">
                <a:solidFill>
                  <a:srgbClr val="154734"/>
                </a:solidFill>
                <a:latin typeface="Calibri"/>
                <a:ea typeface="Calibri"/>
                <a:cs typeface="Calibri"/>
                <a:sym typeface="Calibri"/>
              </a:rPr>
              <a:t>First prototype</a:t>
            </a:r>
            <a:endParaRPr/>
          </a:p>
        </p:txBody>
      </p:sp>
      <p:sp>
        <p:nvSpPr>
          <p:cNvPr id="146" name="Google Shape;146;p6"/>
          <p:cNvSpPr/>
          <p:nvPr/>
        </p:nvSpPr>
        <p:spPr>
          <a:xfrm>
            <a:off x="2476500" y="5676900"/>
            <a:ext cx="912495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1A1A1A"/>
                </a:solidFill>
                <a:latin typeface="Calibri"/>
                <a:ea typeface="Calibri"/>
                <a:cs typeface="Calibri"/>
                <a:sym typeface="Calibri"/>
              </a:rPr>
              <a:t>One vendor, short menu, pickup slots, test payments and order status.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 name="Shape 151"/>
        <p:cNvGrpSpPr/>
        <p:nvPr/>
      </p:nvGrpSpPr>
      <p:grpSpPr>
        <a:xfrm>
          <a:off x="0" y="0"/>
          <a:ext cx="0" cy="0"/>
          <a:chOff x="0" y="0"/>
          <a:chExt cx="0" cy="0"/>
        </a:xfrm>
      </p:grpSpPr>
      <p:sp>
        <p:nvSpPr>
          <p:cNvPr id="152" name="Google Shape;152;p7"/>
          <p:cNvSpPr/>
          <p:nvPr/>
        </p:nvSpPr>
        <p:spPr>
          <a:xfrm>
            <a:off x="514350" y="428625"/>
            <a:ext cx="8477250" cy="628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154734"/>
                </a:solidFill>
                <a:latin typeface="Calibri"/>
                <a:ea typeface="Calibri"/>
                <a:cs typeface="Calibri"/>
                <a:sym typeface="Calibri"/>
              </a:rPr>
              <a:t>AI Learning Environment</a:t>
            </a:r>
            <a:endParaRPr/>
          </a:p>
        </p:txBody>
      </p:sp>
      <p:sp>
        <p:nvSpPr>
          <p:cNvPr id="153" name="Google Shape;153;p7"/>
          <p:cNvSpPr/>
          <p:nvPr/>
        </p:nvSpPr>
        <p:spPr>
          <a:xfrm>
            <a:off x="9286875" y="409575"/>
            <a:ext cx="2381250" cy="361950"/>
          </a:xfrm>
          <a:prstGeom prst="roundRect">
            <a:avLst>
              <a:gd fmla="val 39474" name="adj"/>
            </a:avLst>
          </a:prstGeom>
          <a:solidFill>
            <a:srgbClr val="FFB8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7"/>
          <p:cNvSpPr/>
          <p:nvPr/>
        </p:nvSpPr>
        <p:spPr>
          <a:xfrm>
            <a:off x="9382125" y="485775"/>
            <a:ext cx="2190750" cy="2190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200">
                <a:solidFill>
                  <a:srgbClr val="154734"/>
                </a:solidFill>
                <a:latin typeface="Calibri"/>
                <a:ea typeface="Calibri"/>
                <a:cs typeface="Calibri"/>
                <a:sym typeface="Calibri"/>
              </a:rPr>
              <a:t>DEFINITION + WHY</a:t>
            </a:r>
            <a:endParaRPr/>
          </a:p>
        </p:txBody>
      </p:sp>
      <p:cxnSp>
        <p:nvCxnSpPr>
          <p:cNvPr id="155" name="Google Shape;155;p7"/>
          <p:cNvCxnSpPr/>
          <p:nvPr/>
        </p:nvCxnSpPr>
        <p:spPr>
          <a:xfrm>
            <a:off x="0" y="6819900"/>
            <a:ext cx="12191695" cy="0"/>
          </a:xfrm>
          <a:prstGeom prst="straightConnector1">
            <a:avLst/>
          </a:prstGeom>
          <a:noFill/>
          <a:ln cap="flat" cmpd="sng" w="47625">
            <a:solidFill>
              <a:srgbClr val="FFB81C"/>
            </a:solidFill>
            <a:prstDash val="solid"/>
            <a:round/>
            <a:headEnd len="sm" w="sm" type="none"/>
            <a:tailEnd len="sm" w="sm" type="none"/>
          </a:ln>
        </p:spPr>
      </p:cxnSp>
      <p:sp>
        <p:nvSpPr>
          <p:cNvPr id="156" name="Google Shape;156;p7"/>
          <p:cNvSpPr/>
          <p:nvPr/>
        </p:nvSpPr>
        <p:spPr>
          <a:xfrm>
            <a:off x="11477625" y="6419850"/>
            <a:ext cx="285750" cy="2095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lang="en-US" sz="1050">
                <a:solidFill>
                  <a:srgbClr val="65736B"/>
                </a:solidFill>
                <a:latin typeface="Calibri"/>
                <a:ea typeface="Calibri"/>
                <a:cs typeface="Calibri"/>
                <a:sym typeface="Calibri"/>
              </a:rPr>
              <a:t>7</a:t>
            </a:r>
            <a:endParaRPr/>
          </a:p>
        </p:txBody>
      </p:sp>
      <p:sp>
        <p:nvSpPr>
          <p:cNvPr id="157" name="Google Shape;157;p7"/>
          <p:cNvSpPr/>
          <p:nvPr/>
        </p:nvSpPr>
        <p:spPr>
          <a:xfrm>
            <a:off x="523875" y="1409700"/>
            <a:ext cx="6191250" cy="9239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850">
                <a:solidFill>
                  <a:srgbClr val="154734"/>
                </a:solidFill>
                <a:latin typeface="Calibri"/>
                <a:ea typeface="Calibri"/>
                <a:cs typeface="Calibri"/>
                <a:sym typeface="Calibri"/>
              </a:rPr>
              <a:t>A student-designed learning workspace</a:t>
            </a:r>
            <a:endParaRPr/>
          </a:p>
        </p:txBody>
      </p:sp>
      <p:sp>
        <p:nvSpPr>
          <p:cNvPr id="158" name="Google Shape;158;p7"/>
          <p:cNvSpPr/>
          <p:nvPr/>
        </p:nvSpPr>
        <p:spPr>
          <a:xfrm>
            <a:off x="523875" y="2476500"/>
            <a:ext cx="6162675" cy="11334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250">
                <a:solidFill>
                  <a:srgbClr val="1A1A1A"/>
                </a:solidFill>
                <a:latin typeface="Calibri"/>
                <a:ea typeface="Calibri"/>
                <a:cs typeface="Calibri"/>
                <a:sym typeface="Calibri"/>
              </a:rPr>
              <a:t>Learn from your local course files through explanations, conversation, practice and planned review.</a:t>
            </a:r>
            <a:endParaRPr/>
          </a:p>
        </p:txBody>
      </p:sp>
      <p:sp>
        <p:nvSpPr>
          <p:cNvPr id="159" name="Google Shape;159;p7"/>
          <p:cNvSpPr/>
          <p:nvPr/>
        </p:nvSpPr>
        <p:spPr>
          <a:xfrm>
            <a:off x="523875" y="3952875"/>
            <a:ext cx="6076950" cy="2762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575">
                <a:solidFill>
                  <a:srgbClr val="154734"/>
                </a:solidFill>
                <a:latin typeface="Calibri"/>
                <a:ea typeface="Calibri"/>
                <a:cs typeface="Calibri"/>
                <a:sym typeface="Calibri"/>
              </a:rPr>
              <a:t>WHY THIS PROBLEM?</a:t>
            </a:r>
            <a:endParaRPr/>
          </a:p>
        </p:txBody>
      </p:sp>
      <p:sp>
        <p:nvSpPr>
          <p:cNvPr id="160" name="Google Shape;160;p7"/>
          <p:cNvSpPr/>
          <p:nvPr/>
        </p:nvSpPr>
        <p:spPr>
          <a:xfrm>
            <a:off x="523875" y="4381500"/>
            <a:ext cx="6038850" cy="102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75">
                <a:solidFill>
                  <a:srgbClr val="1A1A1A"/>
                </a:solidFill>
                <a:latin typeface="Calibri"/>
                <a:ea typeface="Calibri"/>
                <a:cs typeface="Calibri"/>
                <a:sym typeface="Calibri"/>
              </a:rPr>
              <a:t>Repeated uploads and switching between tools can interrupt a study session.</a:t>
            </a:r>
            <a:endParaRPr/>
          </a:p>
        </p:txBody>
      </p:sp>
      <p:pic>
        <p:nvPicPr>
          <p:cNvPr id="161" name="Google Shape;161;p7"/>
          <p:cNvPicPr preferRelativeResize="0"/>
          <p:nvPr/>
        </p:nvPicPr>
        <p:blipFill rotWithShape="1">
          <a:blip r:embed="rId3">
            <a:alphaModFix/>
          </a:blip>
          <a:srcRect b="0" l="15040" r="15040" t="0"/>
          <a:stretch/>
        </p:blipFill>
        <p:spPr>
          <a:xfrm>
            <a:off x="7143750" y="1390650"/>
            <a:ext cx="4524375" cy="4314825"/>
          </a:xfrm>
          <a:prstGeom prst="rect">
            <a:avLst/>
          </a:prstGeom>
          <a:noFill/>
          <a:ln>
            <a:noFill/>
          </a:ln>
        </p:spPr>
      </p:pic>
      <p:sp>
        <p:nvSpPr>
          <p:cNvPr id="162" name="Google Shape;162;p7"/>
          <p:cNvSpPr/>
          <p:nvPr/>
        </p:nvSpPr>
        <p:spPr>
          <a:xfrm>
            <a:off x="523875" y="5876925"/>
            <a:ext cx="11144250" cy="476250"/>
          </a:xfrm>
          <a:prstGeom prst="roundRect">
            <a:avLst>
              <a:gd fmla="val 24000" name="adj"/>
            </a:avLst>
          </a:prstGeom>
          <a:solidFill>
            <a:srgbClr val="FFB8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7"/>
          <p:cNvSpPr/>
          <p:nvPr/>
        </p:nvSpPr>
        <p:spPr>
          <a:xfrm>
            <a:off x="752475" y="6048375"/>
            <a:ext cx="1068705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725">
                <a:solidFill>
                  <a:srgbClr val="154734"/>
                </a:solidFill>
                <a:latin typeface="Calibri"/>
                <a:ea typeface="Calibri"/>
                <a:cs typeface="Calibri"/>
                <a:sym typeface="Calibri"/>
              </a:rPr>
              <a:t>Goal: a smoother path from reading a PDF to understanding the concept</a:t>
            </a:r>
            <a:endParaRPr/>
          </a:p>
        </p:txBody>
      </p:sp>
      <p:sp>
        <p:nvSpPr>
          <p:cNvPr id="164" name="Google Shape;164;p7"/>
          <p:cNvSpPr/>
          <p:nvPr/>
        </p:nvSpPr>
        <p:spPr>
          <a:xfrm>
            <a:off x="523875" y="6486525"/>
            <a:ext cx="10382250" cy="2190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125" u="sng">
                <a:solidFill>
                  <a:srgbClr val="65736B"/>
                </a:solidFill>
                <a:latin typeface="Calibri"/>
                <a:ea typeface="Calibri"/>
                <a:cs typeface="Calibri"/>
                <a:sym typeface="Calibri"/>
                <a:hlinkClick r:id="rId4">
                  <a:extLst>
                    <a:ext uri="{A12FA001-AC4F-418D-AE19-62706E023703}">
                      <ahyp:hlinkClr val="tx"/>
                    </a:ext>
                  </a:extLst>
                </a:hlinkClick>
              </a:rPr>
              <a:t>Illustrative study photo: Yan Krukau / Pexels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 name="Shape 169"/>
        <p:cNvGrpSpPr/>
        <p:nvPr/>
      </p:nvGrpSpPr>
      <p:grpSpPr>
        <a:xfrm>
          <a:off x="0" y="0"/>
          <a:ext cx="0" cy="0"/>
          <a:chOff x="0" y="0"/>
          <a:chExt cx="0" cy="0"/>
        </a:xfrm>
      </p:grpSpPr>
      <p:sp>
        <p:nvSpPr>
          <p:cNvPr id="170" name="Google Shape;170;p8"/>
          <p:cNvSpPr/>
          <p:nvPr/>
        </p:nvSpPr>
        <p:spPr>
          <a:xfrm>
            <a:off x="514350" y="428625"/>
            <a:ext cx="8477250" cy="628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154734"/>
                </a:solidFill>
                <a:latin typeface="Calibri"/>
                <a:ea typeface="Calibri"/>
                <a:cs typeface="Calibri"/>
                <a:sym typeface="Calibri"/>
              </a:rPr>
              <a:t>Who is the learning workspace for?</a:t>
            </a:r>
            <a:endParaRPr/>
          </a:p>
        </p:txBody>
      </p:sp>
      <p:sp>
        <p:nvSpPr>
          <p:cNvPr id="171" name="Google Shape;171;p8"/>
          <p:cNvSpPr/>
          <p:nvPr/>
        </p:nvSpPr>
        <p:spPr>
          <a:xfrm>
            <a:off x="9286875" y="409575"/>
            <a:ext cx="2381250" cy="361950"/>
          </a:xfrm>
          <a:prstGeom prst="roundRect">
            <a:avLst>
              <a:gd fmla="val 39474" name="adj"/>
            </a:avLst>
          </a:prstGeom>
          <a:solidFill>
            <a:srgbClr val="FFB8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8"/>
          <p:cNvSpPr/>
          <p:nvPr/>
        </p:nvSpPr>
        <p:spPr>
          <a:xfrm>
            <a:off x="9382125" y="485775"/>
            <a:ext cx="2190750" cy="2190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200">
                <a:solidFill>
                  <a:srgbClr val="154734"/>
                </a:solidFill>
                <a:latin typeface="Calibri"/>
                <a:ea typeface="Calibri"/>
                <a:cs typeface="Calibri"/>
                <a:sym typeface="Calibri"/>
              </a:rPr>
              <a:t>WHO</a:t>
            </a:r>
            <a:endParaRPr/>
          </a:p>
        </p:txBody>
      </p:sp>
      <p:cxnSp>
        <p:nvCxnSpPr>
          <p:cNvPr id="173" name="Google Shape;173;p8"/>
          <p:cNvCxnSpPr/>
          <p:nvPr/>
        </p:nvCxnSpPr>
        <p:spPr>
          <a:xfrm>
            <a:off x="0" y="6819900"/>
            <a:ext cx="12191695" cy="0"/>
          </a:xfrm>
          <a:prstGeom prst="straightConnector1">
            <a:avLst/>
          </a:prstGeom>
          <a:noFill/>
          <a:ln cap="flat" cmpd="sng" w="47625">
            <a:solidFill>
              <a:srgbClr val="FFB81C"/>
            </a:solidFill>
            <a:prstDash val="solid"/>
            <a:round/>
            <a:headEnd len="sm" w="sm" type="none"/>
            <a:tailEnd len="sm" w="sm" type="none"/>
          </a:ln>
        </p:spPr>
      </p:cxnSp>
      <p:sp>
        <p:nvSpPr>
          <p:cNvPr id="174" name="Google Shape;174;p8"/>
          <p:cNvSpPr/>
          <p:nvPr/>
        </p:nvSpPr>
        <p:spPr>
          <a:xfrm>
            <a:off x="11477625" y="6419850"/>
            <a:ext cx="285750" cy="2095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lang="en-US" sz="1050">
                <a:solidFill>
                  <a:srgbClr val="65736B"/>
                </a:solidFill>
                <a:latin typeface="Calibri"/>
                <a:ea typeface="Calibri"/>
                <a:cs typeface="Calibri"/>
                <a:sym typeface="Calibri"/>
              </a:rPr>
              <a:t>8</a:t>
            </a:r>
            <a:endParaRPr/>
          </a:p>
        </p:txBody>
      </p:sp>
      <p:pic>
        <p:nvPicPr>
          <p:cNvPr id="175" name="Google Shape;175;p8"/>
          <p:cNvPicPr preferRelativeResize="0"/>
          <p:nvPr/>
        </p:nvPicPr>
        <p:blipFill rotWithShape="1">
          <a:blip r:embed="rId3">
            <a:alphaModFix/>
          </a:blip>
          <a:srcRect b="19303" l="0" r="0" t="19303"/>
          <a:stretch/>
        </p:blipFill>
        <p:spPr>
          <a:xfrm>
            <a:off x="0" y="1285875"/>
            <a:ext cx="12191695" cy="4991100"/>
          </a:xfrm>
          <a:prstGeom prst="rect">
            <a:avLst/>
          </a:prstGeom>
          <a:noFill/>
          <a:ln>
            <a:noFill/>
          </a:ln>
        </p:spPr>
      </p:pic>
      <p:sp>
        <p:nvSpPr>
          <p:cNvPr id="176" name="Google Shape;176;p8"/>
          <p:cNvSpPr/>
          <p:nvPr/>
        </p:nvSpPr>
        <p:spPr>
          <a:xfrm>
            <a:off x="0" y="1285875"/>
            <a:ext cx="12191695" cy="4991100"/>
          </a:xfrm>
          <a:prstGeom prst="rect">
            <a:avLst/>
          </a:prstGeom>
          <a:solidFill>
            <a:srgbClr val="FFFFFF">
              <a:alpha val="8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8"/>
          <p:cNvSpPr/>
          <p:nvPr/>
        </p:nvSpPr>
        <p:spPr>
          <a:xfrm>
            <a:off x="523875" y="1457325"/>
            <a:ext cx="11125200" cy="4476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250">
                <a:solidFill>
                  <a:srgbClr val="154734"/>
                </a:solidFill>
                <a:latin typeface="Calibri"/>
                <a:ea typeface="Calibri"/>
                <a:cs typeface="Calibri"/>
                <a:sym typeface="Calibri"/>
              </a:rPr>
              <a:t>Student interview: Linda</a:t>
            </a:r>
            <a:endParaRPr/>
          </a:p>
        </p:txBody>
      </p:sp>
      <p:sp>
        <p:nvSpPr>
          <p:cNvPr id="178" name="Google Shape;178;p8"/>
          <p:cNvSpPr/>
          <p:nvPr/>
        </p:nvSpPr>
        <p:spPr>
          <a:xfrm>
            <a:off x="523875" y="2371725"/>
            <a:ext cx="7124700" cy="2171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475">
                <a:solidFill>
                  <a:srgbClr val="154734"/>
                </a:solidFill>
                <a:latin typeface="Calibri"/>
                <a:ea typeface="Calibri"/>
                <a:cs typeface="Calibri"/>
                <a:sym typeface="Calibri"/>
              </a:rPr>
              <a:t>“Asking ChatGPT questions can feel awkward when I have to upload files for context. It would be smoother if it could see the file I am studying and explain it.”</a:t>
            </a:r>
            <a:endParaRPr/>
          </a:p>
        </p:txBody>
      </p:sp>
      <p:sp>
        <p:nvSpPr>
          <p:cNvPr id="179" name="Google Shape;179;p8"/>
          <p:cNvSpPr/>
          <p:nvPr/>
        </p:nvSpPr>
        <p:spPr>
          <a:xfrm>
            <a:off x="523875" y="4810125"/>
            <a:ext cx="7067550" cy="2952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1A1A1A"/>
                </a:solidFill>
                <a:latin typeface="Calibri"/>
                <a:ea typeface="Calibri"/>
                <a:cs typeface="Calibri"/>
                <a:sym typeface="Calibri"/>
              </a:rPr>
              <a:t>Linda, student interview participant</a:t>
            </a:r>
            <a:endParaRPr/>
          </a:p>
        </p:txBody>
      </p:sp>
      <p:sp>
        <p:nvSpPr>
          <p:cNvPr id="180" name="Google Shape;180;p8"/>
          <p:cNvSpPr/>
          <p:nvPr/>
        </p:nvSpPr>
        <p:spPr>
          <a:xfrm>
            <a:off x="523875" y="5172075"/>
            <a:ext cx="70675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425">
                <a:solidFill>
                  <a:srgbClr val="65736B"/>
                </a:solidFill>
                <a:latin typeface="Calibri"/>
                <a:ea typeface="Calibri"/>
                <a:cs typeface="Calibri"/>
                <a:sym typeface="Calibri"/>
              </a:rPr>
              <a:t>Interview summary, paraphrased from team notes</a:t>
            </a:r>
            <a:endParaRPr/>
          </a:p>
        </p:txBody>
      </p:sp>
      <p:sp>
        <p:nvSpPr>
          <p:cNvPr id="181" name="Google Shape;181;p8"/>
          <p:cNvSpPr/>
          <p:nvPr/>
        </p:nvSpPr>
        <p:spPr>
          <a:xfrm>
            <a:off x="8248650" y="2419350"/>
            <a:ext cx="3248025"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575">
                <a:solidFill>
                  <a:srgbClr val="154734"/>
                </a:solidFill>
                <a:latin typeface="Calibri"/>
                <a:ea typeface="Calibri"/>
                <a:cs typeface="Calibri"/>
                <a:sym typeface="Calibri"/>
              </a:rPr>
              <a:t>PRIMARY USERS</a:t>
            </a:r>
            <a:endParaRPr/>
          </a:p>
        </p:txBody>
      </p:sp>
      <p:sp>
        <p:nvSpPr>
          <p:cNvPr id="182" name="Google Shape;182;p8"/>
          <p:cNvSpPr/>
          <p:nvPr/>
        </p:nvSpPr>
        <p:spPr>
          <a:xfrm>
            <a:off x="8248650" y="2819400"/>
            <a:ext cx="3248025"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1A1A1A"/>
                </a:solidFill>
                <a:latin typeface="Calibri"/>
                <a:ea typeface="Calibri"/>
                <a:cs typeface="Calibri"/>
                <a:sym typeface="Calibri"/>
              </a:rPr>
              <a:t>Students learning from PDFs</a:t>
            </a:r>
            <a:endParaRPr/>
          </a:p>
          <a:p>
            <a:pPr indent="0" lvl="0" marL="0" marR="0" rtl="0" algn="l">
              <a:spcBef>
                <a:spcPts val="0"/>
              </a:spcBef>
              <a:spcAft>
                <a:spcPts val="0"/>
              </a:spcAft>
              <a:buNone/>
            </a:pPr>
            <a:r>
              <a:rPr b="0" lang="en-US" sz="2025">
                <a:solidFill>
                  <a:srgbClr val="1A1A1A"/>
                </a:solidFill>
                <a:latin typeface="Calibri"/>
                <a:ea typeface="Calibri"/>
                <a:cs typeface="Calibri"/>
                <a:sym typeface="Calibri"/>
              </a:rPr>
              <a:t>on desktop and iPad</a:t>
            </a:r>
            <a:endParaRPr/>
          </a:p>
        </p:txBody>
      </p:sp>
      <p:sp>
        <p:nvSpPr>
          <p:cNvPr id="183" name="Google Shape;183;p8"/>
          <p:cNvSpPr/>
          <p:nvPr/>
        </p:nvSpPr>
        <p:spPr>
          <a:xfrm>
            <a:off x="8248650" y="4057650"/>
            <a:ext cx="3248025"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575">
                <a:solidFill>
                  <a:srgbClr val="154734"/>
                </a:solidFill>
                <a:latin typeface="Calibri"/>
                <a:ea typeface="Calibri"/>
                <a:cs typeface="Calibri"/>
                <a:sym typeface="Calibri"/>
              </a:rPr>
              <a:t>DESIGN PARTNERS</a:t>
            </a:r>
            <a:endParaRPr/>
          </a:p>
        </p:txBody>
      </p:sp>
      <p:sp>
        <p:nvSpPr>
          <p:cNvPr id="184" name="Google Shape;184;p8"/>
          <p:cNvSpPr/>
          <p:nvPr/>
        </p:nvSpPr>
        <p:spPr>
          <a:xfrm>
            <a:off x="8248650" y="4457700"/>
            <a:ext cx="3248025" cy="1047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1A1A1A"/>
                </a:solidFill>
                <a:latin typeface="Calibri"/>
                <a:ea typeface="Calibri"/>
                <a:cs typeface="Calibri"/>
                <a:sym typeface="Calibri"/>
              </a:rPr>
              <a:t>Students testing explanations,</a:t>
            </a:r>
            <a:endParaRPr/>
          </a:p>
          <a:p>
            <a:pPr indent="0" lvl="0" marL="0" marR="0" rtl="0" algn="l">
              <a:spcBef>
                <a:spcPts val="0"/>
              </a:spcBef>
              <a:spcAft>
                <a:spcPts val="0"/>
              </a:spcAft>
              <a:buNone/>
            </a:pPr>
            <a:r>
              <a:rPr b="0" lang="en-US" sz="2025">
                <a:solidFill>
                  <a:srgbClr val="1A1A1A"/>
                </a:solidFill>
                <a:latin typeface="Calibri"/>
                <a:ea typeface="Calibri"/>
                <a:cs typeface="Calibri"/>
                <a:sym typeface="Calibri"/>
              </a:rPr>
              <a:t>practice and ease of use</a:t>
            </a:r>
            <a:endParaRPr/>
          </a:p>
        </p:txBody>
      </p:sp>
      <p:sp>
        <p:nvSpPr>
          <p:cNvPr id="185" name="Google Shape;185;p8"/>
          <p:cNvSpPr/>
          <p:nvPr/>
        </p:nvSpPr>
        <p:spPr>
          <a:xfrm>
            <a:off x="523875" y="6343650"/>
            <a:ext cx="10572750" cy="2190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125" u="sng">
                <a:solidFill>
                  <a:srgbClr val="65736B"/>
                </a:solidFill>
                <a:latin typeface="Calibri"/>
                <a:ea typeface="Calibri"/>
                <a:cs typeface="Calibri"/>
                <a:sym typeface="Calibri"/>
                <a:hlinkClick r:id="rId4">
                  <a:extLst>
                    <a:ext uri="{A12FA001-AC4F-418D-AE19-62706E023703}">
                      <ahyp:hlinkClr val="tx"/>
                    </a:ext>
                  </a:extLst>
                </a:hlinkClick>
              </a:rPr>
              <a:t>Illustrative photo, not Linda: Charlotte May / Pexels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0" name="Shape 190"/>
        <p:cNvGrpSpPr/>
        <p:nvPr/>
      </p:nvGrpSpPr>
      <p:grpSpPr>
        <a:xfrm>
          <a:off x="0" y="0"/>
          <a:ext cx="0" cy="0"/>
          <a:chOff x="0" y="0"/>
          <a:chExt cx="0" cy="0"/>
        </a:xfrm>
      </p:grpSpPr>
      <p:sp>
        <p:nvSpPr>
          <p:cNvPr id="191" name="Google Shape;191;p9"/>
          <p:cNvSpPr/>
          <p:nvPr/>
        </p:nvSpPr>
        <p:spPr>
          <a:xfrm>
            <a:off x="514350" y="428625"/>
            <a:ext cx="8477250" cy="628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154734"/>
                </a:solidFill>
                <a:latin typeface="Calibri"/>
                <a:ea typeface="Calibri"/>
                <a:cs typeface="Calibri"/>
                <a:sym typeface="Calibri"/>
              </a:rPr>
              <a:t>A study session with your material</a:t>
            </a:r>
            <a:endParaRPr/>
          </a:p>
        </p:txBody>
      </p:sp>
      <p:sp>
        <p:nvSpPr>
          <p:cNvPr id="192" name="Google Shape;192;p9"/>
          <p:cNvSpPr/>
          <p:nvPr/>
        </p:nvSpPr>
        <p:spPr>
          <a:xfrm>
            <a:off x="9286875" y="409575"/>
            <a:ext cx="2381250" cy="361950"/>
          </a:xfrm>
          <a:prstGeom prst="roundRect">
            <a:avLst>
              <a:gd fmla="val 39474" name="adj"/>
            </a:avLst>
          </a:prstGeom>
          <a:solidFill>
            <a:srgbClr val="FFB8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9"/>
          <p:cNvSpPr/>
          <p:nvPr/>
        </p:nvSpPr>
        <p:spPr>
          <a:xfrm>
            <a:off x="9382125" y="485775"/>
            <a:ext cx="2190750" cy="2190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200">
                <a:solidFill>
                  <a:srgbClr val="154734"/>
                </a:solidFill>
                <a:latin typeface="Calibri"/>
                <a:ea typeface="Calibri"/>
                <a:cs typeface="Calibri"/>
                <a:sym typeface="Calibri"/>
              </a:rPr>
              <a:t>WHAT + HOW</a:t>
            </a:r>
            <a:endParaRPr/>
          </a:p>
        </p:txBody>
      </p:sp>
      <p:cxnSp>
        <p:nvCxnSpPr>
          <p:cNvPr id="194" name="Google Shape;194;p9"/>
          <p:cNvCxnSpPr/>
          <p:nvPr/>
        </p:nvCxnSpPr>
        <p:spPr>
          <a:xfrm>
            <a:off x="0" y="6819900"/>
            <a:ext cx="12191695" cy="0"/>
          </a:xfrm>
          <a:prstGeom prst="straightConnector1">
            <a:avLst/>
          </a:prstGeom>
          <a:noFill/>
          <a:ln cap="flat" cmpd="sng" w="47625">
            <a:solidFill>
              <a:srgbClr val="FFB81C"/>
            </a:solidFill>
            <a:prstDash val="solid"/>
            <a:round/>
            <a:headEnd len="sm" w="sm" type="none"/>
            <a:tailEnd len="sm" w="sm" type="none"/>
          </a:ln>
        </p:spPr>
      </p:cxnSp>
      <p:sp>
        <p:nvSpPr>
          <p:cNvPr id="195" name="Google Shape;195;p9"/>
          <p:cNvSpPr/>
          <p:nvPr/>
        </p:nvSpPr>
        <p:spPr>
          <a:xfrm>
            <a:off x="11477625" y="6419850"/>
            <a:ext cx="285750" cy="2095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lang="en-US" sz="1050">
                <a:solidFill>
                  <a:srgbClr val="65736B"/>
                </a:solidFill>
                <a:latin typeface="Calibri"/>
                <a:ea typeface="Calibri"/>
                <a:cs typeface="Calibri"/>
                <a:sym typeface="Calibri"/>
              </a:rPr>
              <a:t>9</a:t>
            </a:r>
            <a:endParaRPr/>
          </a:p>
        </p:txBody>
      </p:sp>
      <p:sp>
        <p:nvSpPr>
          <p:cNvPr id="196" name="Google Shape;196;p9"/>
          <p:cNvSpPr/>
          <p:nvPr/>
        </p:nvSpPr>
        <p:spPr>
          <a:xfrm>
            <a:off x="523875" y="1323975"/>
            <a:ext cx="9525000" cy="2952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154734"/>
                </a:solidFill>
                <a:latin typeface="Calibri"/>
                <a:ea typeface="Calibri"/>
                <a:cs typeface="Calibri"/>
                <a:sym typeface="Calibri"/>
              </a:rPr>
              <a:t>Proposed workflow</a:t>
            </a:r>
            <a:endParaRPr/>
          </a:p>
        </p:txBody>
      </p:sp>
      <p:sp>
        <p:nvSpPr>
          <p:cNvPr id="197" name="Google Shape;197;p9"/>
          <p:cNvSpPr/>
          <p:nvPr/>
        </p:nvSpPr>
        <p:spPr>
          <a:xfrm>
            <a:off x="523875" y="1866900"/>
            <a:ext cx="2838450" cy="1076325"/>
          </a:xfrm>
          <a:prstGeom prst="roundRect">
            <a:avLst>
              <a:gd fmla="val 8850" name="adj"/>
            </a:avLst>
          </a:prstGeom>
          <a:solidFill>
            <a:srgbClr val="EAF2EE"/>
          </a:solidFill>
          <a:ln cap="flat" cmpd="sng" w="13325">
            <a:solidFill>
              <a:srgbClr val="154734"/>
            </a:solidFill>
            <a:prstDash val="solid"/>
            <a:round/>
            <a:headEnd len="sm" w="sm" type="none"/>
            <a:tailEnd len="sm" w="sm" type="none"/>
          </a:ln>
        </p:spPr>
        <p:txBody>
          <a:bodyPr anchorCtr="0" anchor="ctr" bIns="95250" lIns="114300" spcFirstLastPara="1" rIns="114300" wrap="square" tIns="95250">
            <a:noAutofit/>
          </a:bodyPr>
          <a:lstStyle/>
          <a:p>
            <a:pPr indent="0" lvl="0" marL="0" marR="0" rtl="0" algn="ctr">
              <a:spcBef>
                <a:spcPts val="0"/>
              </a:spcBef>
              <a:spcAft>
                <a:spcPts val="0"/>
              </a:spcAft>
              <a:buNone/>
            </a:pPr>
            <a:r>
              <a:rPr b="1" lang="en-US" sz="1800">
                <a:solidFill>
                  <a:srgbClr val="154734"/>
                </a:solidFill>
                <a:latin typeface="Calibri"/>
                <a:ea typeface="Calibri"/>
                <a:cs typeface="Calibri"/>
                <a:sym typeface="Calibri"/>
              </a:rPr>
              <a:t>Local course folders</a:t>
            </a:r>
            <a:endParaRPr/>
          </a:p>
          <a:p>
            <a:pPr indent="0" lvl="0" marL="0" marR="0" rtl="0" algn="ctr">
              <a:spcBef>
                <a:spcPts val="0"/>
              </a:spcBef>
              <a:spcAft>
                <a:spcPts val="0"/>
              </a:spcAft>
              <a:buNone/>
            </a:pPr>
            <a:r>
              <a:rPr b="1" lang="en-US" sz="1800">
                <a:solidFill>
                  <a:srgbClr val="154734"/>
                </a:solidFill>
                <a:latin typeface="Calibri"/>
                <a:ea typeface="Calibri"/>
                <a:cs typeface="Calibri"/>
                <a:sym typeface="Calibri"/>
              </a:rPr>
              <a:t>PDFs on your device</a:t>
            </a:r>
            <a:endParaRPr/>
          </a:p>
        </p:txBody>
      </p:sp>
      <p:sp>
        <p:nvSpPr>
          <p:cNvPr id="198" name="Google Shape;198;p9"/>
          <p:cNvSpPr/>
          <p:nvPr/>
        </p:nvSpPr>
        <p:spPr>
          <a:xfrm>
            <a:off x="4143375" y="1866900"/>
            <a:ext cx="3048000" cy="1076325"/>
          </a:xfrm>
          <a:prstGeom prst="roundRect">
            <a:avLst>
              <a:gd fmla="val 8850" name="adj"/>
            </a:avLst>
          </a:prstGeom>
          <a:solidFill>
            <a:srgbClr val="FFB81C"/>
          </a:solidFill>
          <a:ln cap="flat" cmpd="sng" w="13325">
            <a:solidFill>
              <a:srgbClr val="154734"/>
            </a:solidFill>
            <a:prstDash val="solid"/>
            <a:round/>
            <a:headEnd len="sm" w="sm" type="none"/>
            <a:tailEnd len="sm" w="sm" type="none"/>
          </a:ln>
        </p:spPr>
        <p:txBody>
          <a:bodyPr anchorCtr="0" anchor="ctr" bIns="95250" lIns="114300" spcFirstLastPara="1" rIns="114300" wrap="square" tIns="95250">
            <a:noAutofit/>
          </a:bodyPr>
          <a:lstStyle/>
          <a:p>
            <a:pPr indent="0" lvl="0" marL="0" marR="0" rtl="0" algn="ctr">
              <a:spcBef>
                <a:spcPts val="0"/>
              </a:spcBef>
              <a:spcAft>
                <a:spcPts val="0"/>
              </a:spcAft>
              <a:buNone/>
            </a:pPr>
            <a:r>
              <a:rPr b="1" lang="en-US" sz="1800">
                <a:solidFill>
                  <a:srgbClr val="154734"/>
                </a:solidFill>
                <a:latin typeface="Calibri"/>
                <a:ea typeface="Calibri"/>
                <a:cs typeface="Calibri"/>
                <a:sym typeface="Calibri"/>
              </a:rPr>
              <a:t>Open a PDF</a:t>
            </a:r>
            <a:endParaRPr/>
          </a:p>
          <a:p>
            <a:pPr indent="0" lvl="0" marL="0" marR="0" rtl="0" algn="ctr">
              <a:spcBef>
                <a:spcPts val="0"/>
              </a:spcBef>
              <a:spcAft>
                <a:spcPts val="0"/>
              </a:spcAft>
              <a:buNone/>
            </a:pPr>
            <a:r>
              <a:rPr b="1" lang="en-US" sz="1800">
                <a:solidFill>
                  <a:srgbClr val="154734"/>
                </a:solidFill>
                <a:latin typeface="Calibri"/>
                <a:ea typeface="Calibri"/>
                <a:cs typeface="Calibri"/>
                <a:sym typeface="Calibri"/>
              </a:rPr>
              <a:t>Select a page or passage</a:t>
            </a:r>
            <a:endParaRPr/>
          </a:p>
        </p:txBody>
      </p:sp>
      <p:sp>
        <p:nvSpPr>
          <p:cNvPr id="199" name="Google Shape;199;p9"/>
          <p:cNvSpPr/>
          <p:nvPr/>
        </p:nvSpPr>
        <p:spPr>
          <a:xfrm>
            <a:off x="7972425" y="1866900"/>
            <a:ext cx="3695700" cy="1076325"/>
          </a:xfrm>
          <a:prstGeom prst="roundRect">
            <a:avLst>
              <a:gd fmla="val 8850" name="adj"/>
            </a:avLst>
          </a:prstGeom>
          <a:solidFill>
            <a:srgbClr val="EAF2EE"/>
          </a:solidFill>
          <a:ln cap="flat" cmpd="sng" w="13325">
            <a:solidFill>
              <a:srgbClr val="154734"/>
            </a:solidFill>
            <a:prstDash val="solid"/>
            <a:round/>
            <a:headEnd len="sm" w="sm" type="none"/>
            <a:tailEnd len="sm" w="sm" type="none"/>
          </a:ln>
        </p:spPr>
        <p:txBody>
          <a:bodyPr anchorCtr="0" anchor="ctr" bIns="95250" lIns="114300" spcFirstLastPara="1" rIns="114300" wrap="square" tIns="95250">
            <a:noAutofit/>
          </a:bodyPr>
          <a:lstStyle/>
          <a:p>
            <a:pPr indent="0" lvl="0" marL="0" marR="0" rtl="0" algn="ctr">
              <a:spcBef>
                <a:spcPts val="0"/>
              </a:spcBef>
              <a:spcAft>
                <a:spcPts val="0"/>
              </a:spcAft>
              <a:buNone/>
            </a:pPr>
            <a:r>
              <a:rPr b="1" lang="en-US" sz="1800">
                <a:solidFill>
                  <a:srgbClr val="154734"/>
                </a:solidFill>
                <a:latin typeface="Calibri"/>
                <a:ea typeface="Calibri"/>
                <a:cs typeface="Calibri"/>
                <a:sym typeface="Calibri"/>
              </a:rPr>
              <a:t>Ask by text or voice</a:t>
            </a:r>
            <a:endParaRPr/>
          </a:p>
          <a:p>
            <a:pPr indent="0" lvl="0" marL="0" marR="0" rtl="0" algn="ctr">
              <a:spcBef>
                <a:spcPts val="0"/>
              </a:spcBef>
              <a:spcAft>
                <a:spcPts val="0"/>
              </a:spcAft>
              <a:buNone/>
            </a:pPr>
            <a:r>
              <a:rPr b="1" lang="en-US" sz="1800">
                <a:solidFill>
                  <a:srgbClr val="154734"/>
                </a:solidFill>
                <a:latin typeface="Calibri"/>
                <a:ea typeface="Calibri"/>
                <a:cs typeface="Calibri"/>
                <a:sym typeface="Calibri"/>
              </a:rPr>
              <a:t>Explanation + page reference</a:t>
            </a:r>
            <a:endParaRPr/>
          </a:p>
        </p:txBody>
      </p:sp>
      <p:cxnSp>
        <p:nvCxnSpPr>
          <p:cNvPr id="200" name="Google Shape;200;p9"/>
          <p:cNvCxnSpPr>
            <a:stCxn id="197" idx="3"/>
            <a:endCxn id="198" idx="1"/>
          </p:cNvCxnSpPr>
          <p:nvPr/>
        </p:nvCxnSpPr>
        <p:spPr>
          <a:xfrm>
            <a:off x="3362325" y="2405063"/>
            <a:ext cx="781200" cy="0"/>
          </a:xfrm>
          <a:prstGeom prst="straightConnector1">
            <a:avLst/>
          </a:prstGeom>
          <a:noFill/>
          <a:ln cap="flat" cmpd="sng" w="23800">
            <a:solidFill>
              <a:srgbClr val="154734"/>
            </a:solidFill>
            <a:prstDash val="solid"/>
            <a:round/>
            <a:headEnd len="sm" w="sm" type="none"/>
            <a:tailEnd len="med" w="med" type="stealth"/>
          </a:ln>
        </p:spPr>
      </p:cxnSp>
      <p:cxnSp>
        <p:nvCxnSpPr>
          <p:cNvPr id="201" name="Google Shape;201;p9"/>
          <p:cNvCxnSpPr>
            <a:stCxn id="198" idx="3"/>
            <a:endCxn id="199" idx="1"/>
          </p:cNvCxnSpPr>
          <p:nvPr/>
        </p:nvCxnSpPr>
        <p:spPr>
          <a:xfrm>
            <a:off x="7191375" y="2405063"/>
            <a:ext cx="781200" cy="0"/>
          </a:xfrm>
          <a:prstGeom prst="straightConnector1">
            <a:avLst/>
          </a:prstGeom>
          <a:noFill/>
          <a:ln cap="flat" cmpd="sng" w="23800">
            <a:solidFill>
              <a:srgbClr val="154734"/>
            </a:solidFill>
            <a:prstDash val="solid"/>
            <a:round/>
            <a:headEnd len="sm" w="sm" type="none"/>
            <a:tailEnd len="med" w="med" type="stealth"/>
          </a:ln>
        </p:spPr>
      </p:cxnSp>
      <p:sp>
        <p:nvSpPr>
          <p:cNvPr id="202" name="Google Shape;202;p9"/>
          <p:cNvSpPr/>
          <p:nvPr/>
        </p:nvSpPr>
        <p:spPr>
          <a:xfrm>
            <a:off x="7972425" y="3781425"/>
            <a:ext cx="3695700" cy="942975"/>
          </a:xfrm>
          <a:prstGeom prst="roundRect">
            <a:avLst>
              <a:gd fmla="val 10101" name="adj"/>
            </a:avLst>
          </a:prstGeom>
          <a:solidFill>
            <a:srgbClr val="EAF2EE"/>
          </a:solidFill>
          <a:ln cap="flat" cmpd="sng" w="13325">
            <a:solidFill>
              <a:srgbClr val="154734"/>
            </a:solidFill>
            <a:prstDash val="solid"/>
            <a:round/>
            <a:headEnd len="sm" w="sm" type="none"/>
            <a:tailEnd len="sm" w="sm" type="none"/>
          </a:ln>
        </p:spPr>
        <p:txBody>
          <a:bodyPr anchorCtr="0" anchor="ctr" bIns="95250" lIns="114300" spcFirstLastPara="1" rIns="114300" wrap="square" tIns="95250">
            <a:noAutofit/>
          </a:bodyPr>
          <a:lstStyle/>
          <a:p>
            <a:pPr indent="0" lvl="0" marL="0" marR="0" rtl="0" algn="ctr">
              <a:spcBef>
                <a:spcPts val="0"/>
              </a:spcBef>
              <a:spcAft>
                <a:spcPts val="0"/>
              </a:spcAft>
              <a:buNone/>
            </a:pPr>
            <a:r>
              <a:rPr b="1" lang="en-US" sz="1800">
                <a:solidFill>
                  <a:srgbClr val="154734"/>
                </a:solidFill>
                <a:latin typeface="Calibri"/>
                <a:ea typeface="Calibri"/>
                <a:cs typeface="Calibri"/>
                <a:sym typeface="Calibri"/>
              </a:rPr>
              <a:t>Practise</a:t>
            </a:r>
            <a:endParaRPr/>
          </a:p>
          <a:p>
            <a:pPr indent="0" lvl="0" marL="0" marR="0" rtl="0" algn="ctr">
              <a:spcBef>
                <a:spcPts val="0"/>
              </a:spcBef>
              <a:spcAft>
                <a:spcPts val="0"/>
              </a:spcAft>
              <a:buNone/>
            </a:pPr>
            <a:r>
              <a:rPr b="1" lang="en-US" sz="1800">
                <a:solidFill>
                  <a:srgbClr val="154734"/>
                </a:solidFill>
                <a:latin typeface="Calibri"/>
                <a:ea typeface="Calibri"/>
                <a:cs typeface="Calibri"/>
                <a:sym typeface="Calibri"/>
              </a:rPr>
              <a:t>Flashcards and quizzes</a:t>
            </a:r>
            <a:endParaRPr/>
          </a:p>
        </p:txBody>
      </p:sp>
      <p:sp>
        <p:nvSpPr>
          <p:cNvPr id="203" name="Google Shape;203;p9"/>
          <p:cNvSpPr/>
          <p:nvPr/>
        </p:nvSpPr>
        <p:spPr>
          <a:xfrm>
            <a:off x="4143375" y="3781425"/>
            <a:ext cx="3048000" cy="942975"/>
          </a:xfrm>
          <a:prstGeom prst="roundRect">
            <a:avLst>
              <a:gd fmla="val 10101" name="adj"/>
            </a:avLst>
          </a:prstGeom>
          <a:solidFill>
            <a:srgbClr val="EAF2EE"/>
          </a:solidFill>
          <a:ln cap="flat" cmpd="sng" w="13325">
            <a:solidFill>
              <a:srgbClr val="154734"/>
            </a:solidFill>
            <a:prstDash val="solid"/>
            <a:round/>
            <a:headEnd len="sm" w="sm" type="none"/>
            <a:tailEnd len="sm" w="sm" type="none"/>
          </a:ln>
        </p:spPr>
        <p:txBody>
          <a:bodyPr anchorCtr="0" anchor="ctr" bIns="95250" lIns="114300" spcFirstLastPara="1" rIns="114300" wrap="square" tIns="95250">
            <a:noAutofit/>
          </a:bodyPr>
          <a:lstStyle/>
          <a:p>
            <a:pPr indent="0" lvl="0" marL="0" marR="0" rtl="0" algn="ctr">
              <a:spcBef>
                <a:spcPts val="0"/>
              </a:spcBef>
              <a:spcAft>
                <a:spcPts val="0"/>
              </a:spcAft>
              <a:buNone/>
            </a:pPr>
            <a:r>
              <a:rPr b="1" lang="en-US" sz="1800">
                <a:solidFill>
                  <a:srgbClr val="154734"/>
                </a:solidFill>
                <a:latin typeface="Calibri"/>
                <a:ea typeface="Calibri"/>
                <a:cs typeface="Calibri"/>
                <a:sym typeface="Calibri"/>
              </a:rPr>
              <a:t>Plan review</a:t>
            </a:r>
            <a:endParaRPr/>
          </a:p>
          <a:p>
            <a:pPr indent="0" lvl="0" marL="0" marR="0" rtl="0" algn="ctr">
              <a:spcBef>
                <a:spcPts val="0"/>
              </a:spcBef>
              <a:spcAft>
                <a:spcPts val="0"/>
              </a:spcAft>
              <a:buNone/>
            </a:pPr>
            <a:r>
              <a:rPr b="1" lang="en-US" sz="1800">
                <a:solidFill>
                  <a:srgbClr val="154734"/>
                </a:solidFill>
                <a:latin typeface="Calibri"/>
                <a:ea typeface="Calibri"/>
                <a:cs typeface="Calibri"/>
                <a:sym typeface="Calibri"/>
              </a:rPr>
              <a:t>Calendar and exam dates</a:t>
            </a:r>
            <a:endParaRPr/>
          </a:p>
        </p:txBody>
      </p:sp>
      <p:cxnSp>
        <p:nvCxnSpPr>
          <p:cNvPr id="204" name="Google Shape;204;p9"/>
          <p:cNvCxnSpPr>
            <a:stCxn id="199" idx="2"/>
            <a:endCxn id="202" idx="0"/>
          </p:cNvCxnSpPr>
          <p:nvPr/>
        </p:nvCxnSpPr>
        <p:spPr>
          <a:xfrm>
            <a:off x="9820275" y="2943225"/>
            <a:ext cx="0" cy="838200"/>
          </a:xfrm>
          <a:prstGeom prst="straightConnector1">
            <a:avLst/>
          </a:prstGeom>
          <a:noFill/>
          <a:ln cap="flat" cmpd="sng" w="23800">
            <a:solidFill>
              <a:srgbClr val="154734"/>
            </a:solidFill>
            <a:prstDash val="solid"/>
            <a:round/>
            <a:headEnd len="sm" w="sm" type="none"/>
            <a:tailEnd len="med" w="med" type="stealth"/>
          </a:ln>
        </p:spPr>
      </p:cxnSp>
      <p:cxnSp>
        <p:nvCxnSpPr>
          <p:cNvPr id="205" name="Google Shape;205;p9"/>
          <p:cNvCxnSpPr>
            <a:stCxn id="202" idx="1"/>
            <a:endCxn id="203" idx="3"/>
          </p:cNvCxnSpPr>
          <p:nvPr/>
        </p:nvCxnSpPr>
        <p:spPr>
          <a:xfrm rot="10800000">
            <a:off x="7191225" y="4252913"/>
            <a:ext cx="781200" cy="0"/>
          </a:xfrm>
          <a:prstGeom prst="straightConnector1">
            <a:avLst/>
          </a:prstGeom>
          <a:noFill/>
          <a:ln cap="flat" cmpd="sng" w="23800">
            <a:solidFill>
              <a:srgbClr val="154734"/>
            </a:solidFill>
            <a:prstDash val="solid"/>
            <a:round/>
            <a:headEnd len="sm" w="sm" type="none"/>
            <a:tailEnd len="med" w="med" type="stealth"/>
          </a:ln>
        </p:spPr>
      </p:cxnSp>
      <p:sp>
        <p:nvSpPr>
          <p:cNvPr id="206" name="Google Shape;206;p9"/>
          <p:cNvSpPr/>
          <p:nvPr/>
        </p:nvSpPr>
        <p:spPr>
          <a:xfrm>
            <a:off x="523875" y="3609975"/>
            <a:ext cx="2809875" cy="80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154734"/>
                </a:solidFill>
                <a:latin typeface="Calibri"/>
                <a:ea typeface="Calibri"/>
                <a:cs typeface="Calibri"/>
                <a:sym typeface="Calibri"/>
              </a:rPr>
              <a:t>Students control</a:t>
            </a:r>
            <a:endParaRPr/>
          </a:p>
          <a:p>
            <a:pPr indent="0" lvl="0" marL="0" marR="0" rtl="0" algn="l">
              <a:spcBef>
                <a:spcPts val="0"/>
              </a:spcBef>
              <a:spcAft>
                <a:spcPts val="0"/>
              </a:spcAft>
              <a:buNone/>
            </a:pPr>
            <a:r>
              <a:rPr b="1" lang="en-US" sz="2025">
                <a:solidFill>
                  <a:srgbClr val="154734"/>
                </a:solidFill>
                <a:latin typeface="Calibri"/>
                <a:ea typeface="Calibri"/>
                <a:cs typeface="Calibri"/>
                <a:sym typeface="Calibri"/>
              </a:rPr>
              <a:t>folder access</a:t>
            </a:r>
            <a:endParaRPr/>
          </a:p>
        </p:txBody>
      </p:sp>
      <p:sp>
        <p:nvSpPr>
          <p:cNvPr id="207" name="Google Shape;207;p9"/>
          <p:cNvSpPr/>
          <p:nvPr/>
        </p:nvSpPr>
        <p:spPr>
          <a:xfrm>
            <a:off x="523875" y="5057775"/>
            <a:ext cx="11049000" cy="361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154734"/>
                </a:solidFill>
                <a:latin typeface="Calibri"/>
                <a:ea typeface="Calibri"/>
                <a:cs typeface="Calibri"/>
                <a:sym typeface="Calibri"/>
              </a:rPr>
              <a:t>Original files stay on the device.</a:t>
            </a:r>
            <a:endParaRPr/>
          </a:p>
        </p:txBody>
      </p:sp>
      <p:sp>
        <p:nvSpPr>
          <p:cNvPr id="208" name="Google Shape;208;p9"/>
          <p:cNvSpPr/>
          <p:nvPr/>
        </p:nvSpPr>
        <p:spPr>
          <a:xfrm>
            <a:off x="523875" y="5572125"/>
            <a:ext cx="11096625"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1A1A1A"/>
                </a:solidFill>
                <a:latin typeface="Calibri"/>
                <a:ea typeface="Calibri"/>
                <a:cs typeface="Calibri"/>
                <a:sym typeface="Calibri"/>
              </a:rPr>
              <a:t>Research question: which on-device AI can deliver useful explanations on desktop and iPad?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3" name="Shape 213"/>
        <p:cNvGrpSpPr/>
        <p:nvPr/>
      </p:nvGrpSpPr>
      <p:grpSpPr>
        <a:xfrm>
          <a:off x="0" y="0"/>
          <a:ext cx="0" cy="0"/>
          <a:chOff x="0" y="0"/>
          <a:chExt cx="0" cy="0"/>
        </a:xfrm>
      </p:grpSpPr>
      <p:sp>
        <p:nvSpPr>
          <p:cNvPr id="214" name="Google Shape;214;p10"/>
          <p:cNvSpPr/>
          <p:nvPr/>
        </p:nvSpPr>
        <p:spPr>
          <a:xfrm>
            <a:off x="514350" y="428625"/>
            <a:ext cx="8477250" cy="628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154734"/>
                </a:solidFill>
                <a:latin typeface="Calibri"/>
                <a:ea typeface="Calibri"/>
                <a:cs typeface="Calibri"/>
                <a:sym typeface="Calibri"/>
              </a:rPr>
              <a:t>Learning value and competitors</a:t>
            </a:r>
            <a:endParaRPr/>
          </a:p>
        </p:txBody>
      </p:sp>
      <p:sp>
        <p:nvSpPr>
          <p:cNvPr id="215" name="Google Shape;215;p10"/>
          <p:cNvSpPr/>
          <p:nvPr/>
        </p:nvSpPr>
        <p:spPr>
          <a:xfrm>
            <a:off x="9286875" y="409575"/>
            <a:ext cx="2381250" cy="361950"/>
          </a:xfrm>
          <a:prstGeom prst="roundRect">
            <a:avLst>
              <a:gd fmla="val 39474" name="adj"/>
            </a:avLst>
          </a:prstGeom>
          <a:solidFill>
            <a:srgbClr val="FFB8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0"/>
          <p:cNvSpPr/>
          <p:nvPr/>
        </p:nvSpPr>
        <p:spPr>
          <a:xfrm>
            <a:off x="9382125" y="485775"/>
            <a:ext cx="2190750" cy="2190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200">
                <a:solidFill>
                  <a:srgbClr val="154734"/>
                </a:solidFill>
                <a:latin typeface="Calibri"/>
                <a:ea typeface="Calibri"/>
                <a:cs typeface="Calibri"/>
                <a:sym typeface="Calibri"/>
              </a:rPr>
              <a:t>VALUE + STRATEGY</a:t>
            </a:r>
            <a:endParaRPr/>
          </a:p>
        </p:txBody>
      </p:sp>
      <p:cxnSp>
        <p:nvCxnSpPr>
          <p:cNvPr id="217" name="Google Shape;217;p10"/>
          <p:cNvCxnSpPr/>
          <p:nvPr/>
        </p:nvCxnSpPr>
        <p:spPr>
          <a:xfrm>
            <a:off x="0" y="6819900"/>
            <a:ext cx="12191695" cy="0"/>
          </a:xfrm>
          <a:prstGeom prst="straightConnector1">
            <a:avLst/>
          </a:prstGeom>
          <a:noFill/>
          <a:ln cap="flat" cmpd="sng" w="47625">
            <a:solidFill>
              <a:srgbClr val="FFB81C"/>
            </a:solidFill>
            <a:prstDash val="solid"/>
            <a:round/>
            <a:headEnd len="sm" w="sm" type="none"/>
            <a:tailEnd len="sm" w="sm" type="none"/>
          </a:ln>
        </p:spPr>
      </p:cxnSp>
      <p:sp>
        <p:nvSpPr>
          <p:cNvPr id="218" name="Google Shape;218;p10"/>
          <p:cNvSpPr/>
          <p:nvPr/>
        </p:nvSpPr>
        <p:spPr>
          <a:xfrm>
            <a:off x="11477625" y="6419850"/>
            <a:ext cx="285750" cy="2095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lang="en-US" sz="1050">
                <a:solidFill>
                  <a:srgbClr val="65736B"/>
                </a:solidFill>
                <a:latin typeface="Calibri"/>
                <a:ea typeface="Calibri"/>
                <a:cs typeface="Calibri"/>
                <a:sym typeface="Calibri"/>
              </a:rPr>
              <a:t>10</a:t>
            </a:r>
            <a:endParaRPr/>
          </a:p>
        </p:txBody>
      </p:sp>
      <p:graphicFrame>
        <p:nvGraphicFramePr>
          <p:cNvPr id="219" name="Google Shape;219;p10"/>
          <p:cNvGraphicFramePr/>
          <p:nvPr/>
        </p:nvGraphicFramePr>
        <p:xfrm>
          <a:off x="523875" y="1476375"/>
          <a:ext cx="3000000" cy="3000000"/>
        </p:xfrm>
        <a:graphic>
          <a:graphicData uri="http://schemas.openxmlformats.org/drawingml/2006/table">
            <a:tbl>
              <a:tblPr>
                <a:noFill/>
                <a:tableStyleId>{7788B9B1-F278-4A7A-A6D5-9AABFE0BA978}</a:tableStyleId>
              </a:tblPr>
              <a:tblGrid>
                <a:gridCol w="2571750"/>
                <a:gridCol w="4791075"/>
                <a:gridCol w="3781425"/>
              </a:tblGrid>
              <a:tr h="750100">
                <a:tc>
                  <a:txBody>
                    <a:bodyPr/>
                    <a:lstStyle/>
                    <a:p>
                      <a:pPr indent="0" lvl="0" marL="0" marR="0" rtl="0" algn="l">
                        <a:spcBef>
                          <a:spcPts val="0"/>
                        </a:spcBef>
                        <a:spcAft>
                          <a:spcPts val="0"/>
                        </a:spcAft>
                        <a:buClr>
                          <a:srgbClr val="FFFFFF"/>
                        </a:buClr>
                        <a:buSzPts val="1650"/>
                        <a:buFont typeface="Calibri"/>
                        <a:buNone/>
                      </a:pPr>
                      <a:r>
                        <a:rPr b="1" lang="en-US" sz="1650">
                          <a:solidFill>
                            <a:srgbClr val="FFFFFF"/>
                          </a:solidFill>
                          <a:latin typeface="Calibri"/>
                          <a:ea typeface="Calibri"/>
                          <a:cs typeface="Calibri"/>
                          <a:sym typeface="Calibri"/>
                        </a:rPr>
                        <a:t>Existing option</a:t>
                      </a:r>
                      <a:endParaRPr/>
                    </a:p>
                  </a:txBody>
                  <a:tcPr marT="45725" marB="45725" marR="91450" marL="91450" anchor="ctr">
                    <a:solidFill>
                      <a:srgbClr val="154734"/>
                    </a:solidFill>
                  </a:tcPr>
                </a:tc>
                <a:tc>
                  <a:txBody>
                    <a:bodyPr/>
                    <a:lstStyle/>
                    <a:p>
                      <a:pPr indent="0" lvl="0" marL="0" marR="0" rtl="0" algn="l">
                        <a:spcBef>
                          <a:spcPts val="0"/>
                        </a:spcBef>
                        <a:spcAft>
                          <a:spcPts val="0"/>
                        </a:spcAft>
                        <a:buClr>
                          <a:srgbClr val="FFFFFF"/>
                        </a:buClr>
                        <a:buSzPts val="1650"/>
                        <a:buFont typeface="Calibri"/>
                        <a:buNone/>
                      </a:pPr>
                      <a:r>
                        <a:rPr b="1" lang="en-US" sz="1650">
                          <a:solidFill>
                            <a:srgbClr val="FFFFFF"/>
                          </a:solidFill>
                          <a:latin typeface="Calibri"/>
                          <a:ea typeface="Calibri"/>
                          <a:cs typeface="Calibri"/>
                          <a:sym typeface="Calibri"/>
                        </a:rPr>
                        <a:t>What it already offers</a:t>
                      </a:r>
                      <a:endParaRPr/>
                    </a:p>
                  </a:txBody>
                  <a:tcPr marT="45725" marB="45725" marR="91450" marL="91450" anchor="ctr">
                    <a:solidFill>
                      <a:srgbClr val="154734"/>
                    </a:solidFill>
                  </a:tcPr>
                </a:tc>
                <a:tc>
                  <a:txBody>
                    <a:bodyPr/>
                    <a:lstStyle/>
                    <a:p>
                      <a:pPr indent="0" lvl="0" marL="0" marR="0" rtl="0" algn="l">
                        <a:spcBef>
                          <a:spcPts val="0"/>
                        </a:spcBef>
                        <a:spcAft>
                          <a:spcPts val="0"/>
                        </a:spcAft>
                        <a:buClr>
                          <a:srgbClr val="FFFFFF"/>
                        </a:buClr>
                        <a:buSzPts val="1650"/>
                        <a:buFont typeface="Calibri"/>
                        <a:buNone/>
                      </a:pPr>
                      <a:r>
                        <a:rPr b="1" lang="en-US" sz="1650">
                          <a:solidFill>
                            <a:srgbClr val="FFFFFF"/>
                          </a:solidFill>
                          <a:latin typeface="Calibri"/>
                          <a:ea typeface="Calibri"/>
                          <a:cs typeface="Calibri"/>
                          <a:sym typeface="Calibri"/>
                        </a:rPr>
                        <a:t>Our research focus</a:t>
                      </a:r>
                      <a:endParaRPr/>
                    </a:p>
                  </a:txBody>
                  <a:tcPr marT="45725" marB="45725" marR="91450" marL="91450" anchor="ctr">
                    <a:solidFill>
                      <a:srgbClr val="154734"/>
                    </a:solidFill>
                  </a:tcPr>
                </a:tc>
              </a:tr>
              <a:tr h="750100">
                <a:tc>
                  <a:txBody>
                    <a:bodyPr/>
                    <a:lstStyle/>
                    <a:p>
                      <a:pPr indent="0" lvl="0" marL="0" marR="0" rtl="0" algn="l">
                        <a:spcBef>
                          <a:spcPts val="0"/>
                        </a:spcBef>
                        <a:spcAft>
                          <a:spcPts val="0"/>
                        </a:spcAft>
                        <a:buClr>
                          <a:srgbClr val="1A1A1A"/>
                        </a:buClr>
                        <a:buSzPts val="1725"/>
                        <a:buFont typeface="Calibri"/>
                        <a:buNone/>
                      </a:pPr>
                      <a:r>
                        <a:rPr b="1" lang="en-US" sz="1725">
                          <a:solidFill>
                            <a:srgbClr val="1A1A1A"/>
                          </a:solidFill>
                          <a:latin typeface="Calibri"/>
                          <a:ea typeface="Calibri"/>
                          <a:cs typeface="Calibri"/>
                          <a:sym typeface="Calibri"/>
                        </a:rPr>
                        <a:t>NotebookLM</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Source-based explanations, quizzes and flashcards</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Less setup around local course folders</a:t>
                      </a:r>
                      <a:endParaRPr/>
                    </a:p>
                  </a:txBody>
                  <a:tcPr marT="45725" marB="45725" marR="91450" marL="91450" anchor="ctr">
                    <a:solidFill>
                      <a:srgbClr val="FFFFFF"/>
                    </a:solidFill>
                  </a:tcPr>
                </a:tc>
              </a:tr>
              <a:tr h="750100">
                <a:tc>
                  <a:txBody>
                    <a:bodyPr/>
                    <a:lstStyle/>
                    <a:p>
                      <a:pPr indent="0" lvl="0" marL="0" marR="0" rtl="0" algn="l">
                        <a:spcBef>
                          <a:spcPts val="0"/>
                        </a:spcBef>
                        <a:spcAft>
                          <a:spcPts val="0"/>
                        </a:spcAft>
                        <a:buClr>
                          <a:srgbClr val="1A1A1A"/>
                        </a:buClr>
                        <a:buSzPts val="1725"/>
                        <a:buFont typeface="Calibri"/>
                        <a:buNone/>
                      </a:pPr>
                      <a:r>
                        <a:rPr b="1" lang="en-US" sz="1725">
                          <a:solidFill>
                            <a:srgbClr val="1A1A1A"/>
                          </a:solidFill>
                          <a:latin typeface="Calibri"/>
                          <a:ea typeface="Calibri"/>
                          <a:cs typeface="Calibri"/>
                          <a:sym typeface="Calibri"/>
                        </a:rPr>
                        <a:t>Goodnotes AI</a:t>
                      </a:r>
                      <a:endParaRPr/>
                    </a:p>
                  </a:txBody>
                  <a:tcPr marT="45725" marB="45725" marR="91450" marL="91450" anchor="ctr">
                    <a:solidFill>
                      <a:srgbClr val="EAF2EE"/>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AI questions across notes/PDFs and quizzes</a:t>
                      </a:r>
                      <a:endParaRPr/>
                    </a:p>
                  </a:txBody>
                  <a:tcPr marT="45725" marB="45725" marR="91450" marL="91450" anchor="ctr">
                    <a:solidFill>
                      <a:srgbClr val="EAF2EE"/>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A complete study-to-review workflow</a:t>
                      </a:r>
                      <a:endParaRPr/>
                    </a:p>
                  </a:txBody>
                  <a:tcPr marT="45725" marB="45725" marR="91450" marL="91450" anchor="ctr">
                    <a:solidFill>
                      <a:srgbClr val="EAF2EE"/>
                    </a:solidFill>
                  </a:tcPr>
                </a:tc>
              </a:tr>
              <a:tr h="750100">
                <a:tc>
                  <a:txBody>
                    <a:bodyPr/>
                    <a:lstStyle/>
                    <a:p>
                      <a:pPr indent="0" lvl="0" marL="0" marR="0" rtl="0" algn="l">
                        <a:spcBef>
                          <a:spcPts val="0"/>
                        </a:spcBef>
                        <a:spcAft>
                          <a:spcPts val="0"/>
                        </a:spcAft>
                        <a:buClr>
                          <a:srgbClr val="1A1A1A"/>
                        </a:buClr>
                        <a:buSzPts val="1725"/>
                        <a:buFont typeface="Calibri"/>
                        <a:buNone/>
                      </a:pPr>
                      <a:r>
                        <a:rPr b="1" lang="en-US" sz="1725">
                          <a:solidFill>
                            <a:srgbClr val="1A1A1A"/>
                          </a:solidFill>
                          <a:latin typeface="Calibri"/>
                          <a:ea typeface="Calibri"/>
                          <a:cs typeface="Calibri"/>
                          <a:sym typeface="Calibri"/>
                        </a:rPr>
                        <a:t>Adobe Acrobat AI</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PDF questions, citations and mobile voice</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Practice and course planning together</a:t>
                      </a:r>
                      <a:endParaRPr/>
                    </a:p>
                  </a:txBody>
                  <a:tcPr marT="45725" marB="45725" marR="91450" marL="91450" anchor="ctr">
                    <a:solidFill>
                      <a:srgbClr val="FFFFFF"/>
                    </a:solidFill>
                  </a:tcPr>
                </a:tc>
              </a:tr>
            </a:tbl>
          </a:graphicData>
        </a:graphic>
      </p:graphicFrame>
      <p:sp>
        <p:nvSpPr>
          <p:cNvPr id="220" name="Google Shape;220;p10"/>
          <p:cNvSpPr/>
          <p:nvPr/>
        </p:nvSpPr>
        <p:spPr>
          <a:xfrm>
            <a:off x="523875" y="4705350"/>
            <a:ext cx="1095375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54734"/>
                </a:solidFill>
                <a:latin typeface="Calibri"/>
                <a:ea typeface="Calibri"/>
                <a:cs typeface="Calibri"/>
                <a:sym typeface="Calibri"/>
              </a:rPr>
              <a:t>PROPOSED UNIQUE VALUE</a:t>
            </a:r>
            <a:endParaRPr/>
          </a:p>
        </p:txBody>
      </p:sp>
      <p:sp>
        <p:nvSpPr>
          <p:cNvPr id="221" name="Google Shape;221;p10"/>
          <p:cNvSpPr/>
          <p:nvPr/>
        </p:nvSpPr>
        <p:spPr>
          <a:xfrm>
            <a:off x="523875" y="5019675"/>
            <a:ext cx="11001375"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325">
                <a:solidFill>
                  <a:srgbClr val="154734"/>
                </a:solidFill>
                <a:latin typeface="Calibri"/>
                <a:ea typeface="Calibri"/>
                <a:cs typeface="Calibri"/>
                <a:sym typeface="Calibri"/>
              </a:rPr>
              <a:t>Help with the file in front of you, followed by practice and planned review</a:t>
            </a:r>
            <a:endParaRPr/>
          </a:p>
        </p:txBody>
      </p:sp>
      <p:sp>
        <p:nvSpPr>
          <p:cNvPr id="222" name="Google Shape;222;p10"/>
          <p:cNvSpPr/>
          <p:nvPr/>
        </p:nvSpPr>
        <p:spPr>
          <a:xfrm>
            <a:off x="523875" y="5876925"/>
            <a:ext cx="110490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725">
                <a:solidFill>
                  <a:srgbClr val="1A1A1A"/>
                </a:solidFill>
                <a:latin typeface="Calibri"/>
                <a:ea typeface="Calibri"/>
                <a:cs typeface="Calibri"/>
                <a:sym typeface="Calibri"/>
              </a:rPr>
              <a:t>Adoption question: would students pay for a smoother workflow and local file control?</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7" name="Shape 227"/>
        <p:cNvGrpSpPr/>
        <p:nvPr/>
      </p:nvGrpSpPr>
      <p:grpSpPr>
        <a:xfrm>
          <a:off x="0" y="0"/>
          <a:ext cx="0" cy="0"/>
          <a:chOff x="0" y="0"/>
          <a:chExt cx="0" cy="0"/>
        </a:xfrm>
      </p:grpSpPr>
      <p:sp>
        <p:nvSpPr>
          <p:cNvPr id="228" name="Google Shape;228;p11"/>
          <p:cNvSpPr/>
          <p:nvPr/>
        </p:nvSpPr>
        <p:spPr>
          <a:xfrm>
            <a:off x="514350" y="428625"/>
            <a:ext cx="8477250" cy="628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154734"/>
                </a:solidFill>
                <a:latin typeface="Calibri"/>
                <a:ea typeface="Calibri"/>
                <a:cs typeface="Calibri"/>
                <a:sym typeface="Calibri"/>
              </a:rPr>
              <a:t>Learning environment research phases</a:t>
            </a:r>
            <a:endParaRPr/>
          </a:p>
        </p:txBody>
      </p:sp>
      <p:sp>
        <p:nvSpPr>
          <p:cNvPr id="229" name="Google Shape;229;p11"/>
          <p:cNvSpPr/>
          <p:nvPr/>
        </p:nvSpPr>
        <p:spPr>
          <a:xfrm>
            <a:off x="9286875" y="409575"/>
            <a:ext cx="2381250" cy="361950"/>
          </a:xfrm>
          <a:prstGeom prst="roundRect">
            <a:avLst>
              <a:gd fmla="val 39474" name="adj"/>
            </a:avLst>
          </a:prstGeom>
          <a:solidFill>
            <a:srgbClr val="FFB8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a:off x="9382125" y="485775"/>
            <a:ext cx="2190750" cy="2190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200">
                <a:solidFill>
                  <a:srgbClr val="154734"/>
                </a:solidFill>
                <a:latin typeface="Calibri"/>
                <a:ea typeface="Calibri"/>
                <a:cs typeface="Calibri"/>
                <a:sym typeface="Calibri"/>
              </a:rPr>
              <a:t>HOW / PDSA</a:t>
            </a:r>
            <a:endParaRPr/>
          </a:p>
        </p:txBody>
      </p:sp>
      <p:cxnSp>
        <p:nvCxnSpPr>
          <p:cNvPr id="231" name="Google Shape;231;p11"/>
          <p:cNvCxnSpPr/>
          <p:nvPr/>
        </p:nvCxnSpPr>
        <p:spPr>
          <a:xfrm>
            <a:off x="0" y="6819900"/>
            <a:ext cx="12191695" cy="0"/>
          </a:xfrm>
          <a:prstGeom prst="straightConnector1">
            <a:avLst/>
          </a:prstGeom>
          <a:noFill/>
          <a:ln cap="flat" cmpd="sng" w="47625">
            <a:solidFill>
              <a:srgbClr val="FFB81C"/>
            </a:solidFill>
            <a:prstDash val="solid"/>
            <a:round/>
            <a:headEnd len="sm" w="sm" type="none"/>
            <a:tailEnd len="sm" w="sm" type="none"/>
          </a:ln>
        </p:spPr>
      </p:cxnSp>
      <p:sp>
        <p:nvSpPr>
          <p:cNvPr id="232" name="Google Shape;232;p11"/>
          <p:cNvSpPr/>
          <p:nvPr/>
        </p:nvSpPr>
        <p:spPr>
          <a:xfrm>
            <a:off x="11477625" y="6419850"/>
            <a:ext cx="285750" cy="2095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lang="en-US" sz="1050">
                <a:solidFill>
                  <a:srgbClr val="65736B"/>
                </a:solidFill>
                <a:latin typeface="Calibri"/>
                <a:ea typeface="Calibri"/>
                <a:cs typeface="Calibri"/>
                <a:sym typeface="Calibri"/>
              </a:rPr>
              <a:t>11</a:t>
            </a:r>
            <a:endParaRPr/>
          </a:p>
        </p:txBody>
      </p:sp>
      <p:sp>
        <p:nvSpPr>
          <p:cNvPr id="233" name="Google Shape;233;p11"/>
          <p:cNvSpPr/>
          <p:nvPr/>
        </p:nvSpPr>
        <p:spPr>
          <a:xfrm>
            <a:off x="523875" y="1438275"/>
            <a:ext cx="238125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FFB81C"/>
                </a:solidFill>
                <a:latin typeface="Calibri"/>
                <a:ea typeface="Calibri"/>
                <a:cs typeface="Calibri"/>
                <a:sym typeface="Calibri"/>
              </a:rPr>
              <a:t>01</a:t>
            </a:r>
            <a:endParaRPr/>
          </a:p>
        </p:txBody>
      </p:sp>
      <p:sp>
        <p:nvSpPr>
          <p:cNvPr id="234" name="Google Shape;234;p11"/>
          <p:cNvSpPr/>
          <p:nvPr/>
        </p:nvSpPr>
        <p:spPr>
          <a:xfrm>
            <a:off x="523875" y="2066925"/>
            <a:ext cx="2333625" cy="333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154734"/>
                </a:solidFill>
                <a:latin typeface="Calibri"/>
                <a:ea typeface="Calibri"/>
                <a:cs typeface="Calibri"/>
                <a:sym typeface="Calibri"/>
              </a:rPr>
              <a:t>PLAN</a:t>
            </a:r>
            <a:endParaRPr/>
          </a:p>
        </p:txBody>
      </p:sp>
      <p:cxnSp>
        <p:nvCxnSpPr>
          <p:cNvPr id="235" name="Google Shape;235;p11"/>
          <p:cNvCxnSpPr/>
          <p:nvPr/>
        </p:nvCxnSpPr>
        <p:spPr>
          <a:xfrm>
            <a:off x="523875" y="2486025"/>
            <a:ext cx="2352675" cy="0"/>
          </a:xfrm>
          <a:prstGeom prst="straightConnector1">
            <a:avLst/>
          </a:prstGeom>
          <a:noFill/>
          <a:ln cap="flat" cmpd="sng" w="19050">
            <a:solidFill>
              <a:srgbClr val="CDDBD3"/>
            </a:solidFill>
            <a:prstDash val="solid"/>
            <a:round/>
            <a:headEnd len="sm" w="sm" type="none"/>
            <a:tailEnd len="sm" w="sm" type="none"/>
          </a:ln>
        </p:spPr>
      </p:cxnSp>
      <p:sp>
        <p:nvSpPr>
          <p:cNvPr id="236" name="Google Shape;236;p11"/>
          <p:cNvSpPr/>
          <p:nvPr/>
        </p:nvSpPr>
        <p:spPr>
          <a:xfrm>
            <a:off x="523875" y="2676525"/>
            <a:ext cx="2352675" cy="1809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1A1A1A"/>
                </a:solidFill>
                <a:latin typeface="Calibri"/>
                <a:ea typeface="Calibri"/>
                <a:cs typeface="Calibri"/>
                <a:sym typeface="Calibri"/>
              </a:rPr>
              <a:t>Interview students and observe one real PDF study session.</a:t>
            </a:r>
            <a:endParaRPr/>
          </a:p>
        </p:txBody>
      </p:sp>
      <p:sp>
        <p:nvSpPr>
          <p:cNvPr id="237" name="Google Shape;237;p11"/>
          <p:cNvSpPr/>
          <p:nvPr/>
        </p:nvSpPr>
        <p:spPr>
          <a:xfrm>
            <a:off x="3362325" y="1438275"/>
            <a:ext cx="238125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FFB81C"/>
                </a:solidFill>
                <a:latin typeface="Calibri"/>
                <a:ea typeface="Calibri"/>
                <a:cs typeface="Calibri"/>
                <a:sym typeface="Calibri"/>
              </a:rPr>
              <a:t>02</a:t>
            </a:r>
            <a:endParaRPr/>
          </a:p>
        </p:txBody>
      </p:sp>
      <p:sp>
        <p:nvSpPr>
          <p:cNvPr id="238" name="Google Shape;238;p11"/>
          <p:cNvSpPr/>
          <p:nvPr/>
        </p:nvSpPr>
        <p:spPr>
          <a:xfrm>
            <a:off x="3362325" y="2066925"/>
            <a:ext cx="2333625" cy="333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154734"/>
                </a:solidFill>
                <a:latin typeface="Calibri"/>
                <a:ea typeface="Calibri"/>
                <a:cs typeface="Calibri"/>
                <a:sym typeface="Calibri"/>
              </a:rPr>
              <a:t>DO</a:t>
            </a:r>
            <a:endParaRPr/>
          </a:p>
        </p:txBody>
      </p:sp>
      <p:cxnSp>
        <p:nvCxnSpPr>
          <p:cNvPr id="239" name="Google Shape;239;p11"/>
          <p:cNvCxnSpPr/>
          <p:nvPr/>
        </p:nvCxnSpPr>
        <p:spPr>
          <a:xfrm>
            <a:off x="3362325" y="2486025"/>
            <a:ext cx="2352675" cy="0"/>
          </a:xfrm>
          <a:prstGeom prst="straightConnector1">
            <a:avLst/>
          </a:prstGeom>
          <a:noFill/>
          <a:ln cap="flat" cmpd="sng" w="19050">
            <a:solidFill>
              <a:srgbClr val="CDDBD3"/>
            </a:solidFill>
            <a:prstDash val="solid"/>
            <a:round/>
            <a:headEnd len="sm" w="sm" type="none"/>
            <a:tailEnd len="sm" w="sm" type="none"/>
          </a:ln>
        </p:spPr>
      </p:cxnSp>
      <p:sp>
        <p:nvSpPr>
          <p:cNvPr id="240" name="Google Shape;240;p11"/>
          <p:cNvSpPr/>
          <p:nvPr/>
        </p:nvSpPr>
        <p:spPr>
          <a:xfrm>
            <a:off x="3362325" y="2676525"/>
            <a:ext cx="2352675" cy="1809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1A1A1A"/>
                </a:solidFill>
                <a:latin typeface="Calibri"/>
                <a:ea typeface="Calibri"/>
                <a:cs typeface="Calibri"/>
                <a:sym typeface="Calibri"/>
              </a:rPr>
              <a:t>Prototype page explanation, source references and a short quiz.</a:t>
            </a:r>
            <a:endParaRPr/>
          </a:p>
        </p:txBody>
      </p:sp>
      <p:sp>
        <p:nvSpPr>
          <p:cNvPr id="241" name="Google Shape;241;p11"/>
          <p:cNvSpPr/>
          <p:nvPr/>
        </p:nvSpPr>
        <p:spPr>
          <a:xfrm>
            <a:off x="6200775" y="1438275"/>
            <a:ext cx="238125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FFB81C"/>
                </a:solidFill>
                <a:latin typeface="Calibri"/>
                <a:ea typeface="Calibri"/>
                <a:cs typeface="Calibri"/>
                <a:sym typeface="Calibri"/>
              </a:rPr>
              <a:t>03</a:t>
            </a:r>
            <a:endParaRPr/>
          </a:p>
        </p:txBody>
      </p:sp>
      <p:sp>
        <p:nvSpPr>
          <p:cNvPr id="242" name="Google Shape;242;p11"/>
          <p:cNvSpPr/>
          <p:nvPr/>
        </p:nvSpPr>
        <p:spPr>
          <a:xfrm>
            <a:off x="6200775" y="2066925"/>
            <a:ext cx="2333625" cy="333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154734"/>
                </a:solidFill>
                <a:latin typeface="Calibri"/>
                <a:ea typeface="Calibri"/>
                <a:cs typeface="Calibri"/>
                <a:sym typeface="Calibri"/>
              </a:rPr>
              <a:t>STUDY</a:t>
            </a:r>
            <a:endParaRPr/>
          </a:p>
        </p:txBody>
      </p:sp>
      <p:cxnSp>
        <p:nvCxnSpPr>
          <p:cNvPr id="243" name="Google Shape;243;p11"/>
          <p:cNvCxnSpPr/>
          <p:nvPr/>
        </p:nvCxnSpPr>
        <p:spPr>
          <a:xfrm>
            <a:off x="6200775" y="2486025"/>
            <a:ext cx="2352675" cy="0"/>
          </a:xfrm>
          <a:prstGeom prst="straightConnector1">
            <a:avLst/>
          </a:prstGeom>
          <a:noFill/>
          <a:ln cap="flat" cmpd="sng" w="19050">
            <a:solidFill>
              <a:srgbClr val="CDDBD3"/>
            </a:solidFill>
            <a:prstDash val="solid"/>
            <a:round/>
            <a:headEnd len="sm" w="sm" type="none"/>
            <a:tailEnd len="sm" w="sm" type="none"/>
          </a:ln>
        </p:spPr>
      </p:cxnSp>
      <p:sp>
        <p:nvSpPr>
          <p:cNvPr id="244" name="Google Shape;244;p11"/>
          <p:cNvSpPr/>
          <p:nvPr/>
        </p:nvSpPr>
        <p:spPr>
          <a:xfrm>
            <a:off x="6200775" y="2676525"/>
            <a:ext cx="2352675" cy="1809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1A1A1A"/>
                </a:solidFill>
                <a:latin typeface="Calibri"/>
                <a:ea typeface="Calibri"/>
                <a:cs typeface="Calibri"/>
                <a:sym typeface="Calibri"/>
              </a:rPr>
              <a:t>Test setup time, explanation accuracy and delayed recall.</a:t>
            </a:r>
            <a:endParaRPr/>
          </a:p>
        </p:txBody>
      </p:sp>
      <p:sp>
        <p:nvSpPr>
          <p:cNvPr id="245" name="Google Shape;245;p11"/>
          <p:cNvSpPr/>
          <p:nvPr/>
        </p:nvSpPr>
        <p:spPr>
          <a:xfrm>
            <a:off x="9039225" y="1438275"/>
            <a:ext cx="238125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FFB81C"/>
                </a:solidFill>
                <a:latin typeface="Calibri"/>
                <a:ea typeface="Calibri"/>
                <a:cs typeface="Calibri"/>
                <a:sym typeface="Calibri"/>
              </a:rPr>
              <a:t>04</a:t>
            </a:r>
            <a:endParaRPr/>
          </a:p>
        </p:txBody>
      </p:sp>
      <p:sp>
        <p:nvSpPr>
          <p:cNvPr id="246" name="Google Shape;246;p11"/>
          <p:cNvSpPr/>
          <p:nvPr/>
        </p:nvSpPr>
        <p:spPr>
          <a:xfrm>
            <a:off x="9039225" y="2066925"/>
            <a:ext cx="2333625" cy="333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154734"/>
                </a:solidFill>
                <a:latin typeface="Calibri"/>
                <a:ea typeface="Calibri"/>
                <a:cs typeface="Calibri"/>
                <a:sym typeface="Calibri"/>
              </a:rPr>
              <a:t>ACT</a:t>
            </a:r>
            <a:endParaRPr/>
          </a:p>
        </p:txBody>
      </p:sp>
      <p:cxnSp>
        <p:nvCxnSpPr>
          <p:cNvPr id="247" name="Google Shape;247;p11"/>
          <p:cNvCxnSpPr/>
          <p:nvPr/>
        </p:nvCxnSpPr>
        <p:spPr>
          <a:xfrm>
            <a:off x="9039225" y="2486025"/>
            <a:ext cx="2352675" cy="0"/>
          </a:xfrm>
          <a:prstGeom prst="straightConnector1">
            <a:avLst/>
          </a:prstGeom>
          <a:noFill/>
          <a:ln cap="flat" cmpd="sng" w="19050">
            <a:solidFill>
              <a:srgbClr val="CDDBD3"/>
            </a:solidFill>
            <a:prstDash val="solid"/>
            <a:round/>
            <a:headEnd len="sm" w="sm" type="none"/>
            <a:tailEnd len="sm" w="sm" type="none"/>
          </a:ln>
        </p:spPr>
      </p:cxnSp>
      <p:sp>
        <p:nvSpPr>
          <p:cNvPr id="248" name="Google Shape;248;p11"/>
          <p:cNvSpPr/>
          <p:nvPr/>
        </p:nvSpPr>
        <p:spPr>
          <a:xfrm>
            <a:off x="9039225" y="2676525"/>
            <a:ext cx="2352675" cy="1809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1A1A1A"/>
                </a:solidFill>
                <a:latin typeface="Calibri"/>
                <a:ea typeface="Calibri"/>
                <a:cs typeface="Calibri"/>
                <a:sym typeface="Calibri"/>
              </a:rPr>
              <a:t>Improve the study flow and narrow device requirements.</a:t>
            </a:r>
            <a:endParaRPr/>
          </a:p>
        </p:txBody>
      </p:sp>
      <p:sp>
        <p:nvSpPr>
          <p:cNvPr id="249" name="Google Shape;249;p11"/>
          <p:cNvSpPr/>
          <p:nvPr/>
        </p:nvSpPr>
        <p:spPr>
          <a:xfrm>
            <a:off x="523875" y="4591050"/>
            <a:ext cx="11144250" cy="771525"/>
          </a:xfrm>
          <a:prstGeom prst="rect">
            <a:avLst/>
          </a:prstGeom>
          <a:solidFill>
            <a:srgbClr val="EAF2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1"/>
          <p:cNvSpPr/>
          <p:nvPr/>
        </p:nvSpPr>
        <p:spPr>
          <a:xfrm>
            <a:off x="714375" y="4714875"/>
            <a:ext cx="107442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125">
                <a:solidFill>
                  <a:srgbClr val="154734"/>
                </a:solidFill>
                <a:latin typeface="Calibri"/>
                <a:ea typeface="Calibri"/>
                <a:cs typeface="Calibri"/>
                <a:sym typeface="Calibri"/>
              </a:rPr>
              <a:t>QUESTION TO TEST</a:t>
            </a:r>
            <a:endParaRPr/>
          </a:p>
        </p:txBody>
      </p:sp>
      <p:sp>
        <p:nvSpPr>
          <p:cNvPr id="251" name="Google Shape;251;p11"/>
          <p:cNvSpPr/>
          <p:nvPr/>
        </p:nvSpPr>
        <p:spPr>
          <a:xfrm>
            <a:off x="714375" y="4972050"/>
            <a:ext cx="1074420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75">
                <a:solidFill>
                  <a:srgbClr val="154734"/>
                </a:solidFill>
                <a:latin typeface="Calibri"/>
                <a:ea typeface="Calibri"/>
                <a:cs typeface="Calibri"/>
                <a:sym typeface="Calibri"/>
              </a:rPr>
              <a:t>Does this workflow improve understanding and reduce context-setting effort?</a:t>
            </a:r>
            <a:endParaRPr/>
          </a:p>
        </p:txBody>
      </p:sp>
      <p:sp>
        <p:nvSpPr>
          <p:cNvPr id="252" name="Google Shape;252;p11"/>
          <p:cNvSpPr/>
          <p:nvPr/>
        </p:nvSpPr>
        <p:spPr>
          <a:xfrm>
            <a:off x="523875" y="5686425"/>
            <a:ext cx="1905000" cy="2952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75">
                <a:solidFill>
                  <a:srgbClr val="154734"/>
                </a:solidFill>
                <a:latin typeface="Calibri"/>
                <a:ea typeface="Calibri"/>
                <a:cs typeface="Calibri"/>
                <a:sym typeface="Calibri"/>
              </a:rPr>
              <a:t>First prototype</a:t>
            </a:r>
            <a:endParaRPr/>
          </a:p>
        </p:txBody>
      </p:sp>
      <p:sp>
        <p:nvSpPr>
          <p:cNvPr id="253" name="Google Shape;253;p11"/>
          <p:cNvSpPr/>
          <p:nvPr/>
        </p:nvSpPr>
        <p:spPr>
          <a:xfrm>
            <a:off x="2476500" y="5676900"/>
            <a:ext cx="912495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1A1A1A"/>
                </a:solidFill>
                <a:latin typeface="Calibri"/>
                <a:ea typeface="Calibri"/>
                <a:cs typeface="Calibri"/>
                <a:sym typeface="Calibri"/>
              </a:rPr>
              <a:t>One desktop workflow and one course. Extend to voice, calendar and iPad.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4734"/>
        </a:solidFill>
      </p:bgPr>
    </p:bg>
    <p:spTree>
      <p:nvGrpSpPr>
        <p:cNvPr id="258" name="Shape 258"/>
        <p:cNvGrpSpPr/>
        <p:nvPr/>
      </p:nvGrpSpPr>
      <p:grpSpPr>
        <a:xfrm>
          <a:off x="0" y="0"/>
          <a:ext cx="0" cy="0"/>
          <a:chOff x="0" y="0"/>
          <a:chExt cx="0" cy="0"/>
        </a:xfrm>
      </p:grpSpPr>
      <p:pic>
        <p:nvPicPr>
          <p:cNvPr id="259" name="Google Shape;259;p12"/>
          <p:cNvPicPr preferRelativeResize="0"/>
          <p:nvPr/>
        </p:nvPicPr>
        <p:blipFill rotWithShape="1">
          <a:blip r:embed="rId3">
            <a:alphaModFix/>
          </a:blip>
          <a:srcRect b="14652" l="0" r="0" t="14652"/>
          <a:stretch/>
        </p:blipFill>
        <p:spPr>
          <a:xfrm>
            <a:off x="0" y="0"/>
            <a:ext cx="12191695" cy="4848225"/>
          </a:xfrm>
          <a:prstGeom prst="rect">
            <a:avLst/>
          </a:prstGeom>
          <a:noFill/>
          <a:ln>
            <a:noFill/>
          </a:ln>
        </p:spPr>
      </p:pic>
      <p:sp>
        <p:nvSpPr>
          <p:cNvPr id="260" name="Google Shape;260;p12"/>
          <p:cNvSpPr/>
          <p:nvPr/>
        </p:nvSpPr>
        <p:spPr>
          <a:xfrm>
            <a:off x="0" y="0"/>
            <a:ext cx="12191695" cy="1400175"/>
          </a:xfrm>
          <a:prstGeom prst="rect">
            <a:avLst/>
          </a:prstGeom>
          <a:solidFill>
            <a:srgbClr val="FFFFFF">
              <a:alpha val="9294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2"/>
          <p:cNvSpPr/>
          <p:nvPr/>
        </p:nvSpPr>
        <p:spPr>
          <a:xfrm>
            <a:off x="523875" y="323850"/>
            <a:ext cx="8286750" cy="60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600">
                <a:solidFill>
                  <a:srgbClr val="154734"/>
                </a:solidFill>
                <a:latin typeface="Calibri"/>
                <a:ea typeface="Calibri"/>
                <a:cs typeface="Calibri"/>
                <a:sym typeface="Calibri"/>
              </a:rPr>
              <a:t>AI-Assisted Drones</a:t>
            </a:r>
            <a:endParaRPr/>
          </a:p>
        </p:txBody>
      </p:sp>
      <p:sp>
        <p:nvSpPr>
          <p:cNvPr id="262" name="Google Shape;262;p12"/>
          <p:cNvSpPr/>
          <p:nvPr/>
        </p:nvSpPr>
        <p:spPr>
          <a:xfrm>
            <a:off x="9286875" y="409575"/>
            <a:ext cx="2381250" cy="361950"/>
          </a:xfrm>
          <a:prstGeom prst="roundRect">
            <a:avLst>
              <a:gd fmla="val 39474" name="adj"/>
            </a:avLst>
          </a:prstGeom>
          <a:solidFill>
            <a:srgbClr val="FFB8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2"/>
          <p:cNvSpPr/>
          <p:nvPr/>
        </p:nvSpPr>
        <p:spPr>
          <a:xfrm>
            <a:off x="9382125" y="485775"/>
            <a:ext cx="2190750" cy="2190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200">
                <a:solidFill>
                  <a:srgbClr val="154734"/>
                </a:solidFill>
                <a:latin typeface="Calibri"/>
                <a:ea typeface="Calibri"/>
                <a:cs typeface="Calibri"/>
                <a:sym typeface="Calibri"/>
              </a:rPr>
              <a:t>DEFINITION + WHY</a:t>
            </a:r>
            <a:endParaRPr/>
          </a:p>
        </p:txBody>
      </p:sp>
      <p:sp>
        <p:nvSpPr>
          <p:cNvPr id="264" name="Google Shape;264;p12"/>
          <p:cNvSpPr/>
          <p:nvPr/>
        </p:nvSpPr>
        <p:spPr>
          <a:xfrm>
            <a:off x="523875" y="962025"/>
            <a:ext cx="11144250" cy="361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75">
                <a:solidFill>
                  <a:srgbClr val="154734"/>
                </a:solidFill>
                <a:latin typeface="Calibri"/>
                <a:ea typeface="Calibri"/>
                <a:cs typeface="Calibri"/>
                <a:sym typeface="Calibri"/>
              </a:rPr>
              <a:t>Crop disease screening and fire detection in Saskatchewan</a:t>
            </a:r>
            <a:endParaRPr/>
          </a:p>
        </p:txBody>
      </p:sp>
      <p:sp>
        <p:nvSpPr>
          <p:cNvPr id="265" name="Google Shape;265;p12"/>
          <p:cNvSpPr/>
          <p:nvPr/>
        </p:nvSpPr>
        <p:spPr>
          <a:xfrm>
            <a:off x="523875" y="5057775"/>
            <a:ext cx="5162550" cy="2762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500">
                <a:solidFill>
                  <a:srgbClr val="FFB81C"/>
                </a:solidFill>
                <a:latin typeface="Calibri"/>
                <a:ea typeface="Calibri"/>
                <a:cs typeface="Calibri"/>
                <a:sym typeface="Calibri"/>
              </a:rPr>
              <a:t>DEFINITION</a:t>
            </a:r>
            <a:endParaRPr/>
          </a:p>
        </p:txBody>
      </p:sp>
      <p:sp>
        <p:nvSpPr>
          <p:cNvPr id="266" name="Google Shape;266;p12"/>
          <p:cNvSpPr/>
          <p:nvPr/>
        </p:nvSpPr>
        <p:spPr>
          <a:xfrm>
            <a:off x="523875" y="5457825"/>
            <a:ext cx="5238750" cy="809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FFFF"/>
                </a:solidFill>
                <a:latin typeface="Calibri"/>
                <a:ea typeface="Calibri"/>
                <a:cs typeface="Calibri"/>
                <a:sym typeface="Calibri"/>
              </a:rPr>
              <a:t>An aerial system that flags crop problems</a:t>
            </a:r>
            <a:endParaRPr/>
          </a:p>
          <a:p>
            <a:pPr indent="0" lvl="0" marL="0" marR="0" rtl="0" algn="l">
              <a:spcBef>
                <a:spcPts val="0"/>
              </a:spcBef>
              <a:spcAft>
                <a:spcPts val="0"/>
              </a:spcAft>
              <a:buNone/>
            </a:pPr>
            <a:r>
              <a:rPr b="0" lang="en-US" sz="2025">
                <a:solidFill>
                  <a:srgbClr val="FFFFFF"/>
                </a:solidFill>
                <a:latin typeface="Calibri"/>
                <a:ea typeface="Calibri"/>
                <a:cs typeface="Calibri"/>
                <a:sym typeface="Calibri"/>
              </a:rPr>
              <a:t>and signs of fire for human review.</a:t>
            </a:r>
            <a:endParaRPr/>
          </a:p>
        </p:txBody>
      </p:sp>
      <p:sp>
        <p:nvSpPr>
          <p:cNvPr id="267" name="Google Shape;267;p12"/>
          <p:cNvSpPr/>
          <p:nvPr/>
        </p:nvSpPr>
        <p:spPr>
          <a:xfrm>
            <a:off x="6248400" y="5124450"/>
            <a:ext cx="5162550" cy="2762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500">
                <a:solidFill>
                  <a:srgbClr val="FFB81C"/>
                </a:solidFill>
                <a:latin typeface="Calibri"/>
                <a:ea typeface="Calibri"/>
                <a:cs typeface="Calibri"/>
                <a:sym typeface="Calibri"/>
              </a:rPr>
              <a:t>WHY</a:t>
            </a:r>
            <a:endParaRPr/>
          </a:p>
        </p:txBody>
      </p:sp>
      <p:sp>
        <p:nvSpPr>
          <p:cNvPr id="268" name="Google Shape;268;p12"/>
          <p:cNvSpPr/>
          <p:nvPr/>
        </p:nvSpPr>
        <p:spPr>
          <a:xfrm>
            <a:off x="6248400" y="5514975"/>
            <a:ext cx="516255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FFFF"/>
                </a:solidFill>
                <a:latin typeface="Calibri"/>
                <a:ea typeface="Calibri"/>
                <a:cs typeface="Calibri"/>
                <a:sym typeface="Calibri"/>
              </a:rPr>
              <a:t>Large areas take time to inspect.</a:t>
            </a:r>
            <a:endParaRPr/>
          </a:p>
          <a:p>
            <a:pPr indent="0" lvl="0" marL="0" marR="0" rtl="0" algn="l">
              <a:spcBef>
                <a:spcPts val="0"/>
              </a:spcBef>
              <a:spcAft>
                <a:spcPts val="0"/>
              </a:spcAft>
              <a:buNone/>
            </a:pPr>
            <a:r>
              <a:rPr b="0" lang="en-US" sz="2025">
                <a:solidFill>
                  <a:srgbClr val="FFFFFF"/>
                </a:solidFill>
                <a:latin typeface="Calibri"/>
                <a:ea typeface="Calibri"/>
                <a:cs typeface="Calibri"/>
                <a:sym typeface="Calibri"/>
              </a:rPr>
              <a:t>Useful alerts need a location to investigate.</a:t>
            </a:r>
            <a:endParaRPr/>
          </a:p>
        </p:txBody>
      </p:sp>
      <p:sp>
        <p:nvSpPr>
          <p:cNvPr id="269" name="Google Shape;269;p12"/>
          <p:cNvSpPr/>
          <p:nvPr/>
        </p:nvSpPr>
        <p:spPr>
          <a:xfrm>
            <a:off x="523875" y="4552950"/>
            <a:ext cx="1057275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FFFFFF"/>
                </a:solidFill>
                <a:latin typeface="Calibri"/>
                <a:ea typeface="Calibri"/>
                <a:cs typeface="Calibri"/>
                <a:sym typeface="Calibri"/>
              </a:rPr>
              <a:t>Existing hardware shown as a concept reference</a:t>
            </a:r>
            <a:endParaRPr/>
          </a:p>
        </p:txBody>
      </p:sp>
      <p:sp>
        <p:nvSpPr>
          <p:cNvPr id="270" name="Google Shape;270;p12"/>
          <p:cNvSpPr/>
          <p:nvPr/>
        </p:nvSpPr>
        <p:spPr>
          <a:xfrm>
            <a:off x="523875" y="6477000"/>
            <a:ext cx="10382250" cy="2190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125" u="sng">
                <a:solidFill>
                  <a:srgbClr val="FFFFFF"/>
                </a:solidFill>
                <a:latin typeface="Calibri"/>
                <a:ea typeface="Calibri"/>
                <a:cs typeface="Calibri"/>
                <a:sym typeface="Calibri"/>
                <a:hlinkClick r:id="rId4">
                  <a:extLst>
                    <a:ext uri="{A12FA001-AC4F-418D-AE19-62706E023703}">
                      <ahyp:hlinkClr val="tx"/>
                    </a:ext>
                  </a:extLst>
                </a:hlinkClick>
              </a:rPr>
              <a:t>Photo: Altaf Shah / Pexels</a:t>
            </a:r>
            <a:endParaRPr/>
          </a:p>
        </p:txBody>
      </p:sp>
      <p:cxnSp>
        <p:nvCxnSpPr>
          <p:cNvPr id="271" name="Google Shape;271;p12"/>
          <p:cNvCxnSpPr/>
          <p:nvPr/>
        </p:nvCxnSpPr>
        <p:spPr>
          <a:xfrm>
            <a:off x="0" y="6819900"/>
            <a:ext cx="12191695" cy="0"/>
          </a:xfrm>
          <a:prstGeom prst="straightConnector1">
            <a:avLst/>
          </a:prstGeom>
          <a:noFill/>
          <a:ln cap="flat" cmpd="sng" w="47625">
            <a:solidFill>
              <a:srgbClr val="FFB81C"/>
            </a:solidFill>
            <a:prstDash val="solid"/>
            <a:round/>
            <a:headEnd len="sm" w="sm" type="none"/>
            <a:tailEnd len="sm" w="sm" type="none"/>
          </a:ln>
        </p:spPr>
      </p:cxnSp>
      <p:sp>
        <p:nvSpPr>
          <p:cNvPr id="272" name="Google Shape;272;p12"/>
          <p:cNvSpPr/>
          <p:nvPr/>
        </p:nvSpPr>
        <p:spPr>
          <a:xfrm>
            <a:off x="11458575" y="6477000"/>
            <a:ext cx="314325"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050">
                <a:solidFill>
                  <a:srgbClr val="FFFFFF"/>
                </a:solidFill>
                <a:latin typeface="Calibri"/>
                <a:ea typeface="Calibri"/>
                <a:cs typeface="Calibri"/>
                <a:sym typeface="Calibri"/>
              </a:rPr>
              <a:t>12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7" name="Shape 277"/>
        <p:cNvGrpSpPr/>
        <p:nvPr/>
      </p:nvGrpSpPr>
      <p:grpSpPr>
        <a:xfrm>
          <a:off x="0" y="0"/>
          <a:ext cx="0" cy="0"/>
          <a:chOff x="0" y="0"/>
          <a:chExt cx="0" cy="0"/>
        </a:xfrm>
      </p:grpSpPr>
      <p:sp>
        <p:nvSpPr>
          <p:cNvPr id="278" name="Google Shape;278;p13"/>
          <p:cNvSpPr/>
          <p:nvPr/>
        </p:nvSpPr>
        <p:spPr>
          <a:xfrm>
            <a:off x="514350" y="428625"/>
            <a:ext cx="8477250" cy="628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154734"/>
                </a:solidFill>
                <a:latin typeface="Calibri"/>
                <a:ea typeface="Calibri"/>
                <a:cs typeface="Calibri"/>
                <a:sym typeface="Calibri"/>
              </a:rPr>
              <a:t>Who could use the drone system?</a:t>
            </a:r>
            <a:endParaRPr/>
          </a:p>
        </p:txBody>
      </p:sp>
      <p:sp>
        <p:nvSpPr>
          <p:cNvPr id="279" name="Google Shape;279;p13"/>
          <p:cNvSpPr/>
          <p:nvPr/>
        </p:nvSpPr>
        <p:spPr>
          <a:xfrm>
            <a:off x="9286875" y="409575"/>
            <a:ext cx="2381250" cy="361950"/>
          </a:xfrm>
          <a:prstGeom prst="roundRect">
            <a:avLst>
              <a:gd fmla="val 39474" name="adj"/>
            </a:avLst>
          </a:prstGeom>
          <a:solidFill>
            <a:srgbClr val="FFB8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3"/>
          <p:cNvSpPr/>
          <p:nvPr/>
        </p:nvSpPr>
        <p:spPr>
          <a:xfrm>
            <a:off x="9382125" y="485775"/>
            <a:ext cx="2190750" cy="2190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200">
                <a:solidFill>
                  <a:srgbClr val="154734"/>
                </a:solidFill>
                <a:latin typeface="Calibri"/>
                <a:ea typeface="Calibri"/>
                <a:cs typeface="Calibri"/>
                <a:sym typeface="Calibri"/>
              </a:rPr>
              <a:t>WHO</a:t>
            </a:r>
            <a:endParaRPr/>
          </a:p>
        </p:txBody>
      </p:sp>
      <p:cxnSp>
        <p:nvCxnSpPr>
          <p:cNvPr id="281" name="Google Shape;281;p13"/>
          <p:cNvCxnSpPr/>
          <p:nvPr/>
        </p:nvCxnSpPr>
        <p:spPr>
          <a:xfrm>
            <a:off x="0" y="6819900"/>
            <a:ext cx="12191695" cy="0"/>
          </a:xfrm>
          <a:prstGeom prst="straightConnector1">
            <a:avLst/>
          </a:prstGeom>
          <a:noFill/>
          <a:ln cap="flat" cmpd="sng" w="47625">
            <a:solidFill>
              <a:srgbClr val="FFB81C"/>
            </a:solidFill>
            <a:prstDash val="solid"/>
            <a:round/>
            <a:headEnd len="sm" w="sm" type="none"/>
            <a:tailEnd len="sm" w="sm" type="none"/>
          </a:ln>
        </p:spPr>
      </p:cxnSp>
      <p:sp>
        <p:nvSpPr>
          <p:cNvPr id="282" name="Google Shape;282;p13"/>
          <p:cNvSpPr/>
          <p:nvPr/>
        </p:nvSpPr>
        <p:spPr>
          <a:xfrm>
            <a:off x="11477625" y="6419850"/>
            <a:ext cx="285750" cy="2095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lang="en-US" sz="1050">
                <a:solidFill>
                  <a:srgbClr val="65736B"/>
                </a:solidFill>
                <a:latin typeface="Calibri"/>
                <a:ea typeface="Calibri"/>
                <a:cs typeface="Calibri"/>
                <a:sym typeface="Calibri"/>
              </a:rPr>
              <a:t>13</a:t>
            </a:r>
            <a:endParaRPr/>
          </a:p>
        </p:txBody>
      </p:sp>
      <p:pic>
        <p:nvPicPr>
          <p:cNvPr id="283" name="Google Shape;283;p13"/>
          <p:cNvPicPr preferRelativeResize="0"/>
          <p:nvPr/>
        </p:nvPicPr>
        <p:blipFill rotWithShape="1">
          <a:blip r:embed="rId3">
            <a:alphaModFix/>
          </a:blip>
          <a:srcRect b="16970" l="0" r="0" t="16970"/>
          <a:stretch/>
        </p:blipFill>
        <p:spPr>
          <a:xfrm>
            <a:off x="523875" y="1428750"/>
            <a:ext cx="5362575" cy="2362200"/>
          </a:xfrm>
          <a:prstGeom prst="rect">
            <a:avLst/>
          </a:prstGeom>
          <a:noFill/>
          <a:ln>
            <a:noFill/>
          </a:ln>
        </p:spPr>
      </p:pic>
      <p:pic>
        <p:nvPicPr>
          <p:cNvPr id="284" name="Google Shape;284;p13"/>
          <p:cNvPicPr preferRelativeResize="0"/>
          <p:nvPr/>
        </p:nvPicPr>
        <p:blipFill rotWithShape="1">
          <a:blip r:embed="rId4">
            <a:alphaModFix/>
          </a:blip>
          <a:srcRect b="16970" l="0" r="0" t="16970"/>
          <a:stretch/>
        </p:blipFill>
        <p:spPr>
          <a:xfrm>
            <a:off x="6305550" y="1428750"/>
            <a:ext cx="5362575" cy="2362200"/>
          </a:xfrm>
          <a:prstGeom prst="rect">
            <a:avLst/>
          </a:prstGeom>
          <a:noFill/>
          <a:ln>
            <a:noFill/>
          </a:ln>
        </p:spPr>
      </p:pic>
      <p:sp>
        <p:nvSpPr>
          <p:cNvPr id="285" name="Google Shape;285;p13"/>
          <p:cNvSpPr/>
          <p:nvPr/>
        </p:nvSpPr>
        <p:spPr>
          <a:xfrm>
            <a:off x="523875" y="4000500"/>
            <a:ext cx="5362575" cy="4095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400">
                <a:solidFill>
                  <a:srgbClr val="154734"/>
                </a:solidFill>
                <a:latin typeface="Calibri"/>
                <a:ea typeface="Calibri"/>
                <a:cs typeface="Calibri"/>
                <a:sym typeface="Calibri"/>
              </a:rPr>
              <a:t>Farmers and agronomists</a:t>
            </a:r>
            <a:endParaRPr/>
          </a:p>
        </p:txBody>
      </p:sp>
      <p:sp>
        <p:nvSpPr>
          <p:cNvPr id="286" name="Google Shape;286;p13"/>
          <p:cNvSpPr/>
          <p:nvPr/>
        </p:nvSpPr>
        <p:spPr>
          <a:xfrm>
            <a:off x="523875" y="4495800"/>
            <a:ext cx="5362575" cy="781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1A1A1A"/>
                </a:solidFill>
                <a:latin typeface="Calibri"/>
                <a:ea typeface="Calibri"/>
                <a:cs typeface="Calibri"/>
                <a:sym typeface="Calibri"/>
              </a:rPr>
              <a:t>Need to know where to inspect crops</a:t>
            </a:r>
            <a:endParaRPr/>
          </a:p>
          <a:p>
            <a:pPr indent="0" lvl="0" marL="0" marR="0" rtl="0" algn="l">
              <a:spcBef>
                <a:spcPts val="0"/>
              </a:spcBef>
              <a:spcAft>
                <a:spcPts val="0"/>
              </a:spcAft>
              <a:buNone/>
            </a:pPr>
            <a:r>
              <a:rPr b="0" lang="en-US" sz="2025">
                <a:solidFill>
                  <a:srgbClr val="1A1A1A"/>
                </a:solidFill>
                <a:latin typeface="Calibri"/>
                <a:ea typeface="Calibri"/>
                <a:cs typeface="Calibri"/>
                <a:sym typeface="Calibri"/>
              </a:rPr>
              <a:t>and which suspicious areas to prioritize.</a:t>
            </a:r>
            <a:endParaRPr/>
          </a:p>
        </p:txBody>
      </p:sp>
      <p:sp>
        <p:nvSpPr>
          <p:cNvPr id="287" name="Google Shape;287;p13"/>
          <p:cNvSpPr/>
          <p:nvPr/>
        </p:nvSpPr>
        <p:spPr>
          <a:xfrm>
            <a:off x="6305550" y="4000500"/>
            <a:ext cx="5362575" cy="4095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325">
                <a:solidFill>
                  <a:srgbClr val="154734"/>
                </a:solidFill>
                <a:latin typeface="Calibri"/>
                <a:ea typeface="Calibri"/>
                <a:cs typeface="Calibri"/>
                <a:sym typeface="Calibri"/>
              </a:rPr>
              <a:t>Land and fire-monitoring teams</a:t>
            </a:r>
            <a:endParaRPr/>
          </a:p>
        </p:txBody>
      </p:sp>
      <p:sp>
        <p:nvSpPr>
          <p:cNvPr id="288" name="Google Shape;288;p13"/>
          <p:cNvSpPr/>
          <p:nvPr/>
        </p:nvSpPr>
        <p:spPr>
          <a:xfrm>
            <a:off x="6305550" y="4495800"/>
            <a:ext cx="5362575" cy="781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1A1A1A"/>
                </a:solidFill>
                <a:latin typeface="Calibri"/>
                <a:ea typeface="Calibri"/>
                <a:cs typeface="Calibri"/>
                <a:sym typeface="Calibri"/>
              </a:rPr>
              <a:t>Need timely observations with a location</a:t>
            </a:r>
            <a:endParaRPr/>
          </a:p>
          <a:p>
            <a:pPr indent="0" lvl="0" marL="0" marR="0" rtl="0" algn="l">
              <a:spcBef>
                <a:spcPts val="0"/>
              </a:spcBef>
              <a:spcAft>
                <a:spcPts val="0"/>
              </a:spcAft>
              <a:buNone/>
            </a:pPr>
            <a:r>
              <a:rPr b="0" lang="en-US" sz="2025">
                <a:solidFill>
                  <a:srgbClr val="1A1A1A"/>
                </a:solidFill>
                <a:latin typeface="Calibri"/>
                <a:ea typeface="Calibri"/>
                <a:cs typeface="Calibri"/>
                <a:sym typeface="Calibri"/>
              </a:rPr>
              <a:t>and imagery they can review.</a:t>
            </a:r>
            <a:endParaRPr/>
          </a:p>
        </p:txBody>
      </p:sp>
      <p:sp>
        <p:nvSpPr>
          <p:cNvPr id="289" name="Google Shape;289;p13"/>
          <p:cNvSpPr/>
          <p:nvPr/>
        </p:nvSpPr>
        <p:spPr>
          <a:xfrm>
            <a:off x="523875" y="5591175"/>
            <a:ext cx="11144250" cy="619125"/>
          </a:xfrm>
          <a:prstGeom prst="roundRect">
            <a:avLst>
              <a:gd fmla="val 18462" name="adj"/>
            </a:avLst>
          </a:prstGeom>
          <a:solidFill>
            <a:srgbClr val="FFB8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3"/>
          <p:cNvSpPr/>
          <p:nvPr/>
        </p:nvSpPr>
        <p:spPr>
          <a:xfrm>
            <a:off x="752475" y="5762625"/>
            <a:ext cx="10687050" cy="3524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154734"/>
                </a:solidFill>
                <a:latin typeface="Calibri"/>
                <a:ea typeface="Calibri"/>
                <a:cs typeface="Calibri"/>
                <a:sym typeface="Calibri"/>
              </a:rPr>
              <a:t>Stakeholder interviews are next. Crop scouting leads the first research phase.</a:t>
            </a:r>
            <a:endParaRPr/>
          </a:p>
        </p:txBody>
      </p:sp>
      <p:sp>
        <p:nvSpPr>
          <p:cNvPr id="291" name="Google Shape;291;p13"/>
          <p:cNvSpPr/>
          <p:nvPr/>
        </p:nvSpPr>
        <p:spPr>
          <a:xfrm>
            <a:off x="523875" y="6419850"/>
            <a:ext cx="5238750" cy="2190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125" u="sng">
                <a:solidFill>
                  <a:srgbClr val="65736B"/>
                </a:solidFill>
                <a:latin typeface="Calibri"/>
                <a:ea typeface="Calibri"/>
                <a:cs typeface="Calibri"/>
                <a:sym typeface="Calibri"/>
                <a:hlinkClick r:id="rId5">
                  <a:extLst>
                    <a:ext uri="{A12FA001-AC4F-418D-AE19-62706E023703}">
                      <ahyp:hlinkClr val="tx"/>
                    </a:ext>
                  </a:extLst>
                </a:hlinkClick>
              </a:rPr>
              <a:t>Farmer: Gustavo Fring / Pexels</a:t>
            </a:r>
            <a:endParaRPr/>
          </a:p>
        </p:txBody>
      </p:sp>
      <p:sp>
        <p:nvSpPr>
          <p:cNvPr id="292" name="Google Shape;292;p13"/>
          <p:cNvSpPr/>
          <p:nvPr/>
        </p:nvSpPr>
        <p:spPr>
          <a:xfrm>
            <a:off x="6305550" y="6419850"/>
            <a:ext cx="5000625" cy="2190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125" u="sng">
                <a:solidFill>
                  <a:srgbClr val="65736B"/>
                </a:solidFill>
                <a:latin typeface="Calibri"/>
                <a:ea typeface="Calibri"/>
                <a:cs typeface="Calibri"/>
                <a:sym typeface="Calibri"/>
                <a:hlinkClick r:id="rId6">
                  <a:extLst>
                    <a:ext uri="{A12FA001-AC4F-418D-AE19-62706E023703}">
                      <ahyp:hlinkClr val="tx"/>
                    </a:ext>
                  </a:extLst>
                </a:hlinkClick>
              </a:rPr>
              <a:t>Fire: Saravanan Narayanan / Pexels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7" name="Shape 297"/>
        <p:cNvGrpSpPr/>
        <p:nvPr/>
      </p:nvGrpSpPr>
      <p:grpSpPr>
        <a:xfrm>
          <a:off x="0" y="0"/>
          <a:ext cx="0" cy="0"/>
          <a:chOff x="0" y="0"/>
          <a:chExt cx="0" cy="0"/>
        </a:xfrm>
      </p:grpSpPr>
      <p:sp>
        <p:nvSpPr>
          <p:cNvPr id="298" name="Google Shape;298;p14"/>
          <p:cNvSpPr/>
          <p:nvPr/>
        </p:nvSpPr>
        <p:spPr>
          <a:xfrm>
            <a:off x="514350" y="428625"/>
            <a:ext cx="8477250" cy="628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154734"/>
                </a:solidFill>
                <a:latin typeface="Calibri"/>
                <a:ea typeface="Calibri"/>
                <a:cs typeface="Calibri"/>
                <a:sym typeface="Calibri"/>
              </a:rPr>
              <a:t>Aerial observations and human review</a:t>
            </a:r>
            <a:endParaRPr/>
          </a:p>
        </p:txBody>
      </p:sp>
      <p:sp>
        <p:nvSpPr>
          <p:cNvPr id="299" name="Google Shape;299;p14"/>
          <p:cNvSpPr/>
          <p:nvPr/>
        </p:nvSpPr>
        <p:spPr>
          <a:xfrm>
            <a:off x="9286875" y="409575"/>
            <a:ext cx="2381250" cy="361950"/>
          </a:xfrm>
          <a:prstGeom prst="roundRect">
            <a:avLst>
              <a:gd fmla="val 39474" name="adj"/>
            </a:avLst>
          </a:prstGeom>
          <a:solidFill>
            <a:srgbClr val="FFB8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4"/>
          <p:cNvSpPr/>
          <p:nvPr/>
        </p:nvSpPr>
        <p:spPr>
          <a:xfrm>
            <a:off x="9382125" y="485775"/>
            <a:ext cx="2190750" cy="2190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200">
                <a:solidFill>
                  <a:srgbClr val="154734"/>
                </a:solidFill>
                <a:latin typeface="Calibri"/>
                <a:ea typeface="Calibri"/>
                <a:cs typeface="Calibri"/>
                <a:sym typeface="Calibri"/>
              </a:rPr>
              <a:t>WHAT + HOW</a:t>
            </a:r>
            <a:endParaRPr/>
          </a:p>
        </p:txBody>
      </p:sp>
      <p:cxnSp>
        <p:nvCxnSpPr>
          <p:cNvPr id="301" name="Google Shape;301;p14"/>
          <p:cNvCxnSpPr/>
          <p:nvPr/>
        </p:nvCxnSpPr>
        <p:spPr>
          <a:xfrm>
            <a:off x="0" y="6819900"/>
            <a:ext cx="12191695" cy="0"/>
          </a:xfrm>
          <a:prstGeom prst="straightConnector1">
            <a:avLst/>
          </a:prstGeom>
          <a:noFill/>
          <a:ln cap="flat" cmpd="sng" w="47625">
            <a:solidFill>
              <a:srgbClr val="FFB81C"/>
            </a:solidFill>
            <a:prstDash val="solid"/>
            <a:round/>
            <a:headEnd len="sm" w="sm" type="none"/>
            <a:tailEnd len="sm" w="sm" type="none"/>
          </a:ln>
        </p:spPr>
      </p:cxnSp>
      <p:sp>
        <p:nvSpPr>
          <p:cNvPr id="302" name="Google Shape;302;p14"/>
          <p:cNvSpPr/>
          <p:nvPr/>
        </p:nvSpPr>
        <p:spPr>
          <a:xfrm>
            <a:off x="11477625" y="6419850"/>
            <a:ext cx="285750" cy="2095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lang="en-US" sz="1050">
                <a:solidFill>
                  <a:srgbClr val="65736B"/>
                </a:solidFill>
                <a:latin typeface="Calibri"/>
                <a:ea typeface="Calibri"/>
                <a:cs typeface="Calibri"/>
                <a:sym typeface="Calibri"/>
              </a:rPr>
              <a:t>14</a:t>
            </a:r>
            <a:endParaRPr/>
          </a:p>
        </p:txBody>
      </p:sp>
      <p:pic>
        <p:nvPicPr>
          <p:cNvPr id="303" name="Google Shape;303;p14"/>
          <p:cNvPicPr preferRelativeResize="0"/>
          <p:nvPr/>
        </p:nvPicPr>
        <p:blipFill rotWithShape="1">
          <a:blip r:embed="rId3">
            <a:alphaModFix/>
          </a:blip>
          <a:srcRect b="0" l="2556" r="2556" t="0"/>
          <a:stretch/>
        </p:blipFill>
        <p:spPr>
          <a:xfrm>
            <a:off x="523875" y="1562100"/>
            <a:ext cx="2581275" cy="3400425"/>
          </a:xfrm>
          <a:prstGeom prst="rect">
            <a:avLst/>
          </a:prstGeom>
          <a:noFill/>
          <a:ln>
            <a:noFill/>
          </a:ln>
        </p:spPr>
      </p:pic>
      <p:sp>
        <p:nvSpPr>
          <p:cNvPr id="304" name="Google Shape;304;p14"/>
          <p:cNvSpPr/>
          <p:nvPr/>
        </p:nvSpPr>
        <p:spPr>
          <a:xfrm>
            <a:off x="523875" y="5143500"/>
            <a:ext cx="2714625" cy="2952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50">
                <a:solidFill>
                  <a:srgbClr val="154734"/>
                </a:solidFill>
                <a:latin typeface="Calibri"/>
                <a:ea typeface="Calibri"/>
                <a:cs typeface="Calibri"/>
                <a:sym typeface="Calibri"/>
              </a:rPr>
              <a:t>FPV form factor reference</a:t>
            </a:r>
            <a:endParaRPr/>
          </a:p>
        </p:txBody>
      </p:sp>
      <p:sp>
        <p:nvSpPr>
          <p:cNvPr id="305" name="Google Shape;305;p14"/>
          <p:cNvSpPr/>
          <p:nvPr/>
        </p:nvSpPr>
        <p:spPr>
          <a:xfrm>
            <a:off x="523875" y="5486400"/>
            <a:ext cx="2714625"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425">
                <a:solidFill>
                  <a:srgbClr val="65736B"/>
                </a:solidFill>
                <a:latin typeface="Calibri"/>
                <a:ea typeface="Calibri"/>
                <a:cs typeface="Calibri"/>
                <a:sym typeface="Calibri"/>
              </a:rPr>
              <a:t>Existing DJI Avata hardware</a:t>
            </a:r>
            <a:endParaRPr/>
          </a:p>
        </p:txBody>
      </p:sp>
      <p:sp>
        <p:nvSpPr>
          <p:cNvPr id="306" name="Google Shape;306;p14"/>
          <p:cNvSpPr/>
          <p:nvPr/>
        </p:nvSpPr>
        <p:spPr>
          <a:xfrm>
            <a:off x="3609975" y="1819275"/>
            <a:ext cx="2238375" cy="1038225"/>
          </a:xfrm>
          <a:prstGeom prst="roundRect">
            <a:avLst>
              <a:gd fmla="val 9174" name="adj"/>
            </a:avLst>
          </a:prstGeom>
          <a:solidFill>
            <a:srgbClr val="EAF2EE"/>
          </a:solidFill>
          <a:ln cap="flat" cmpd="sng" w="13325">
            <a:solidFill>
              <a:srgbClr val="154734"/>
            </a:solidFill>
            <a:prstDash val="solid"/>
            <a:round/>
            <a:headEnd len="sm" w="sm" type="none"/>
            <a:tailEnd len="sm" w="sm" type="none"/>
          </a:ln>
        </p:spPr>
        <p:txBody>
          <a:bodyPr anchorCtr="0" anchor="ctr" bIns="95250" lIns="114300" spcFirstLastPara="1" rIns="114300" wrap="square" tIns="95250">
            <a:noAutofit/>
          </a:bodyPr>
          <a:lstStyle/>
          <a:p>
            <a:pPr indent="0" lvl="0" marL="0" marR="0" rtl="0" algn="ctr">
              <a:spcBef>
                <a:spcPts val="0"/>
              </a:spcBef>
              <a:spcAft>
                <a:spcPts val="0"/>
              </a:spcAft>
              <a:buNone/>
            </a:pPr>
            <a:r>
              <a:rPr b="1" lang="en-US" sz="1800">
                <a:solidFill>
                  <a:srgbClr val="154734"/>
                </a:solidFill>
                <a:latin typeface="Calibri"/>
                <a:ea typeface="Calibri"/>
                <a:cs typeface="Calibri"/>
                <a:sym typeface="Calibri"/>
              </a:rPr>
              <a:t>Flight imagery</a:t>
            </a:r>
            <a:endParaRPr/>
          </a:p>
          <a:p>
            <a:pPr indent="0" lvl="0" marL="0" marR="0" rtl="0" algn="ctr">
              <a:spcBef>
                <a:spcPts val="0"/>
              </a:spcBef>
              <a:spcAft>
                <a:spcPts val="0"/>
              </a:spcAft>
              <a:buNone/>
            </a:pPr>
            <a:r>
              <a:rPr b="1" lang="en-US" sz="1800">
                <a:solidFill>
                  <a:srgbClr val="154734"/>
                </a:solidFill>
                <a:latin typeface="Calibri"/>
                <a:ea typeface="Calibri"/>
                <a:cs typeface="Calibri"/>
                <a:sym typeface="Calibri"/>
              </a:rPr>
              <a:t>+ location</a:t>
            </a:r>
            <a:endParaRPr/>
          </a:p>
        </p:txBody>
      </p:sp>
      <p:sp>
        <p:nvSpPr>
          <p:cNvPr id="307" name="Google Shape;307;p14"/>
          <p:cNvSpPr/>
          <p:nvPr/>
        </p:nvSpPr>
        <p:spPr>
          <a:xfrm>
            <a:off x="6438900" y="1819275"/>
            <a:ext cx="2238375" cy="1038225"/>
          </a:xfrm>
          <a:prstGeom prst="roundRect">
            <a:avLst>
              <a:gd fmla="val 9174" name="adj"/>
            </a:avLst>
          </a:prstGeom>
          <a:solidFill>
            <a:srgbClr val="FFB81C"/>
          </a:solidFill>
          <a:ln cap="flat" cmpd="sng" w="13325">
            <a:solidFill>
              <a:srgbClr val="154734"/>
            </a:solidFill>
            <a:prstDash val="solid"/>
            <a:round/>
            <a:headEnd len="sm" w="sm" type="none"/>
            <a:tailEnd len="sm" w="sm" type="none"/>
          </a:ln>
        </p:spPr>
        <p:txBody>
          <a:bodyPr anchorCtr="0" anchor="ctr" bIns="95250" lIns="114300" spcFirstLastPara="1" rIns="114300" wrap="square" tIns="95250">
            <a:noAutofit/>
          </a:bodyPr>
          <a:lstStyle/>
          <a:p>
            <a:pPr indent="0" lvl="0" marL="0" marR="0" rtl="0" algn="ctr">
              <a:spcBef>
                <a:spcPts val="0"/>
              </a:spcBef>
              <a:spcAft>
                <a:spcPts val="0"/>
              </a:spcAft>
              <a:buNone/>
            </a:pPr>
            <a:r>
              <a:rPr b="1" lang="en-US" sz="1800">
                <a:solidFill>
                  <a:srgbClr val="154734"/>
                </a:solidFill>
                <a:latin typeface="Calibri"/>
                <a:ea typeface="Calibri"/>
                <a:cs typeface="Calibri"/>
                <a:sym typeface="Calibri"/>
              </a:rPr>
              <a:t>AI screening</a:t>
            </a:r>
            <a:endParaRPr/>
          </a:p>
          <a:p>
            <a:pPr indent="0" lvl="0" marL="0" marR="0" rtl="0" algn="ctr">
              <a:spcBef>
                <a:spcPts val="0"/>
              </a:spcBef>
              <a:spcAft>
                <a:spcPts val="0"/>
              </a:spcAft>
              <a:buNone/>
            </a:pPr>
            <a:r>
              <a:rPr b="1" lang="en-US" sz="1800">
                <a:solidFill>
                  <a:srgbClr val="154734"/>
                </a:solidFill>
                <a:latin typeface="Calibri"/>
                <a:ea typeface="Calibri"/>
                <a:cs typeface="Calibri"/>
                <a:sym typeface="Calibri"/>
              </a:rPr>
              <a:t>+ confidence</a:t>
            </a:r>
            <a:endParaRPr/>
          </a:p>
        </p:txBody>
      </p:sp>
      <p:sp>
        <p:nvSpPr>
          <p:cNvPr id="308" name="Google Shape;308;p14"/>
          <p:cNvSpPr/>
          <p:nvPr/>
        </p:nvSpPr>
        <p:spPr>
          <a:xfrm>
            <a:off x="9267825" y="1819275"/>
            <a:ext cx="2400300" cy="1038225"/>
          </a:xfrm>
          <a:prstGeom prst="roundRect">
            <a:avLst>
              <a:gd fmla="val 9174" name="adj"/>
            </a:avLst>
          </a:prstGeom>
          <a:solidFill>
            <a:srgbClr val="EAF2EE"/>
          </a:solidFill>
          <a:ln cap="flat" cmpd="sng" w="13325">
            <a:solidFill>
              <a:srgbClr val="154734"/>
            </a:solidFill>
            <a:prstDash val="solid"/>
            <a:round/>
            <a:headEnd len="sm" w="sm" type="none"/>
            <a:tailEnd len="sm" w="sm" type="none"/>
          </a:ln>
        </p:spPr>
        <p:txBody>
          <a:bodyPr anchorCtr="0" anchor="ctr" bIns="95250" lIns="114300" spcFirstLastPara="1" rIns="114300" wrap="square" tIns="95250">
            <a:noAutofit/>
          </a:bodyPr>
          <a:lstStyle/>
          <a:p>
            <a:pPr indent="0" lvl="0" marL="0" marR="0" rtl="0" algn="ctr">
              <a:spcBef>
                <a:spcPts val="0"/>
              </a:spcBef>
              <a:spcAft>
                <a:spcPts val="0"/>
              </a:spcAft>
              <a:buNone/>
            </a:pPr>
            <a:r>
              <a:rPr b="1" lang="en-US" sz="1800">
                <a:solidFill>
                  <a:srgbClr val="154734"/>
                </a:solidFill>
                <a:latin typeface="Calibri"/>
                <a:ea typeface="Calibri"/>
                <a:cs typeface="Calibri"/>
                <a:sym typeface="Calibri"/>
              </a:rPr>
              <a:t>Mapped alert</a:t>
            </a:r>
            <a:endParaRPr/>
          </a:p>
          <a:p>
            <a:pPr indent="0" lvl="0" marL="0" marR="0" rtl="0" algn="ctr">
              <a:spcBef>
                <a:spcPts val="0"/>
              </a:spcBef>
              <a:spcAft>
                <a:spcPts val="0"/>
              </a:spcAft>
              <a:buNone/>
            </a:pPr>
            <a:r>
              <a:rPr b="1" lang="en-US" sz="1800">
                <a:solidFill>
                  <a:srgbClr val="154734"/>
                </a:solidFill>
                <a:latin typeface="Calibri"/>
                <a:ea typeface="Calibri"/>
                <a:cs typeface="Calibri"/>
                <a:sym typeface="Calibri"/>
              </a:rPr>
              <a:t>Human verification</a:t>
            </a:r>
            <a:endParaRPr/>
          </a:p>
        </p:txBody>
      </p:sp>
      <p:cxnSp>
        <p:nvCxnSpPr>
          <p:cNvPr id="309" name="Google Shape;309;p14"/>
          <p:cNvCxnSpPr>
            <a:stCxn id="306" idx="3"/>
            <a:endCxn id="307" idx="1"/>
          </p:cNvCxnSpPr>
          <p:nvPr/>
        </p:nvCxnSpPr>
        <p:spPr>
          <a:xfrm>
            <a:off x="5848350" y="2338388"/>
            <a:ext cx="590700" cy="0"/>
          </a:xfrm>
          <a:prstGeom prst="straightConnector1">
            <a:avLst/>
          </a:prstGeom>
          <a:noFill/>
          <a:ln cap="flat" cmpd="sng" w="23800">
            <a:solidFill>
              <a:srgbClr val="154734"/>
            </a:solidFill>
            <a:prstDash val="solid"/>
            <a:round/>
            <a:headEnd len="sm" w="sm" type="none"/>
            <a:tailEnd len="med" w="med" type="stealth"/>
          </a:ln>
        </p:spPr>
      </p:cxnSp>
      <p:cxnSp>
        <p:nvCxnSpPr>
          <p:cNvPr id="310" name="Google Shape;310;p14"/>
          <p:cNvCxnSpPr>
            <a:stCxn id="307" idx="3"/>
            <a:endCxn id="308" idx="1"/>
          </p:cNvCxnSpPr>
          <p:nvPr/>
        </p:nvCxnSpPr>
        <p:spPr>
          <a:xfrm>
            <a:off x="8677275" y="2338388"/>
            <a:ext cx="590700" cy="0"/>
          </a:xfrm>
          <a:prstGeom prst="straightConnector1">
            <a:avLst/>
          </a:prstGeom>
          <a:noFill/>
          <a:ln cap="flat" cmpd="sng" w="23800">
            <a:solidFill>
              <a:srgbClr val="154734"/>
            </a:solidFill>
            <a:prstDash val="solid"/>
            <a:round/>
            <a:headEnd len="sm" w="sm" type="none"/>
            <a:tailEnd len="med" w="med" type="stealth"/>
          </a:ln>
        </p:spPr>
      </p:cxnSp>
      <p:sp>
        <p:nvSpPr>
          <p:cNvPr id="311" name="Google Shape;311;p14"/>
          <p:cNvSpPr/>
          <p:nvPr/>
        </p:nvSpPr>
        <p:spPr>
          <a:xfrm>
            <a:off x="3609975" y="3524250"/>
            <a:ext cx="3724275"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500">
                <a:solidFill>
                  <a:srgbClr val="154734"/>
                </a:solidFill>
                <a:latin typeface="Calibri"/>
                <a:ea typeface="Calibri"/>
                <a:cs typeface="Calibri"/>
                <a:sym typeface="Calibri"/>
              </a:rPr>
              <a:t>CROP DISEASE SCREENING</a:t>
            </a:r>
            <a:endParaRPr/>
          </a:p>
        </p:txBody>
      </p:sp>
      <p:sp>
        <p:nvSpPr>
          <p:cNvPr id="312" name="Google Shape;312;p14"/>
          <p:cNvSpPr/>
          <p:nvPr/>
        </p:nvSpPr>
        <p:spPr>
          <a:xfrm>
            <a:off x="3609975" y="3924300"/>
            <a:ext cx="37242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1A1A1A"/>
                </a:solidFill>
                <a:latin typeface="Calibri"/>
                <a:ea typeface="Calibri"/>
                <a:cs typeface="Calibri"/>
                <a:sym typeface="Calibri"/>
              </a:rPr>
              <a:t>Flag suspicious crop areas</a:t>
            </a:r>
            <a:endParaRPr/>
          </a:p>
          <a:p>
            <a:pPr indent="0" lvl="0" marL="0" marR="0" rtl="0" algn="l">
              <a:spcBef>
                <a:spcPts val="0"/>
              </a:spcBef>
              <a:spcAft>
                <a:spcPts val="0"/>
              </a:spcAft>
              <a:buNone/>
            </a:pPr>
            <a:r>
              <a:rPr b="0" lang="en-US" sz="2025">
                <a:solidFill>
                  <a:srgbClr val="1A1A1A"/>
                </a:solidFill>
                <a:latin typeface="Calibri"/>
                <a:ea typeface="Calibri"/>
                <a:cs typeface="Calibri"/>
                <a:sym typeface="Calibri"/>
              </a:rPr>
              <a:t>for ground inspection</a:t>
            </a:r>
            <a:endParaRPr/>
          </a:p>
        </p:txBody>
      </p:sp>
      <p:sp>
        <p:nvSpPr>
          <p:cNvPr id="313" name="Google Shape;313;p14"/>
          <p:cNvSpPr/>
          <p:nvPr/>
        </p:nvSpPr>
        <p:spPr>
          <a:xfrm>
            <a:off x="7934325" y="3524250"/>
            <a:ext cx="3724275"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500">
                <a:solidFill>
                  <a:srgbClr val="154734"/>
                </a:solidFill>
                <a:latin typeface="Calibri"/>
                <a:ea typeface="Calibri"/>
                <a:cs typeface="Calibri"/>
                <a:sym typeface="Calibri"/>
              </a:rPr>
              <a:t>FIRE DETECTION</a:t>
            </a:r>
            <a:endParaRPr/>
          </a:p>
        </p:txBody>
      </p:sp>
      <p:sp>
        <p:nvSpPr>
          <p:cNvPr id="314" name="Google Shape;314;p14"/>
          <p:cNvSpPr/>
          <p:nvPr/>
        </p:nvSpPr>
        <p:spPr>
          <a:xfrm>
            <a:off x="7934325" y="3924300"/>
            <a:ext cx="37242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1A1A1A"/>
                </a:solidFill>
                <a:latin typeface="Calibri"/>
                <a:ea typeface="Calibri"/>
                <a:cs typeface="Calibri"/>
                <a:sym typeface="Calibri"/>
              </a:rPr>
              <a:t>Flag smoke or thermal cues</a:t>
            </a:r>
            <a:endParaRPr/>
          </a:p>
          <a:p>
            <a:pPr indent="0" lvl="0" marL="0" marR="0" rtl="0" algn="l">
              <a:spcBef>
                <a:spcPts val="0"/>
              </a:spcBef>
              <a:spcAft>
                <a:spcPts val="0"/>
              </a:spcAft>
              <a:buNone/>
            </a:pPr>
            <a:r>
              <a:rPr b="0" lang="en-US" sz="2025">
                <a:solidFill>
                  <a:srgbClr val="1A1A1A"/>
                </a:solidFill>
                <a:latin typeface="Calibri"/>
                <a:ea typeface="Calibri"/>
                <a:cs typeface="Calibri"/>
                <a:sym typeface="Calibri"/>
              </a:rPr>
              <a:t>for a person to review</a:t>
            </a:r>
            <a:endParaRPr/>
          </a:p>
        </p:txBody>
      </p:sp>
      <p:sp>
        <p:nvSpPr>
          <p:cNvPr id="315" name="Google Shape;315;p14"/>
          <p:cNvSpPr/>
          <p:nvPr/>
        </p:nvSpPr>
        <p:spPr>
          <a:xfrm>
            <a:off x="3609975" y="5248275"/>
            <a:ext cx="8058150" cy="866775"/>
          </a:xfrm>
          <a:prstGeom prst="rect">
            <a:avLst/>
          </a:prstGeom>
          <a:solidFill>
            <a:srgbClr val="EAF2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4"/>
          <p:cNvSpPr/>
          <p:nvPr/>
        </p:nvSpPr>
        <p:spPr>
          <a:xfrm>
            <a:off x="3829050" y="5410200"/>
            <a:ext cx="7629525"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154734"/>
                </a:solidFill>
                <a:latin typeface="Calibri"/>
                <a:ea typeface="Calibri"/>
                <a:cs typeface="Calibri"/>
                <a:sym typeface="Calibri"/>
              </a:rPr>
              <a:t>Manual control stays available</a:t>
            </a:r>
            <a:endParaRPr/>
          </a:p>
        </p:txBody>
      </p:sp>
      <p:sp>
        <p:nvSpPr>
          <p:cNvPr id="317" name="Google Shape;317;p14"/>
          <p:cNvSpPr/>
          <p:nvPr/>
        </p:nvSpPr>
        <p:spPr>
          <a:xfrm>
            <a:off x="3829050" y="5781675"/>
            <a:ext cx="7629525"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1A1A1A"/>
                </a:solidFill>
                <a:latin typeface="Calibri"/>
                <a:ea typeface="Calibri"/>
                <a:cs typeface="Calibri"/>
                <a:sym typeface="Calibri"/>
              </a:rPr>
              <a:t>Pilot-assisted flight first. Autonomous missions are later scope.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2" name="Shape 322"/>
        <p:cNvGrpSpPr/>
        <p:nvPr/>
      </p:nvGrpSpPr>
      <p:grpSpPr>
        <a:xfrm>
          <a:off x="0" y="0"/>
          <a:ext cx="0" cy="0"/>
          <a:chOff x="0" y="0"/>
          <a:chExt cx="0" cy="0"/>
        </a:xfrm>
      </p:grpSpPr>
      <p:sp>
        <p:nvSpPr>
          <p:cNvPr id="323" name="Google Shape;323;p15"/>
          <p:cNvSpPr/>
          <p:nvPr/>
        </p:nvSpPr>
        <p:spPr>
          <a:xfrm>
            <a:off x="514350" y="428625"/>
            <a:ext cx="8477250" cy="628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154734"/>
                </a:solidFill>
                <a:latin typeface="Calibri"/>
                <a:ea typeface="Calibri"/>
                <a:cs typeface="Calibri"/>
                <a:sym typeface="Calibri"/>
              </a:rPr>
              <a:t>Drone value and competitors</a:t>
            </a:r>
            <a:endParaRPr/>
          </a:p>
        </p:txBody>
      </p:sp>
      <p:sp>
        <p:nvSpPr>
          <p:cNvPr id="324" name="Google Shape;324;p15"/>
          <p:cNvSpPr/>
          <p:nvPr/>
        </p:nvSpPr>
        <p:spPr>
          <a:xfrm>
            <a:off x="9286875" y="409575"/>
            <a:ext cx="2381250" cy="361950"/>
          </a:xfrm>
          <a:prstGeom prst="roundRect">
            <a:avLst>
              <a:gd fmla="val 39474" name="adj"/>
            </a:avLst>
          </a:prstGeom>
          <a:solidFill>
            <a:srgbClr val="FFB8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5"/>
          <p:cNvSpPr/>
          <p:nvPr/>
        </p:nvSpPr>
        <p:spPr>
          <a:xfrm>
            <a:off x="9382125" y="485775"/>
            <a:ext cx="2190750" cy="2190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200">
                <a:solidFill>
                  <a:srgbClr val="154734"/>
                </a:solidFill>
                <a:latin typeface="Calibri"/>
                <a:ea typeface="Calibri"/>
                <a:cs typeface="Calibri"/>
                <a:sym typeface="Calibri"/>
              </a:rPr>
              <a:t>VALUE + STRATEGY</a:t>
            </a:r>
            <a:endParaRPr/>
          </a:p>
        </p:txBody>
      </p:sp>
      <p:cxnSp>
        <p:nvCxnSpPr>
          <p:cNvPr id="326" name="Google Shape;326;p15"/>
          <p:cNvCxnSpPr/>
          <p:nvPr/>
        </p:nvCxnSpPr>
        <p:spPr>
          <a:xfrm>
            <a:off x="0" y="6819900"/>
            <a:ext cx="12191695" cy="0"/>
          </a:xfrm>
          <a:prstGeom prst="straightConnector1">
            <a:avLst/>
          </a:prstGeom>
          <a:noFill/>
          <a:ln cap="flat" cmpd="sng" w="47625">
            <a:solidFill>
              <a:srgbClr val="FFB81C"/>
            </a:solidFill>
            <a:prstDash val="solid"/>
            <a:round/>
            <a:headEnd len="sm" w="sm" type="none"/>
            <a:tailEnd len="sm" w="sm" type="none"/>
          </a:ln>
        </p:spPr>
      </p:cxnSp>
      <p:sp>
        <p:nvSpPr>
          <p:cNvPr id="327" name="Google Shape;327;p15"/>
          <p:cNvSpPr/>
          <p:nvPr/>
        </p:nvSpPr>
        <p:spPr>
          <a:xfrm>
            <a:off x="11477625" y="6419850"/>
            <a:ext cx="285750" cy="2095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lang="en-US" sz="1050">
                <a:solidFill>
                  <a:srgbClr val="65736B"/>
                </a:solidFill>
                <a:latin typeface="Calibri"/>
                <a:ea typeface="Calibri"/>
                <a:cs typeface="Calibri"/>
                <a:sym typeface="Calibri"/>
              </a:rPr>
              <a:t>15</a:t>
            </a:r>
            <a:endParaRPr/>
          </a:p>
        </p:txBody>
      </p:sp>
      <p:graphicFrame>
        <p:nvGraphicFramePr>
          <p:cNvPr id="328" name="Google Shape;328;p15"/>
          <p:cNvGraphicFramePr/>
          <p:nvPr/>
        </p:nvGraphicFramePr>
        <p:xfrm>
          <a:off x="523875" y="1476375"/>
          <a:ext cx="3000000" cy="3000000"/>
        </p:xfrm>
        <a:graphic>
          <a:graphicData uri="http://schemas.openxmlformats.org/drawingml/2006/table">
            <a:tbl>
              <a:tblPr>
                <a:noFill/>
                <a:tableStyleId>{7788B9B1-F278-4A7A-A6D5-9AABFE0BA978}</a:tableStyleId>
              </a:tblPr>
              <a:tblGrid>
                <a:gridCol w="3067050"/>
                <a:gridCol w="4305300"/>
                <a:gridCol w="3771900"/>
              </a:tblGrid>
              <a:tr h="740575">
                <a:tc>
                  <a:txBody>
                    <a:bodyPr/>
                    <a:lstStyle/>
                    <a:p>
                      <a:pPr indent="0" lvl="0" marL="0" marR="0" rtl="0" algn="l">
                        <a:spcBef>
                          <a:spcPts val="0"/>
                        </a:spcBef>
                        <a:spcAft>
                          <a:spcPts val="0"/>
                        </a:spcAft>
                        <a:buClr>
                          <a:srgbClr val="FFFFFF"/>
                        </a:buClr>
                        <a:buSzPts val="1650"/>
                        <a:buFont typeface="Calibri"/>
                        <a:buNone/>
                      </a:pPr>
                      <a:r>
                        <a:rPr b="1" lang="en-US" sz="1650">
                          <a:solidFill>
                            <a:srgbClr val="FFFFFF"/>
                          </a:solidFill>
                          <a:latin typeface="Calibri"/>
                          <a:ea typeface="Calibri"/>
                          <a:cs typeface="Calibri"/>
                          <a:sym typeface="Calibri"/>
                        </a:rPr>
                        <a:t>Existing option</a:t>
                      </a:r>
                      <a:endParaRPr/>
                    </a:p>
                  </a:txBody>
                  <a:tcPr marT="45725" marB="45725" marR="91450" marL="91450" anchor="ctr">
                    <a:solidFill>
                      <a:srgbClr val="154734"/>
                    </a:solidFill>
                  </a:tcPr>
                </a:tc>
                <a:tc>
                  <a:txBody>
                    <a:bodyPr/>
                    <a:lstStyle/>
                    <a:p>
                      <a:pPr indent="0" lvl="0" marL="0" marR="0" rtl="0" algn="l">
                        <a:spcBef>
                          <a:spcPts val="0"/>
                        </a:spcBef>
                        <a:spcAft>
                          <a:spcPts val="0"/>
                        </a:spcAft>
                        <a:buClr>
                          <a:srgbClr val="FFFFFF"/>
                        </a:buClr>
                        <a:buSzPts val="1650"/>
                        <a:buFont typeface="Calibri"/>
                        <a:buNone/>
                      </a:pPr>
                      <a:r>
                        <a:rPr b="1" lang="en-US" sz="1650">
                          <a:solidFill>
                            <a:srgbClr val="FFFFFF"/>
                          </a:solidFill>
                          <a:latin typeface="Calibri"/>
                          <a:ea typeface="Calibri"/>
                          <a:cs typeface="Calibri"/>
                          <a:sym typeface="Calibri"/>
                        </a:rPr>
                        <a:t>What it already offers</a:t>
                      </a:r>
                      <a:endParaRPr/>
                    </a:p>
                  </a:txBody>
                  <a:tcPr marT="45725" marB="45725" marR="91450" marL="91450" anchor="ctr">
                    <a:solidFill>
                      <a:srgbClr val="154734"/>
                    </a:solidFill>
                  </a:tcPr>
                </a:tc>
                <a:tc>
                  <a:txBody>
                    <a:bodyPr/>
                    <a:lstStyle/>
                    <a:p>
                      <a:pPr indent="0" lvl="0" marL="0" marR="0" rtl="0" algn="l">
                        <a:spcBef>
                          <a:spcPts val="0"/>
                        </a:spcBef>
                        <a:spcAft>
                          <a:spcPts val="0"/>
                        </a:spcAft>
                        <a:buClr>
                          <a:srgbClr val="FFFFFF"/>
                        </a:buClr>
                        <a:buSzPts val="1650"/>
                        <a:buFont typeface="Calibri"/>
                        <a:buNone/>
                      </a:pPr>
                      <a:r>
                        <a:rPr b="1" lang="en-US" sz="1650">
                          <a:solidFill>
                            <a:srgbClr val="FFFFFF"/>
                          </a:solidFill>
                          <a:latin typeface="Calibri"/>
                          <a:ea typeface="Calibri"/>
                          <a:cs typeface="Calibri"/>
                          <a:sym typeface="Calibri"/>
                        </a:rPr>
                        <a:t>Our research focus</a:t>
                      </a:r>
                      <a:endParaRPr/>
                    </a:p>
                  </a:txBody>
                  <a:tcPr marT="45725" marB="45725" marR="91450" marL="91450" anchor="ctr">
                    <a:solidFill>
                      <a:srgbClr val="154734"/>
                    </a:solidFill>
                  </a:tcPr>
                </a:tc>
              </a:tr>
              <a:tr h="740575">
                <a:tc>
                  <a:txBody>
                    <a:bodyPr/>
                    <a:lstStyle/>
                    <a:p>
                      <a:pPr indent="0" lvl="0" marL="0" marR="0" rtl="0" algn="l">
                        <a:spcBef>
                          <a:spcPts val="0"/>
                        </a:spcBef>
                        <a:spcAft>
                          <a:spcPts val="0"/>
                        </a:spcAft>
                        <a:buClr>
                          <a:srgbClr val="1A1A1A"/>
                        </a:buClr>
                        <a:buSzPts val="1725"/>
                        <a:buFont typeface="Calibri"/>
                        <a:buNone/>
                      </a:pPr>
                      <a:r>
                        <a:rPr b="1" lang="en-US" sz="1725">
                          <a:solidFill>
                            <a:srgbClr val="1A1A1A"/>
                          </a:solidFill>
                          <a:latin typeface="Calibri"/>
                          <a:ea typeface="Calibri"/>
                          <a:cs typeface="Calibri"/>
                          <a:sym typeface="Calibri"/>
                        </a:rPr>
                        <a:t>PIX4Dfields / DroneDeploy</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Field mapping and plant-health analysis</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A narrow condition with validated alerts</a:t>
                      </a:r>
                      <a:endParaRPr/>
                    </a:p>
                  </a:txBody>
                  <a:tcPr marT="45725" marB="45725" marR="91450" marL="91450" anchor="ctr">
                    <a:solidFill>
                      <a:srgbClr val="FFFFFF"/>
                    </a:solidFill>
                  </a:tcPr>
                </a:tc>
              </a:tr>
              <a:tr h="740575">
                <a:tc>
                  <a:txBody>
                    <a:bodyPr/>
                    <a:lstStyle/>
                    <a:p>
                      <a:pPr indent="0" lvl="0" marL="0" marR="0" rtl="0" algn="l">
                        <a:spcBef>
                          <a:spcPts val="0"/>
                        </a:spcBef>
                        <a:spcAft>
                          <a:spcPts val="0"/>
                        </a:spcAft>
                        <a:buClr>
                          <a:srgbClr val="1A1A1A"/>
                        </a:buClr>
                        <a:buSzPts val="1725"/>
                        <a:buFont typeface="Calibri"/>
                        <a:buNone/>
                      </a:pPr>
                      <a:r>
                        <a:rPr b="1" lang="en-US" sz="1725">
                          <a:solidFill>
                            <a:srgbClr val="1A1A1A"/>
                          </a:solidFill>
                          <a:latin typeface="Calibri"/>
                          <a:ea typeface="Calibri"/>
                          <a:cs typeface="Calibri"/>
                          <a:sym typeface="Calibri"/>
                        </a:rPr>
                        <a:t>DJI Mavic 3M</a:t>
                      </a:r>
                      <a:endParaRPr/>
                    </a:p>
                  </a:txBody>
                  <a:tcPr marT="45725" marB="45725" marR="91450" marL="91450" anchor="ctr">
                    <a:solidFill>
                      <a:srgbClr val="EAF2EE"/>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RGB and multispectral crop imaging</a:t>
                      </a:r>
                      <a:endParaRPr/>
                    </a:p>
                  </a:txBody>
                  <a:tcPr marT="45725" marB="45725" marR="91450" marL="91450" anchor="ctr">
                    <a:solidFill>
                      <a:srgbClr val="EAF2EE"/>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Software integration and human review</a:t>
                      </a:r>
                      <a:endParaRPr/>
                    </a:p>
                  </a:txBody>
                  <a:tcPr marT="45725" marB="45725" marR="91450" marL="91450" anchor="ctr">
                    <a:solidFill>
                      <a:srgbClr val="EAF2EE"/>
                    </a:solidFill>
                  </a:tcPr>
                </a:tc>
              </a:tr>
              <a:tr h="740575">
                <a:tc>
                  <a:txBody>
                    <a:bodyPr/>
                    <a:lstStyle/>
                    <a:p>
                      <a:pPr indent="0" lvl="0" marL="0" marR="0" rtl="0" algn="l">
                        <a:spcBef>
                          <a:spcPts val="0"/>
                        </a:spcBef>
                        <a:spcAft>
                          <a:spcPts val="0"/>
                        </a:spcAft>
                        <a:buClr>
                          <a:srgbClr val="1A1A1A"/>
                        </a:buClr>
                        <a:buSzPts val="1725"/>
                        <a:buFont typeface="Calibri"/>
                        <a:buNone/>
                      </a:pPr>
                      <a:r>
                        <a:rPr b="1" lang="en-US" sz="1725">
                          <a:solidFill>
                            <a:srgbClr val="1A1A1A"/>
                          </a:solidFill>
                          <a:latin typeface="Calibri"/>
                          <a:ea typeface="Calibri"/>
                          <a:cs typeface="Calibri"/>
                          <a:sym typeface="Calibri"/>
                        </a:rPr>
                        <a:t>DJI Matrice 4T</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Thermal imaging and inspection tools</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A small fire/smoke screening experiment</a:t>
                      </a:r>
                      <a:endParaRPr/>
                    </a:p>
                  </a:txBody>
                  <a:tcPr marT="45725" marB="45725" marR="91450" marL="91450" anchor="ctr">
                    <a:solidFill>
                      <a:srgbClr val="FFFFFF"/>
                    </a:solidFill>
                  </a:tcPr>
                </a:tc>
              </a:tr>
            </a:tbl>
          </a:graphicData>
        </a:graphic>
      </p:graphicFrame>
      <p:sp>
        <p:nvSpPr>
          <p:cNvPr id="329" name="Google Shape;329;p15"/>
          <p:cNvSpPr/>
          <p:nvPr/>
        </p:nvSpPr>
        <p:spPr>
          <a:xfrm>
            <a:off x="523875" y="4686300"/>
            <a:ext cx="1095375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154734"/>
                </a:solidFill>
                <a:latin typeface="Calibri"/>
                <a:ea typeface="Calibri"/>
                <a:cs typeface="Calibri"/>
                <a:sym typeface="Calibri"/>
              </a:rPr>
              <a:t>PROPOSED UNIQUE VALUE</a:t>
            </a:r>
            <a:endParaRPr/>
          </a:p>
        </p:txBody>
      </p:sp>
      <p:sp>
        <p:nvSpPr>
          <p:cNvPr id="330" name="Google Shape;330;p15"/>
          <p:cNvSpPr/>
          <p:nvPr/>
        </p:nvSpPr>
        <p:spPr>
          <a:xfrm>
            <a:off x="523875" y="5010150"/>
            <a:ext cx="11001375"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325">
                <a:solidFill>
                  <a:srgbClr val="154734"/>
                </a:solidFill>
                <a:latin typeface="Calibri"/>
                <a:ea typeface="Calibri"/>
                <a:cs typeface="Calibri"/>
                <a:sym typeface="Calibri"/>
              </a:rPr>
              <a:t>Locations to investigate, with the image and confidence behind each alert</a:t>
            </a:r>
            <a:endParaRPr/>
          </a:p>
        </p:txBody>
      </p:sp>
      <p:sp>
        <p:nvSpPr>
          <p:cNvPr id="331" name="Google Shape;331;p15"/>
          <p:cNvSpPr/>
          <p:nvPr/>
        </p:nvSpPr>
        <p:spPr>
          <a:xfrm>
            <a:off x="523875" y="5857875"/>
            <a:ext cx="11115675" cy="3714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725">
                <a:solidFill>
                  <a:srgbClr val="1A1A1A"/>
                </a:solidFill>
                <a:latin typeface="Calibri"/>
                <a:ea typeface="Calibri"/>
                <a:cs typeface="Calibri"/>
                <a:sym typeface="Calibri"/>
              </a:rPr>
              <a:t>Business question: can a focused scouting service justify its equipment and review costs?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6" name="Shape 336"/>
        <p:cNvGrpSpPr/>
        <p:nvPr/>
      </p:nvGrpSpPr>
      <p:grpSpPr>
        <a:xfrm>
          <a:off x="0" y="0"/>
          <a:ext cx="0" cy="0"/>
          <a:chOff x="0" y="0"/>
          <a:chExt cx="0" cy="0"/>
        </a:xfrm>
      </p:grpSpPr>
      <p:sp>
        <p:nvSpPr>
          <p:cNvPr id="337" name="Google Shape;337;p16"/>
          <p:cNvSpPr/>
          <p:nvPr/>
        </p:nvSpPr>
        <p:spPr>
          <a:xfrm>
            <a:off x="514350" y="428625"/>
            <a:ext cx="8477250" cy="628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154734"/>
                </a:solidFill>
                <a:latin typeface="Calibri"/>
                <a:ea typeface="Calibri"/>
                <a:cs typeface="Calibri"/>
                <a:sym typeface="Calibri"/>
              </a:rPr>
              <a:t>Drone research phases</a:t>
            </a:r>
            <a:endParaRPr/>
          </a:p>
        </p:txBody>
      </p:sp>
      <p:sp>
        <p:nvSpPr>
          <p:cNvPr id="338" name="Google Shape;338;p16"/>
          <p:cNvSpPr/>
          <p:nvPr/>
        </p:nvSpPr>
        <p:spPr>
          <a:xfrm>
            <a:off x="9286875" y="409575"/>
            <a:ext cx="2381250" cy="361950"/>
          </a:xfrm>
          <a:prstGeom prst="roundRect">
            <a:avLst>
              <a:gd fmla="val 39474" name="adj"/>
            </a:avLst>
          </a:prstGeom>
          <a:solidFill>
            <a:srgbClr val="FFB8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6"/>
          <p:cNvSpPr/>
          <p:nvPr/>
        </p:nvSpPr>
        <p:spPr>
          <a:xfrm>
            <a:off x="9382125" y="485775"/>
            <a:ext cx="2190750" cy="2190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200">
                <a:solidFill>
                  <a:srgbClr val="154734"/>
                </a:solidFill>
                <a:latin typeface="Calibri"/>
                <a:ea typeface="Calibri"/>
                <a:cs typeface="Calibri"/>
                <a:sym typeface="Calibri"/>
              </a:rPr>
              <a:t>HOW / PDSA</a:t>
            </a:r>
            <a:endParaRPr/>
          </a:p>
        </p:txBody>
      </p:sp>
      <p:cxnSp>
        <p:nvCxnSpPr>
          <p:cNvPr id="340" name="Google Shape;340;p16"/>
          <p:cNvCxnSpPr/>
          <p:nvPr/>
        </p:nvCxnSpPr>
        <p:spPr>
          <a:xfrm>
            <a:off x="0" y="6819900"/>
            <a:ext cx="12191695" cy="0"/>
          </a:xfrm>
          <a:prstGeom prst="straightConnector1">
            <a:avLst/>
          </a:prstGeom>
          <a:noFill/>
          <a:ln cap="flat" cmpd="sng" w="47625">
            <a:solidFill>
              <a:srgbClr val="FFB81C"/>
            </a:solidFill>
            <a:prstDash val="solid"/>
            <a:round/>
            <a:headEnd len="sm" w="sm" type="none"/>
            <a:tailEnd len="sm" w="sm" type="none"/>
          </a:ln>
        </p:spPr>
      </p:cxnSp>
      <p:sp>
        <p:nvSpPr>
          <p:cNvPr id="341" name="Google Shape;341;p16"/>
          <p:cNvSpPr/>
          <p:nvPr/>
        </p:nvSpPr>
        <p:spPr>
          <a:xfrm>
            <a:off x="11477625" y="6419850"/>
            <a:ext cx="285750" cy="2095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lang="en-US" sz="1050">
                <a:solidFill>
                  <a:srgbClr val="65736B"/>
                </a:solidFill>
                <a:latin typeface="Calibri"/>
                <a:ea typeface="Calibri"/>
                <a:cs typeface="Calibri"/>
                <a:sym typeface="Calibri"/>
              </a:rPr>
              <a:t>16</a:t>
            </a:r>
            <a:endParaRPr/>
          </a:p>
        </p:txBody>
      </p:sp>
      <p:sp>
        <p:nvSpPr>
          <p:cNvPr id="342" name="Google Shape;342;p16"/>
          <p:cNvSpPr/>
          <p:nvPr/>
        </p:nvSpPr>
        <p:spPr>
          <a:xfrm>
            <a:off x="523875" y="1438275"/>
            <a:ext cx="238125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FFB81C"/>
                </a:solidFill>
                <a:latin typeface="Calibri"/>
                <a:ea typeface="Calibri"/>
                <a:cs typeface="Calibri"/>
                <a:sym typeface="Calibri"/>
              </a:rPr>
              <a:t>01</a:t>
            </a:r>
            <a:endParaRPr/>
          </a:p>
        </p:txBody>
      </p:sp>
      <p:sp>
        <p:nvSpPr>
          <p:cNvPr id="343" name="Google Shape;343;p16"/>
          <p:cNvSpPr/>
          <p:nvPr/>
        </p:nvSpPr>
        <p:spPr>
          <a:xfrm>
            <a:off x="523875" y="2066925"/>
            <a:ext cx="2333625" cy="333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154734"/>
                </a:solidFill>
                <a:latin typeface="Calibri"/>
                <a:ea typeface="Calibri"/>
                <a:cs typeface="Calibri"/>
                <a:sym typeface="Calibri"/>
              </a:rPr>
              <a:t>PLAN</a:t>
            </a:r>
            <a:endParaRPr/>
          </a:p>
        </p:txBody>
      </p:sp>
      <p:cxnSp>
        <p:nvCxnSpPr>
          <p:cNvPr id="344" name="Google Shape;344;p16"/>
          <p:cNvCxnSpPr/>
          <p:nvPr/>
        </p:nvCxnSpPr>
        <p:spPr>
          <a:xfrm>
            <a:off x="523875" y="2486025"/>
            <a:ext cx="2352675" cy="0"/>
          </a:xfrm>
          <a:prstGeom prst="straightConnector1">
            <a:avLst/>
          </a:prstGeom>
          <a:noFill/>
          <a:ln cap="flat" cmpd="sng" w="19050">
            <a:solidFill>
              <a:srgbClr val="CDDBD3"/>
            </a:solidFill>
            <a:prstDash val="solid"/>
            <a:round/>
            <a:headEnd len="sm" w="sm" type="none"/>
            <a:tailEnd len="sm" w="sm" type="none"/>
          </a:ln>
        </p:spPr>
      </p:cxnSp>
      <p:sp>
        <p:nvSpPr>
          <p:cNvPr id="345" name="Google Shape;345;p16"/>
          <p:cNvSpPr/>
          <p:nvPr/>
        </p:nvSpPr>
        <p:spPr>
          <a:xfrm>
            <a:off x="523875" y="2676525"/>
            <a:ext cx="2352675" cy="1809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1A1A1A"/>
                </a:solidFill>
                <a:latin typeface="Calibri"/>
                <a:ea typeface="Calibri"/>
                <a:cs typeface="Calibri"/>
                <a:sym typeface="Calibri"/>
              </a:rPr>
              <a:t>Interview an agronomist and define one crop condition and sensor.</a:t>
            </a:r>
            <a:endParaRPr/>
          </a:p>
        </p:txBody>
      </p:sp>
      <p:sp>
        <p:nvSpPr>
          <p:cNvPr id="346" name="Google Shape;346;p16"/>
          <p:cNvSpPr/>
          <p:nvPr/>
        </p:nvSpPr>
        <p:spPr>
          <a:xfrm>
            <a:off x="3362325" y="1438275"/>
            <a:ext cx="238125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FFB81C"/>
                </a:solidFill>
                <a:latin typeface="Calibri"/>
                <a:ea typeface="Calibri"/>
                <a:cs typeface="Calibri"/>
                <a:sym typeface="Calibri"/>
              </a:rPr>
              <a:t>02</a:t>
            </a:r>
            <a:endParaRPr/>
          </a:p>
        </p:txBody>
      </p:sp>
      <p:sp>
        <p:nvSpPr>
          <p:cNvPr id="347" name="Google Shape;347;p16"/>
          <p:cNvSpPr/>
          <p:nvPr/>
        </p:nvSpPr>
        <p:spPr>
          <a:xfrm>
            <a:off x="3362325" y="2066925"/>
            <a:ext cx="2333625" cy="333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154734"/>
                </a:solidFill>
                <a:latin typeface="Calibri"/>
                <a:ea typeface="Calibri"/>
                <a:cs typeface="Calibri"/>
                <a:sym typeface="Calibri"/>
              </a:rPr>
              <a:t>DO</a:t>
            </a:r>
            <a:endParaRPr/>
          </a:p>
        </p:txBody>
      </p:sp>
      <p:cxnSp>
        <p:nvCxnSpPr>
          <p:cNvPr id="348" name="Google Shape;348;p16"/>
          <p:cNvCxnSpPr/>
          <p:nvPr/>
        </p:nvCxnSpPr>
        <p:spPr>
          <a:xfrm>
            <a:off x="3362325" y="2486025"/>
            <a:ext cx="2352675" cy="0"/>
          </a:xfrm>
          <a:prstGeom prst="straightConnector1">
            <a:avLst/>
          </a:prstGeom>
          <a:noFill/>
          <a:ln cap="flat" cmpd="sng" w="19050">
            <a:solidFill>
              <a:srgbClr val="CDDBD3"/>
            </a:solidFill>
            <a:prstDash val="solid"/>
            <a:round/>
            <a:headEnd len="sm" w="sm" type="none"/>
            <a:tailEnd len="sm" w="sm" type="none"/>
          </a:ln>
        </p:spPr>
      </p:cxnSp>
      <p:sp>
        <p:nvSpPr>
          <p:cNvPr id="349" name="Google Shape;349;p16"/>
          <p:cNvSpPr/>
          <p:nvPr/>
        </p:nvSpPr>
        <p:spPr>
          <a:xfrm>
            <a:off x="3362325" y="2676525"/>
            <a:ext cx="2352675" cy="1809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1A1A1A"/>
                </a:solidFill>
                <a:latin typeface="Calibri"/>
                <a:ea typeface="Calibri"/>
                <a:cs typeface="Calibri"/>
                <a:sym typeface="Calibri"/>
              </a:rPr>
              <a:t>Test recorded imagery, one detector and a mapped alert.</a:t>
            </a:r>
            <a:endParaRPr/>
          </a:p>
        </p:txBody>
      </p:sp>
      <p:sp>
        <p:nvSpPr>
          <p:cNvPr id="350" name="Google Shape;350;p16"/>
          <p:cNvSpPr/>
          <p:nvPr/>
        </p:nvSpPr>
        <p:spPr>
          <a:xfrm>
            <a:off x="6200775" y="1438275"/>
            <a:ext cx="238125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FFB81C"/>
                </a:solidFill>
                <a:latin typeface="Calibri"/>
                <a:ea typeface="Calibri"/>
                <a:cs typeface="Calibri"/>
                <a:sym typeface="Calibri"/>
              </a:rPr>
              <a:t>03</a:t>
            </a:r>
            <a:endParaRPr/>
          </a:p>
        </p:txBody>
      </p:sp>
      <p:sp>
        <p:nvSpPr>
          <p:cNvPr id="351" name="Google Shape;351;p16"/>
          <p:cNvSpPr/>
          <p:nvPr/>
        </p:nvSpPr>
        <p:spPr>
          <a:xfrm>
            <a:off x="6200775" y="2066925"/>
            <a:ext cx="2333625" cy="333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154734"/>
                </a:solidFill>
                <a:latin typeface="Calibri"/>
                <a:ea typeface="Calibri"/>
                <a:cs typeface="Calibri"/>
                <a:sym typeface="Calibri"/>
              </a:rPr>
              <a:t>STUDY</a:t>
            </a:r>
            <a:endParaRPr/>
          </a:p>
        </p:txBody>
      </p:sp>
      <p:cxnSp>
        <p:nvCxnSpPr>
          <p:cNvPr id="352" name="Google Shape;352;p16"/>
          <p:cNvCxnSpPr/>
          <p:nvPr/>
        </p:nvCxnSpPr>
        <p:spPr>
          <a:xfrm>
            <a:off x="6200775" y="2486025"/>
            <a:ext cx="2352675" cy="0"/>
          </a:xfrm>
          <a:prstGeom prst="straightConnector1">
            <a:avLst/>
          </a:prstGeom>
          <a:noFill/>
          <a:ln cap="flat" cmpd="sng" w="19050">
            <a:solidFill>
              <a:srgbClr val="CDDBD3"/>
            </a:solidFill>
            <a:prstDash val="solid"/>
            <a:round/>
            <a:headEnd len="sm" w="sm" type="none"/>
            <a:tailEnd len="sm" w="sm" type="none"/>
          </a:ln>
        </p:spPr>
      </p:cxnSp>
      <p:sp>
        <p:nvSpPr>
          <p:cNvPr id="353" name="Google Shape;353;p16"/>
          <p:cNvSpPr/>
          <p:nvPr/>
        </p:nvSpPr>
        <p:spPr>
          <a:xfrm>
            <a:off x="6200775" y="2676525"/>
            <a:ext cx="2352675" cy="1809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1A1A1A"/>
                </a:solidFill>
                <a:latin typeface="Calibri"/>
                <a:ea typeface="Calibri"/>
                <a:cs typeface="Calibri"/>
                <a:sym typeface="Calibri"/>
              </a:rPr>
              <a:t>Measure false alerts, missed cases, location error and latency.</a:t>
            </a:r>
            <a:endParaRPr/>
          </a:p>
        </p:txBody>
      </p:sp>
      <p:sp>
        <p:nvSpPr>
          <p:cNvPr id="354" name="Google Shape;354;p16"/>
          <p:cNvSpPr/>
          <p:nvPr/>
        </p:nvSpPr>
        <p:spPr>
          <a:xfrm>
            <a:off x="9039225" y="1438275"/>
            <a:ext cx="238125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FFB81C"/>
                </a:solidFill>
                <a:latin typeface="Calibri"/>
                <a:ea typeface="Calibri"/>
                <a:cs typeface="Calibri"/>
                <a:sym typeface="Calibri"/>
              </a:rPr>
              <a:t>04</a:t>
            </a:r>
            <a:endParaRPr/>
          </a:p>
        </p:txBody>
      </p:sp>
      <p:sp>
        <p:nvSpPr>
          <p:cNvPr id="355" name="Google Shape;355;p16"/>
          <p:cNvSpPr/>
          <p:nvPr/>
        </p:nvSpPr>
        <p:spPr>
          <a:xfrm>
            <a:off x="9039225" y="2066925"/>
            <a:ext cx="2333625" cy="333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154734"/>
                </a:solidFill>
                <a:latin typeface="Calibri"/>
                <a:ea typeface="Calibri"/>
                <a:cs typeface="Calibri"/>
                <a:sym typeface="Calibri"/>
              </a:rPr>
              <a:t>ACT</a:t>
            </a:r>
            <a:endParaRPr/>
          </a:p>
        </p:txBody>
      </p:sp>
      <p:cxnSp>
        <p:nvCxnSpPr>
          <p:cNvPr id="356" name="Google Shape;356;p16"/>
          <p:cNvCxnSpPr/>
          <p:nvPr/>
        </p:nvCxnSpPr>
        <p:spPr>
          <a:xfrm>
            <a:off x="9039225" y="2486025"/>
            <a:ext cx="2352675" cy="0"/>
          </a:xfrm>
          <a:prstGeom prst="straightConnector1">
            <a:avLst/>
          </a:prstGeom>
          <a:noFill/>
          <a:ln cap="flat" cmpd="sng" w="19050">
            <a:solidFill>
              <a:srgbClr val="CDDBD3"/>
            </a:solidFill>
            <a:prstDash val="solid"/>
            <a:round/>
            <a:headEnd len="sm" w="sm" type="none"/>
            <a:tailEnd len="sm" w="sm" type="none"/>
          </a:ln>
        </p:spPr>
      </p:cxnSp>
      <p:sp>
        <p:nvSpPr>
          <p:cNvPr id="357" name="Google Shape;357;p16"/>
          <p:cNvSpPr/>
          <p:nvPr/>
        </p:nvSpPr>
        <p:spPr>
          <a:xfrm>
            <a:off x="9039225" y="2676525"/>
            <a:ext cx="2352675" cy="1809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1A1A1A"/>
                </a:solidFill>
                <a:latin typeface="Calibri"/>
                <a:ea typeface="Calibri"/>
                <a:cs typeface="Calibri"/>
                <a:sym typeface="Calibri"/>
              </a:rPr>
              <a:t>Improve field reliability, then assess a supervised flight trial.</a:t>
            </a:r>
            <a:endParaRPr/>
          </a:p>
        </p:txBody>
      </p:sp>
      <p:sp>
        <p:nvSpPr>
          <p:cNvPr id="358" name="Google Shape;358;p16"/>
          <p:cNvSpPr/>
          <p:nvPr/>
        </p:nvSpPr>
        <p:spPr>
          <a:xfrm>
            <a:off x="523875" y="4591050"/>
            <a:ext cx="11144250" cy="771525"/>
          </a:xfrm>
          <a:prstGeom prst="rect">
            <a:avLst/>
          </a:prstGeom>
          <a:solidFill>
            <a:srgbClr val="EAF2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6"/>
          <p:cNvSpPr/>
          <p:nvPr/>
        </p:nvSpPr>
        <p:spPr>
          <a:xfrm>
            <a:off x="714375" y="4714875"/>
            <a:ext cx="107442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125">
                <a:solidFill>
                  <a:srgbClr val="154734"/>
                </a:solidFill>
                <a:latin typeface="Calibri"/>
                <a:ea typeface="Calibri"/>
                <a:cs typeface="Calibri"/>
                <a:sym typeface="Calibri"/>
              </a:rPr>
              <a:t>QUESTION TO TEST</a:t>
            </a:r>
            <a:endParaRPr/>
          </a:p>
        </p:txBody>
      </p:sp>
      <p:sp>
        <p:nvSpPr>
          <p:cNvPr id="360" name="Google Shape;360;p16"/>
          <p:cNvSpPr/>
          <p:nvPr/>
        </p:nvSpPr>
        <p:spPr>
          <a:xfrm>
            <a:off x="714375" y="4972050"/>
            <a:ext cx="1074420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75">
                <a:solidFill>
                  <a:srgbClr val="154734"/>
                </a:solidFill>
                <a:latin typeface="Calibri"/>
                <a:ea typeface="Calibri"/>
                <a:cs typeface="Calibri"/>
                <a:sym typeface="Calibri"/>
              </a:rPr>
              <a:t>Can a narrow detector produce alerts a real user can trust and act on?</a:t>
            </a:r>
            <a:endParaRPr/>
          </a:p>
        </p:txBody>
      </p:sp>
      <p:sp>
        <p:nvSpPr>
          <p:cNvPr id="361" name="Google Shape;361;p16"/>
          <p:cNvSpPr/>
          <p:nvPr/>
        </p:nvSpPr>
        <p:spPr>
          <a:xfrm>
            <a:off x="523875" y="5686425"/>
            <a:ext cx="1905000" cy="2952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75">
                <a:solidFill>
                  <a:srgbClr val="154734"/>
                </a:solidFill>
                <a:latin typeface="Calibri"/>
                <a:ea typeface="Calibri"/>
                <a:cs typeface="Calibri"/>
                <a:sym typeface="Calibri"/>
              </a:rPr>
              <a:t>First prototype</a:t>
            </a:r>
            <a:endParaRPr/>
          </a:p>
        </p:txBody>
      </p:sp>
      <p:sp>
        <p:nvSpPr>
          <p:cNvPr id="362" name="Google Shape;362;p16"/>
          <p:cNvSpPr/>
          <p:nvPr/>
        </p:nvSpPr>
        <p:spPr>
          <a:xfrm>
            <a:off x="2476500" y="5676900"/>
            <a:ext cx="912495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1A1A1A"/>
                </a:solidFill>
                <a:latin typeface="Calibri"/>
                <a:ea typeface="Calibri"/>
                <a:cs typeface="Calibri"/>
                <a:sym typeface="Calibri"/>
              </a:rPr>
              <a:t>Crop scouting first. Fire detection starts as a separate imagery experiment.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7" name="Shape 367"/>
        <p:cNvGrpSpPr/>
        <p:nvPr/>
      </p:nvGrpSpPr>
      <p:grpSpPr>
        <a:xfrm>
          <a:off x="0" y="0"/>
          <a:ext cx="0" cy="0"/>
          <a:chOff x="0" y="0"/>
          <a:chExt cx="0" cy="0"/>
        </a:xfrm>
      </p:grpSpPr>
      <p:sp>
        <p:nvSpPr>
          <p:cNvPr id="368" name="Google Shape;368;p17"/>
          <p:cNvSpPr/>
          <p:nvPr/>
        </p:nvSpPr>
        <p:spPr>
          <a:xfrm>
            <a:off x="514350" y="428625"/>
            <a:ext cx="8477250" cy="628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154734"/>
                </a:solidFill>
                <a:latin typeface="Calibri"/>
                <a:ea typeface="Calibri"/>
                <a:cs typeface="Calibri"/>
                <a:sym typeface="Calibri"/>
              </a:rPr>
              <a:t>Comparing the three alternatives</a:t>
            </a:r>
            <a:endParaRPr/>
          </a:p>
        </p:txBody>
      </p:sp>
      <p:sp>
        <p:nvSpPr>
          <p:cNvPr id="369" name="Google Shape;369;p17"/>
          <p:cNvSpPr/>
          <p:nvPr/>
        </p:nvSpPr>
        <p:spPr>
          <a:xfrm>
            <a:off x="9286875" y="409575"/>
            <a:ext cx="2381250" cy="361950"/>
          </a:xfrm>
          <a:prstGeom prst="roundRect">
            <a:avLst>
              <a:gd fmla="val 39474" name="adj"/>
            </a:avLst>
          </a:prstGeom>
          <a:solidFill>
            <a:srgbClr val="FFB8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7"/>
          <p:cNvSpPr/>
          <p:nvPr/>
        </p:nvSpPr>
        <p:spPr>
          <a:xfrm>
            <a:off x="9382125" y="485775"/>
            <a:ext cx="2190750" cy="2190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200">
                <a:solidFill>
                  <a:srgbClr val="154734"/>
                </a:solidFill>
                <a:latin typeface="Calibri"/>
                <a:ea typeface="Calibri"/>
                <a:cs typeface="Calibri"/>
                <a:sym typeface="Calibri"/>
              </a:rPr>
              <a:t>SELECTION</a:t>
            </a:r>
            <a:endParaRPr/>
          </a:p>
        </p:txBody>
      </p:sp>
      <p:cxnSp>
        <p:nvCxnSpPr>
          <p:cNvPr id="371" name="Google Shape;371;p17"/>
          <p:cNvCxnSpPr/>
          <p:nvPr/>
        </p:nvCxnSpPr>
        <p:spPr>
          <a:xfrm>
            <a:off x="0" y="6819900"/>
            <a:ext cx="12191695" cy="0"/>
          </a:xfrm>
          <a:prstGeom prst="straightConnector1">
            <a:avLst/>
          </a:prstGeom>
          <a:noFill/>
          <a:ln cap="flat" cmpd="sng" w="47625">
            <a:solidFill>
              <a:srgbClr val="FFB81C"/>
            </a:solidFill>
            <a:prstDash val="solid"/>
            <a:round/>
            <a:headEnd len="sm" w="sm" type="none"/>
            <a:tailEnd len="sm" w="sm" type="none"/>
          </a:ln>
        </p:spPr>
      </p:cxnSp>
      <p:sp>
        <p:nvSpPr>
          <p:cNvPr id="372" name="Google Shape;372;p17"/>
          <p:cNvSpPr/>
          <p:nvPr/>
        </p:nvSpPr>
        <p:spPr>
          <a:xfrm>
            <a:off x="11477625" y="6419850"/>
            <a:ext cx="285750" cy="2095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lang="en-US" sz="1050">
                <a:solidFill>
                  <a:srgbClr val="65736B"/>
                </a:solidFill>
                <a:latin typeface="Calibri"/>
                <a:ea typeface="Calibri"/>
                <a:cs typeface="Calibri"/>
                <a:sym typeface="Calibri"/>
              </a:rPr>
              <a:t>17</a:t>
            </a:r>
            <a:endParaRPr/>
          </a:p>
        </p:txBody>
      </p:sp>
      <p:graphicFrame>
        <p:nvGraphicFramePr>
          <p:cNvPr id="373" name="Google Shape;373;p17"/>
          <p:cNvGraphicFramePr/>
          <p:nvPr/>
        </p:nvGraphicFramePr>
        <p:xfrm>
          <a:off x="523875" y="1476375"/>
          <a:ext cx="3000000" cy="3000000"/>
        </p:xfrm>
        <a:graphic>
          <a:graphicData uri="http://schemas.openxmlformats.org/drawingml/2006/table">
            <a:tbl>
              <a:tblPr>
                <a:noFill/>
                <a:tableStyleId>{7788B9B1-F278-4A7A-A6D5-9AABFE0BA978}</a:tableStyleId>
              </a:tblPr>
              <a:tblGrid>
                <a:gridCol w="2276475"/>
                <a:gridCol w="2838450"/>
                <a:gridCol w="2838450"/>
                <a:gridCol w="3190875"/>
              </a:tblGrid>
              <a:tr h="725800">
                <a:tc>
                  <a:txBody>
                    <a:bodyPr/>
                    <a:lstStyle/>
                    <a:p>
                      <a:pPr indent="0" lvl="0" marL="0" marR="0" rtl="0" algn="l">
                        <a:spcBef>
                          <a:spcPts val="0"/>
                        </a:spcBef>
                        <a:spcAft>
                          <a:spcPts val="0"/>
                        </a:spcAft>
                        <a:buClr>
                          <a:srgbClr val="FFFFFF"/>
                        </a:buClr>
                        <a:buSzPts val="1650"/>
                        <a:buFont typeface="Calibri"/>
                        <a:buNone/>
                      </a:pPr>
                      <a:r>
                        <a:rPr b="1" lang="en-US" sz="1650">
                          <a:solidFill>
                            <a:srgbClr val="FFFFFF"/>
                          </a:solidFill>
                          <a:latin typeface="Calibri"/>
                          <a:ea typeface="Calibri"/>
                          <a:cs typeface="Calibri"/>
                          <a:sym typeface="Calibri"/>
                        </a:rPr>
                        <a:t>Decision factor</a:t>
                      </a:r>
                      <a:endParaRPr/>
                    </a:p>
                  </a:txBody>
                  <a:tcPr marT="45725" marB="45725" marR="91450" marL="91450" anchor="ctr">
                    <a:solidFill>
                      <a:srgbClr val="154734"/>
                    </a:solidFill>
                  </a:tcPr>
                </a:tc>
                <a:tc>
                  <a:txBody>
                    <a:bodyPr/>
                    <a:lstStyle/>
                    <a:p>
                      <a:pPr indent="0" lvl="0" marL="0" marR="0" rtl="0" algn="l">
                        <a:spcBef>
                          <a:spcPts val="0"/>
                        </a:spcBef>
                        <a:spcAft>
                          <a:spcPts val="0"/>
                        </a:spcAft>
                        <a:buClr>
                          <a:srgbClr val="FFFFFF"/>
                        </a:buClr>
                        <a:buSzPts val="1650"/>
                        <a:buFont typeface="Calibri"/>
                        <a:buNone/>
                      </a:pPr>
                      <a:r>
                        <a:rPr b="1" lang="en-US" sz="1650">
                          <a:solidFill>
                            <a:srgbClr val="FFFFFF"/>
                          </a:solidFill>
                          <a:latin typeface="Calibri"/>
                          <a:ea typeface="Calibri"/>
                          <a:cs typeface="Calibri"/>
                          <a:sym typeface="Calibri"/>
                        </a:rPr>
                        <a:t>uofrEats</a:t>
                      </a:r>
                      <a:endParaRPr/>
                    </a:p>
                  </a:txBody>
                  <a:tcPr marT="45725" marB="45725" marR="91450" marL="91450" anchor="ctr">
                    <a:solidFill>
                      <a:srgbClr val="154734"/>
                    </a:solidFill>
                  </a:tcPr>
                </a:tc>
                <a:tc>
                  <a:txBody>
                    <a:bodyPr/>
                    <a:lstStyle/>
                    <a:p>
                      <a:pPr indent="0" lvl="0" marL="0" marR="0" rtl="0" algn="l">
                        <a:spcBef>
                          <a:spcPts val="0"/>
                        </a:spcBef>
                        <a:spcAft>
                          <a:spcPts val="0"/>
                        </a:spcAft>
                        <a:buClr>
                          <a:srgbClr val="FFFFFF"/>
                        </a:buClr>
                        <a:buSzPts val="1650"/>
                        <a:buFont typeface="Calibri"/>
                        <a:buNone/>
                      </a:pPr>
                      <a:r>
                        <a:rPr b="1" lang="en-US" sz="1650">
                          <a:solidFill>
                            <a:srgbClr val="FFFFFF"/>
                          </a:solidFill>
                          <a:latin typeface="Calibri"/>
                          <a:ea typeface="Calibri"/>
                          <a:cs typeface="Calibri"/>
                          <a:sym typeface="Calibri"/>
                        </a:rPr>
                        <a:t>AI Learning</a:t>
                      </a:r>
                      <a:endParaRPr/>
                    </a:p>
                  </a:txBody>
                  <a:tcPr marT="45725" marB="45725" marR="91450" marL="91450" anchor="ctr">
                    <a:solidFill>
                      <a:srgbClr val="154734"/>
                    </a:solidFill>
                  </a:tcPr>
                </a:tc>
                <a:tc>
                  <a:txBody>
                    <a:bodyPr/>
                    <a:lstStyle/>
                    <a:p>
                      <a:pPr indent="0" lvl="0" marL="0" marR="0" rtl="0" algn="l">
                        <a:spcBef>
                          <a:spcPts val="0"/>
                        </a:spcBef>
                        <a:spcAft>
                          <a:spcPts val="0"/>
                        </a:spcAft>
                        <a:buClr>
                          <a:srgbClr val="FFFFFF"/>
                        </a:buClr>
                        <a:buSzPts val="1650"/>
                        <a:buFont typeface="Calibri"/>
                        <a:buNone/>
                      </a:pPr>
                      <a:r>
                        <a:rPr b="1" lang="en-US" sz="1650">
                          <a:solidFill>
                            <a:srgbClr val="FFFFFF"/>
                          </a:solidFill>
                          <a:latin typeface="Calibri"/>
                          <a:ea typeface="Calibri"/>
                          <a:cs typeface="Calibri"/>
                          <a:sym typeface="Calibri"/>
                        </a:rPr>
                        <a:t>AI Drones</a:t>
                      </a:r>
                      <a:endParaRPr/>
                    </a:p>
                  </a:txBody>
                  <a:tcPr marT="45725" marB="45725" marR="91450" marL="91450" anchor="ctr">
                    <a:solidFill>
                      <a:srgbClr val="154734"/>
                    </a:solidFill>
                  </a:tcPr>
                </a:tc>
              </a:tr>
              <a:tr h="725800">
                <a:tc>
                  <a:txBody>
                    <a:bodyPr/>
                    <a:lstStyle/>
                    <a:p>
                      <a:pPr indent="0" lvl="0" marL="0" marR="0" rtl="0" algn="l">
                        <a:spcBef>
                          <a:spcPts val="0"/>
                        </a:spcBef>
                        <a:spcAft>
                          <a:spcPts val="0"/>
                        </a:spcAft>
                        <a:buClr>
                          <a:srgbClr val="1A1A1A"/>
                        </a:buClr>
                        <a:buSzPts val="1725"/>
                        <a:buFont typeface="Calibri"/>
                        <a:buNone/>
                      </a:pPr>
                      <a:r>
                        <a:rPr b="1" lang="en-US" sz="1725">
                          <a:solidFill>
                            <a:srgbClr val="1A1A1A"/>
                          </a:solidFill>
                          <a:latin typeface="Calibri"/>
                          <a:ea typeface="Calibri"/>
                          <a:cs typeface="Calibri"/>
                          <a:sym typeface="Calibri"/>
                        </a:rPr>
                        <a:t>Early evidence</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Manmeet interview</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Linda interview</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Interviews pending</a:t>
                      </a:r>
                      <a:endParaRPr/>
                    </a:p>
                  </a:txBody>
                  <a:tcPr marT="45725" marB="45725" marR="91450" marL="91450" anchor="ctr">
                    <a:solidFill>
                      <a:srgbClr val="FFFFFF"/>
                    </a:solidFill>
                  </a:tcPr>
                </a:tc>
              </a:tr>
              <a:tr h="725800">
                <a:tc>
                  <a:txBody>
                    <a:bodyPr/>
                    <a:lstStyle/>
                    <a:p>
                      <a:pPr indent="0" lvl="0" marL="0" marR="0" rtl="0" algn="l">
                        <a:spcBef>
                          <a:spcPts val="0"/>
                        </a:spcBef>
                        <a:spcAft>
                          <a:spcPts val="0"/>
                        </a:spcAft>
                        <a:buClr>
                          <a:srgbClr val="1A1A1A"/>
                        </a:buClr>
                        <a:buSzPts val="1725"/>
                        <a:buFont typeface="Calibri"/>
                        <a:buNone/>
                      </a:pPr>
                      <a:r>
                        <a:rPr b="1" lang="en-US" sz="1725">
                          <a:solidFill>
                            <a:srgbClr val="1A1A1A"/>
                          </a:solidFill>
                          <a:latin typeface="Calibri"/>
                          <a:ea typeface="Calibri"/>
                          <a:cs typeface="Calibri"/>
                          <a:sym typeface="Calibri"/>
                        </a:rPr>
                        <a:t>First prototype</a:t>
                      </a:r>
                      <a:endParaRPr/>
                    </a:p>
                  </a:txBody>
                  <a:tcPr marT="45725" marB="45725" marR="91450" marL="91450" anchor="ctr">
                    <a:solidFill>
                      <a:srgbClr val="EAF2EE"/>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One-vendor</a:t>
                      </a:r>
                      <a:endParaRPr/>
                    </a:p>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pickup workflow</a:t>
                      </a:r>
                      <a:endParaRPr/>
                    </a:p>
                  </a:txBody>
                  <a:tcPr marT="45725" marB="45725" marR="91450" marL="91450" anchor="ctr">
                    <a:solidFill>
                      <a:srgbClr val="EAF2EE"/>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One-PDF</a:t>
                      </a:r>
                      <a:endParaRPr/>
                    </a:p>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study session</a:t>
                      </a:r>
                      <a:endParaRPr/>
                    </a:p>
                  </a:txBody>
                  <a:tcPr marT="45725" marB="45725" marR="91450" marL="91450" anchor="ctr">
                    <a:solidFill>
                      <a:srgbClr val="EAF2EE"/>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One detector</a:t>
                      </a:r>
                      <a:endParaRPr/>
                    </a:p>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and mapped alert</a:t>
                      </a:r>
                      <a:endParaRPr/>
                    </a:p>
                  </a:txBody>
                  <a:tcPr marT="45725" marB="45725" marR="91450" marL="91450" anchor="ctr">
                    <a:solidFill>
                      <a:srgbClr val="EAF2EE"/>
                    </a:solidFill>
                  </a:tcPr>
                </a:tc>
              </a:tr>
              <a:tr h="725800">
                <a:tc>
                  <a:txBody>
                    <a:bodyPr/>
                    <a:lstStyle/>
                    <a:p>
                      <a:pPr indent="0" lvl="0" marL="0" marR="0" rtl="0" algn="l">
                        <a:spcBef>
                          <a:spcPts val="0"/>
                        </a:spcBef>
                        <a:spcAft>
                          <a:spcPts val="0"/>
                        </a:spcAft>
                        <a:buClr>
                          <a:srgbClr val="1A1A1A"/>
                        </a:buClr>
                        <a:buSzPts val="1725"/>
                        <a:buFont typeface="Calibri"/>
                        <a:buNone/>
                      </a:pPr>
                      <a:r>
                        <a:rPr b="1" lang="en-US" sz="1725">
                          <a:solidFill>
                            <a:srgbClr val="1A1A1A"/>
                          </a:solidFill>
                          <a:latin typeface="Calibri"/>
                          <a:ea typeface="Calibri"/>
                          <a:cs typeface="Calibri"/>
                          <a:sym typeface="Calibri"/>
                        </a:rPr>
                        <a:t>Main dependency</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Vendor access and</a:t>
                      </a:r>
                      <a:endParaRPr/>
                    </a:p>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kitchen workflow</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Device performance</a:t>
                      </a:r>
                      <a:endParaRPr/>
                    </a:p>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and student testing</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Labelled imagery,</a:t>
                      </a:r>
                      <a:endParaRPr/>
                    </a:p>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hardware and field access</a:t>
                      </a:r>
                      <a:endParaRPr/>
                    </a:p>
                  </a:txBody>
                  <a:tcPr marT="45725" marB="45725" marR="91450" marL="91450" anchor="ctr">
                    <a:solidFill>
                      <a:srgbClr val="FFFFFF"/>
                    </a:solidFill>
                  </a:tcPr>
                </a:tc>
              </a:tr>
              <a:tr h="725800">
                <a:tc>
                  <a:txBody>
                    <a:bodyPr/>
                    <a:lstStyle/>
                    <a:p>
                      <a:pPr indent="0" lvl="0" marL="0" marR="0" rtl="0" algn="l">
                        <a:spcBef>
                          <a:spcPts val="0"/>
                        </a:spcBef>
                        <a:spcAft>
                          <a:spcPts val="0"/>
                        </a:spcAft>
                        <a:buClr>
                          <a:srgbClr val="1A1A1A"/>
                        </a:buClr>
                        <a:buSzPts val="1725"/>
                        <a:buFont typeface="Calibri"/>
                        <a:buNone/>
                      </a:pPr>
                      <a:r>
                        <a:rPr b="1" lang="en-US" sz="1725">
                          <a:solidFill>
                            <a:srgbClr val="1A1A1A"/>
                          </a:solidFill>
                          <a:latin typeface="Calibri"/>
                          <a:ea typeface="Calibri"/>
                          <a:cs typeface="Calibri"/>
                          <a:sym typeface="Calibri"/>
                        </a:rPr>
                        <a:t>Biggest unknown</a:t>
                      </a:r>
                      <a:endParaRPr/>
                    </a:p>
                  </a:txBody>
                  <a:tcPr marT="45725" marB="45725" marR="91450" marL="91450" anchor="ctr">
                    <a:solidFill>
                      <a:srgbClr val="EAF2EE"/>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Pickup reliability</a:t>
                      </a:r>
                      <a:endParaRPr/>
                    </a:p>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and adoption</a:t>
                      </a:r>
                      <a:endParaRPr/>
                    </a:p>
                  </a:txBody>
                  <a:tcPr marT="45725" marB="45725" marR="91450" marL="91450" anchor="ctr">
                    <a:solidFill>
                      <a:srgbClr val="EAF2EE"/>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Learning benefit</a:t>
                      </a:r>
                      <a:endParaRPr/>
                    </a:p>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and ease of use</a:t>
                      </a:r>
                      <a:endParaRPr/>
                    </a:p>
                  </a:txBody>
                  <a:tcPr marT="45725" marB="45725" marR="91450" marL="91450" anchor="ctr">
                    <a:solidFill>
                      <a:srgbClr val="EAF2EE"/>
                    </a:solidFill>
                  </a:tcPr>
                </a:tc>
                <a:tc>
                  <a:txBody>
                    <a:bodyPr/>
                    <a:lstStyle/>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Reliability on</a:t>
                      </a:r>
                      <a:endParaRPr/>
                    </a:p>
                    <a:p>
                      <a:pPr indent="0" lvl="0" marL="0" marR="0" rtl="0" algn="l">
                        <a:spcBef>
                          <a:spcPts val="0"/>
                        </a:spcBef>
                        <a:spcAft>
                          <a:spcPts val="0"/>
                        </a:spcAft>
                        <a:buClr>
                          <a:srgbClr val="1A1A1A"/>
                        </a:buClr>
                        <a:buSzPts val="1725"/>
                        <a:buFont typeface="Calibri"/>
                        <a:buNone/>
                      </a:pPr>
                      <a:r>
                        <a:rPr b="0" lang="en-US" sz="1725">
                          <a:solidFill>
                            <a:srgbClr val="1A1A1A"/>
                          </a:solidFill>
                          <a:latin typeface="Calibri"/>
                          <a:ea typeface="Calibri"/>
                          <a:cs typeface="Calibri"/>
                          <a:sym typeface="Calibri"/>
                        </a:rPr>
                        <a:t>unseen field conditions</a:t>
                      </a:r>
                      <a:endParaRPr/>
                    </a:p>
                  </a:txBody>
                  <a:tcPr marT="45725" marB="45725" marR="91450" marL="91450" anchor="ctr">
                    <a:solidFill>
                      <a:srgbClr val="EAF2EE"/>
                    </a:solidFill>
                  </a:tcPr>
                </a:tc>
              </a:tr>
            </a:tbl>
          </a:graphicData>
        </a:graphic>
      </p:graphicFrame>
      <p:sp>
        <p:nvSpPr>
          <p:cNvPr id="374" name="Google Shape;374;p17"/>
          <p:cNvSpPr/>
          <p:nvPr/>
        </p:nvSpPr>
        <p:spPr>
          <a:xfrm>
            <a:off x="523875" y="5572125"/>
            <a:ext cx="11144250" cy="638175"/>
          </a:xfrm>
          <a:prstGeom prst="roundRect">
            <a:avLst>
              <a:gd fmla="val 17910" name="adj"/>
            </a:avLst>
          </a:prstGeom>
          <a:solidFill>
            <a:srgbClr val="FFB8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7"/>
          <p:cNvSpPr/>
          <p:nvPr/>
        </p:nvSpPr>
        <p:spPr>
          <a:xfrm>
            <a:off x="752475" y="5743575"/>
            <a:ext cx="10687050" cy="3714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rgbClr val="154734"/>
                </a:solidFill>
                <a:latin typeface="Calibri"/>
                <a:ea typeface="Calibri"/>
                <a:cs typeface="Calibri"/>
                <a:sym typeface="Calibri"/>
              </a:rPr>
              <a:t>Selection criteria: validated need, access to users and a scope two people can deliver</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4734"/>
        </a:solidFill>
      </p:bgPr>
    </p:bg>
    <p:spTree>
      <p:nvGrpSpPr>
        <p:cNvPr id="380" name="Shape 380"/>
        <p:cNvGrpSpPr/>
        <p:nvPr/>
      </p:nvGrpSpPr>
      <p:grpSpPr>
        <a:xfrm>
          <a:off x="0" y="0"/>
          <a:ext cx="0" cy="0"/>
          <a:chOff x="0" y="0"/>
          <a:chExt cx="0" cy="0"/>
        </a:xfrm>
      </p:grpSpPr>
      <p:sp>
        <p:nvSpPr>
          <p:cNvPr id="381" name="Google Shape;381;p18"/>
          <p:cNvSpPr/>
          <p:nvPr/>
        </p:nvSpPr>
        <p:spPr>
          <a:xfrm>
            <a:off x="762000" y="1743075"/>
            <a:ext cx="10382250" cy="971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5925">
                <a:solidFill>
                  <a:srgbClr val="FFB81C"/>
                </a:solidFill>
                <a:latin typeface="Calibri"/>
                <a:ea typeface="Calibri"/>
                <a:cs typeface="Calibri"/>
                <a:sym typeface="Calibri"/>
              </a:rPr>
              <a:t>Any questions?</a:t>
            </a:r>
            <a:endParaRPr/>
          </a:p>
        </p:txBody>
      </p:sp>
      <p:cxnSp>
        <p:nvCxnSpPr>
          <p:cNvPr id="382" name="Google Shape;382;p18"/>
          <p:cNvCxnSpPr/>
          <p:nvPr/>
        </p:nvCxnSpPr>
        <p:spPr>
          <a:xfrm>
            <a:off x="762000" y="3105150"/>
            <a:ext cx="4810125" cy="0"/>
          </a:xfrm>
          <a:prstGeom prst="straightConnector1">
            <a:avLst/>
          </a:prstGeom>
          <a:noFill/>
          <a:ln cap="flat" cmpd="sng" w="47625">
            <a:solidFill>
              <a:srgbClr val="FFB81C"/>
            </a:solidFill>
            <a:prstDash val="solid"/>
            <a:round/>
            <a:headEnd len="sm" w="sm" type="none"/>
            <a:tailEnd len="sm" w="sm" type="none"/>
          </a:ln>
        </p:spPr>
      </p:cxnSp>
      <p:sp>
        <p:nvSpPr>
          <p:cNvPr id="383" name="Google Shape;383;p18"/>
          <p:cNvSpPr/>
          <p:nvPr/>
        </p:nvSpPr>
        <p:spPr>
          <a:xfrm>
            <a:off x="762000" y="5343525"/>
            <a:ext cx="10668000" cy="7524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FFFFFF"/>
                </a:solidFill>
                <a:latin typeface="Calibri"/>
                <a:ea typeface="Calibri"/>
                <a:cs typeface="Calibri"/>
                <a:sym typeface="Calibri"/>
              </a:rPr>
              <a:t>Aubin Chriss Izere  /  200490675</a:t>
            </a:r>
            <a:endParaRPr/>
          </a:p>
          <a:p>
            <a:pPr indent="0" lvl="0" marL="0" marR="0" rtl="0" algn="l">
              <a:spcBef>
                <a:spcPts val="0"/>
              </a:spcBef>
              <a:spcAft>
                <a:spcPts val="0"/>
              </a:spcAft>
              <a:buNone/>
            </a:pPr>
            <a:r>
              <a:rPr b="0" lang="en-US" sz="2025">
                <a:solidFill>
                  <a:srgbClr val="FFFFFF"/>
                </a:solidFill>
                <a:latin typeface="Calibri"/>
                <a:ea typeface="Calibri"/>
                <a:cs typeface="Calibri"/>
                <a:sym typeface="Calibri"/>
              </a:rPr>
              <a:t>Chop Kur  /  200497265</a:t>
            </a:r>
            <a:endParaRPr b="0" sz="2025">
              <a:solidFill>
                <a:srgbClr val="FFFFFF"/>
              </a:solidFill>
              <a:latin typeface="Calibri"/>
              <a:ea typeface="Calibri"/>
              <a:cs typeface="Calibri"/>
              <a:sym typeface="Calibri"/>
            </a:endParaRPr>
          </a:p>
          <a:p>
            <a:pPr indent="0" lvl="0" marL="0" marR="0" rtl="0" algn="l">
              <a:spcBef>
                <a:spcPts val="0"/>
              </a:spcBef>
              <a:spcAft>
                <a:spcPts val="0"/>
              </a:spcAft>
              <a:buNone/>
            </a:pPr>
            <a:r>
              <a:rPr lang="en-US" sz="2025">
                <a:solidFill>
                  <a:srgbClr val="FFFFFF"/>
                </a:solidFill>
                <a:latin typeface="Calibri"/>
                <a:ea typeface="Calibri"/>
                <a:cs typeface="Calibri"/>
                <a:sym typeface="Calibri"/>
              </a:rPr>
              <a:t>https://github.com/Binborg1/Final-2027.git</a:t>
            </a:r>
            <a:endParaRPr sz="2025">
              <a:solidFill>
                <a:srgbClr val="FFFFFF"/>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